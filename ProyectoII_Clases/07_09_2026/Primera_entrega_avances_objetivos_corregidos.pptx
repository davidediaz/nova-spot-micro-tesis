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2" r:id="rId14"/>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general: Desarrollar un sistema de control para la plataforma cuadrúpedo Spot Micro que integre aprendizaje por refuerzo para su ejecución y estabilización en los diferentes modos de locomoción tipo paso y gateo en condiciones de entorno controladas.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objetivos tienen un avance estimado del 50 %, por motivos diferentes. OE1: software y movimiento inicial, con integración física pendiente. OE2: modelo y pruebas computacionales, con contraste pendiente. OE3: estrategia y entrenamiento, sin estabilidad y continuidad demostradas. OE4: seguimiento y repetibilidad en simulación, con margen estático y evaluación integral pendientes. La rúbrica de la guía explica los cuatro hitos de cada objetivo.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Gazebo y MuJoCo son programas que simulan el robot. En Gazebo hicimos cinco pruebas y el avance medio fue de unos 2,4 centímetros por cada secuencia completa de gateo. En MuJoCo ajustamos el movimiento y el avance pasó de 2,7 a 9,9 milímetros por ciclo. Aún falta mejorar cuándo despega y aterriza cada pata. El programa de seguridad detectó los nueve fallos que provocamos y envió la orden de detener la marcha; falta comprobar la parada eléctrica real. Entrenamos el algoritmo de aprendizaje cinco veces, pero sus correcciones no cumplieron los criterios de mejora. La captura de Gazebo ilustra el modelo actual: los números vienen de los informes de pruebas anteriores.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tesis ya tiene un borrador de 72 páginas. Están escritos el modelo, los procedimientos, el funcionamiento del sistema y los resultados disponibles. Faltan las mediciones y pruebas del robot real, la comparación final y las conclusiones definitivas. También debemos añadir las nuevas pruebas y fotos. Hay frases antiguas que dicen que no hemos entrenado el algoritmo, aunque ya lo hicimos. Vamos a corregirlas para que el documento refleje el mismo estado en todas sus secciones. Tener los capítulos escritos no significa que la tesis esté terminada.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orden de trabajo empieza por resolver el exceso de corriente y comprobar el apagado seguro. Después ajustaremos un motor y una pata antes de probar el robot completo. Registraremos sus movimientos y el consumo. Finalmente evaluaremos las correcciones aprendidas frente al movimiento básico, usando las mismas condiciones. La comparación debe mostrar tanto lo que mejora como lo que empeora. En paralelo actualizaremos la tesis. Las principales dificultades son la validación física pendiente y que aún no hemos demostrado la mejora mediante aprendizaje.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la próxima revisión proponemos entregar un informe de revisión eléctrica y una versión actualizada de la tesis. El informe debe decir qué revisamos, qué medimos, con qué instrumentos y qué falta. Si una prueba no puede hacerse con seguridad, lo registraremos como pendiente. No prometemos una caminata antes de resolver esos requisitos. Nuestro proyecto todavía no puede darse por terminado porque falta comprobar la marcha segura del robot real y evaluar las correcciones aprendidas. La evidencia de cierre serán pruebas comparables, mediciones y conclusiones que expliquen lo que funcionó y lo que 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Estos son los cuatro objetivos originales. El primero reúne hardware y software; el segundo es modelado; el tercero es control aprendido; el cuarto exige tres pruebas concretas. Todos están parciales. Los porcentajes se recalcularon con una rúbrica por entregables y no significan una calificación. El entrenamiento no demuestra por sí solo estabilidad ni continuidad.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411480" y="411480"/>
            <a:ext cx="91440" cy="685800"/>
          </a:xfrm>
          <a:prstGeom prst="rect">
            <a:avLst/>
          </a:prstGeom>
          <a:solidFill>
            <a:srgbClr val="4ED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0040"/>
            <a:ext cx="10972800" cy="548640"/>
          </a:xfrm>
          <a:prstGeom prst="rect">
            <a:avLst/>
          </a:prstGeom>
          <a:noFill/>
        </p:spPr>
        <p:txBody>
          <a:bodyPr wrap="square">
            <a:spAutoFit/>
          </a:bodyPr>
          <a:lstStyle/>
          <a:p>
            <a:pPr>
              <a:spcAft>
                <a:spcPts val="500"/>
              </a:spcAft>
              <a:defRPr sz="2600" b="1">
                <a:solidFill>
                  <a:srgbClr val="F3F6FA"/>
                </a:solidFill>
                <a:latin typeface="Aptos"/>
              </a:defRPr>
            </a:pPr>
            <a:r>
              <a:t>Nuestro robot: qué hemos logrado</a:t>
            </a:r>
          </a:p>
        </p:txBody>
      </p:sp>
      <p:sp>
        <p:nvSpPr>
          <p:cNvPr id="4" name="TextBox 3"/>
          <p:cNvSpPr txBox="1"/>
          <p:nvPr/>
        </p:nvSpPr>
        <p:spPr>
          <a:xfrm>
            <a:off x="713232" y="960120"/>
            <a:ext cx="10881360" cy="594360"/>
          </a:xfrm>
          <a:prstGeom prst="rect">
            <a:avLst/>
          </a:prstGeom>
          <a:noFill/>
        </p:spPr>
        <p:txBody>
          <a:bodyPr wrap="square">
            <a:spAutoFit/>
          </a:bodyPr>
          <a:lstStyle/>
          <a:p>
            <a:pPr>
              <a:spcAft>
                <a:spcPts val="500"/>
              </a:spcAft>
              <a:defRPr sz="1600" b="0">
                <a:solidFill>
                  <a:srgbClr val="B8C6D8"/>
                </a:solidFill>
                <a:latin typeface="Aptos"/>
              </a:defRPr>
            </a:pPr>
            <a:r>
              <a:t>Nova Spot Micro · Control del movimiento y del equilibrio</a:t>
            </a:r>
          </a:p>
        </p:txBody>
      </p:sp>
      <p:sp>
        <p:nvSpPr>
          <p:cNvPr id="5" name="TextBox 4"/>
          <p:cNvSpPr txBox="1"/>
          <p:nvPr/>
        </p:nvSpPr>
        <p:spPr>
          <a:xfrm>
            <a:off x="685800" y="6473952"/>
            <a:ext cx="10058400" cy="219456"/>
          </a:xfrm>
          <a:prstGeom prst="rect">
            <a:avLst/>
          </a:prstGeom>
          <a:noFill/>
        </p:spPr>
        <p:txBody>
          <a:bodyPr wrap="square">
            <a:spAutoFit/>
          </a:bodyPr>
          <a:lstStyle/>
          <a:p>
            <a:pPr>
              <a:spcAft>
                <a:spcPts val="500"/>
              </a:spcAft>
              <a:defRPr sz="1000" b="0">
                <a:solidFill>
                  <a:srgbClr val="B8C6D8"/>
                </a:solidFill>
                <a:latin typeface="Aptos"/>
              </a:defRPr>
            </a:pPr>
            <a:r>
              <a:t>NOVA SPOT MICRO  ·  Proyecto de Grado II  ·  07 septiembre 2026</a:t>
            </a:r>
          </a:p>
        </p:txBody>
      </p:sp>
      <p:sp>
        <p:nvSpPr>
          <p:cNvPr id="6" name="TextBox 5"/>
          <p:cNvSpPr txBox="1"/>
          <p:nvPr/>
        </p:nvSpPr>
        <p:spPr>
          <a:xfrm>
            <a:off x="10972800" y="6437376"/>
            <a:ext cx="640080" cy="274320"/>
          </a:xfrm>
          <a:prstGeom prst="rect">
            <a:avLst/>
          </a:prstGeom>
          <a:noFill/>
        </p:spPr>
        <p:txBody>
          <a:bodyPr wrap="square">
            <a:spAutoFit/>
          </a:bodyPr>
          <a:lstStyle/>
          <a:p>
            <a:pPr>
              <a:spcAft>
                <a:spcPts val="500"/>
              </a:spcAft>
              <a:defRPr sz="1200" b="0">
                <a:solidFill>
                  <a:srgbClr val="4ED3BA"/>
                </a:solidFill>
                <a:latin typeface="Aptos"/>
              </a:defRPr>
            </a:pPr>
            <a:r>
              <a:t>1/7</a:t>
            </a:r>
          </a:p>
        </p:txBody>
      </p:sp>
      <p:sp>
        <p:nvSpPr>
          <p:cNvPr id="7" name="TextBox 6"/>
          <p:cNvSpPr txBox="1"/>
          <p:nvPr/>
        </p:nvSpPr>
        <p:spPr>
          <a:xfrm>
            <a:off x="731520" y="1536192"/>
            <a:ext cx="4663440" cy="1645920"/>
          </a:xfrm>
          <a:prstGeom prst="rect">
            <a:avLst/>
          </a:prstGeom>
          <a:noFill/>
        </p:spPr>
        <p:txBody>
          <a:bodyPr wrap="square">
            <a:spAutoFit/>
          </a:bodyPr>
          <a:lstStyle/>
          <a:p>
            <a:pPr>
              <a:spcAft>
                <a:spcPts val="500"/>
              </a:spcAft>
              <a:defRPr sz="1500" b="0">
                <a:solidFill>
                  <a:srgbClr val="F3F6FA"/>
                </a:solidFill>
                <a:latin typeface="Aptos"/>
              </a:defRPr>
            </a:pPr>
            <a:r>
              <a:t>Desarrollar un sistema de control para la plataforma cuadrúpedo Spot Micro que integre aprendizaje por refuerzo para su ejecución y estabilización en los diferentes modos de locomoción tipo paso y gateo en condiciones de entorno controladas.</a:t>
            </a:r>
          </a:p>
        </p:txBody>
      </p:sp>
      <p:sp>
        <p:nvSpPr>
          <p:cNvPr id="8" name="Rectangle 7"/>
          <p:cNvSpPr/>
          <p:nvPr/>
        </p:nvSpPr>
        <p:spPr>
          <a:xfrm>
            <a:off x="731520" y="3383280"/>
            <a:ext cx="4663440" cy="242316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520440"/>
            <a:ext cx="4297679" cy="502920"/>
          </a:xfrm>
          <a:prstGeom prst="rect">
            <a:avLst/>
          </a:prstGeom>
          <a:noFill/>
        </p:spPr>
        <p:txBody>
          <a:bodyPr wrap="square">
            <a:spAutoFit/>
          </a:bodyPr>
          <a:lstStyle/>
          <a:p>
            <a:pPr>
              <a:spcAft>
                <a:spcPts val="500"/>
              </a:spcAft>
              <a:defRPr sz="1900" b="1">
                <a:solidFill>
                  <a:srgbClr val="4ED3BA"/>
                </a:solidFill>
                <a:latin typeface="Aptos"/>
              </a:defRPr>
            </a:pPr>
            <a:r>
              <a:t>Ahora: pruebas del robot real</a:t>
            </a:r>
          </a:p>
        </p:txBody>
      </p:sp>
      <p:sp>
        <p:nvSpPr>
          <p:cNvPr id="10" name="TextBox 9"/>
          <p:cNvSpPr txBox="1"/>
          <p:nvPr/>
        </p:nvSpPr>
        <p:spPr>
          <a:xfrm>
            <a:off x="914400" y="4160520"/>
            <a:ext cx="4297679" cy="1554480"/>
          </a:xfrm>
          <a:prstGeom prst="rect">
            <a:avLst/>
          </a:prstGeom>
          <a:noFill/>
        </p:spPr>
        <p:txBody>
          <a:bodyPr wrap="square">
            <a:spAutoFit/>
          </a:bodyPr>
          <a:lstStyle/>
          <a:p>
            <a:pPr>
              <a:spcAft>
                <a:spcPts val="500"/>
              </a:spcAft>
              <a:defRPr sz="1700" b="0">
                <a:solidFill>
                  <a:srgbClr val="F3F6FA"/>
                </a:solidFill>
                <a:latin typeface="Aptos"/>
              </a:defRPr>
            </a:pPr>
            <a:r>
              <a:t>El robot camina en simulación.</a:t>
            </a:r>
          </a:p>
          <a:p>
            <a:pPr>
              <a:spcAft>
                <a:spcPts val="500"/>
              </a:spcAft>
              <a:defRPr sz="1700" b="0">
                <a:solidFill>
                  <a:srgbClr val="F3F6FA"/>
                </a:solidFill>
                <a:latin typeface="Aptos"/>
              </a:defRPr>
            </a:pPr>
            <a:r>
              <a:t>Los 12 motores respondieron.</a:t>
            </a:r>
          </a:p>
          <a:p>
            <a:pPr>
              <a:spcAft>
                <a:spcPts val="500"/>
              </a:spcAft>
              <a:defRPr sz="1700" b="0">
                <a:solidFill>
                  <a:srgbClr val="F3F6FA"/>
                </a:solidFill>
                <a:latin typeface="Aptos"/>
              </a:defRPr>
            </a:pPr>
            <a:r>
              <a:t>Las pruebas físicas se pausaron por exceso de corriente.</a:t>
            </a:r>
          </a:p>
          <a:p>
            <a:pPr>
              <a:spcAft>
                <a:spcPts val="500"/>
              </a:spcAft>
              <a:defRPr sz="1700" b="0">
                <a:solidFill>
                  <a:srgbClr val="F3F6FA"/>
                </a:solidFill>
                <a:latin typeface="Aptos"/>
              </a:defRPr>
            </a:pPr>
            <a:r>
              <a:t>Falta resolver la causa.</a:t>
            </a:r>
          </a:p>
        </p:txBody>
      </p:sp>
      <p:sp>
        <p:nvSpPr>
          <p:cNvPr id="11" name="Rectangle 10"/>
          <p:cNvSpPr/>
          <p:nvPr/>
        </p:nvSpPr>
        <p:spPr>
          <a:xfrm>
            <a:off x="5623560" y="1691640"/>
            <a:ext cx="2331720" cy="41148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jpeg"/>
          <p:cNvPicPr>
            <a:picLocks noChangeAspect="1"/>
          </p:cNvPicPr>
          <p:nvPr/>
        </p:nvPicPr>
        <p:blipFill>
          <a:blip r:embed="rId2"/>
          <a:stretch>
            <a:fillRect/>
          </a:stretch>
        </p:blipFill>
        <p:spPr>
          <a:xfrm>
            <a:off x="5632132" y="1691640"/>
            <a:ext cx="2314575" cy="4114800"/>
          </a:xfrm>
          <a:prstGeom prst="rect">
            <a:avLst/>
          </a:prstGeom>
        </p:spPr>
      </p:pic>
      <p:sp>
        <p:nvSpPr>
          <p:cNvPr id="13" name="TextBox 12"/>
          <p:cNvSpPr txBox="1"/>
          <p:nvPr/>
        </p:nvSpPr>
        <p:spPr>
          <a:xfrm>
            <a:off x="5623560" y="5861303"/>
            <a:ext cx="2331720" cy="365760"/>
          </a:xfrm>
          <a:prstGeom prst="rect">
            <a:avLst/>
          </a:prstGeom>
          <a:noFill/>
        </p:spPr>
        <p:txBody>
          <a:bodyPr wrap="square">
            <a:spAutoFit/>
          </a:bodyPr>
          <a:lstStyle/>
          <a:p>
            <a:pPr>
              <a:spcAft>
                <a:spcPts val="500"/>
              </a:spcAft>
              <a:defRPr sz="1100" b="0">
                <a:solidFill>
                  <a:srgbClr val="B8C6D8"/>
                </a:solidFill>
                <a:latin typeface="Aptos"/>
              </a:defRPr>
            </a:pPr>
            <a:r>
              <a:t>1 · Vista general del robot</a:t>
            </a:r>
          </a:p>
        </p:txBody>
      </p:sp>
      <p:sp>
        <p:nvSpPr>
          <p:cNvPr id="14" name="Rectangle 13"/>
          <p:cNvSpPr/>
          <p:nvPr/>
        </p:nvSpPr>
        <p:spPr>
          <a:xfrm>
            <a:off x="8138160" y="1691640"/>
            <a:ext cx="3310128" cy="2487168"/>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5.jpeg"/>
          <p:cNvPicPr>
            <a:picLocks noChangeAspect="1"/>
          </p:cNvPicPr>
          <p:nvPr/>
        </p:nvPicPr>
        <p:blipFill>
          <a:blip r:embed="rId3"/>
          <a:stretch>
            <a:fillRect/>
          </a:stretch>
        </p:blipFill>
        <p:spPr>
          <a:xfrm>
            <a:off x="8138160" y="1693926"/>
            <a:ext cx="3310128" cy="2482596"/>
          </a:xfrm>
          <a:prstGeom prst="rect">
            <a:avLst/>
          </a:prstGeom>
        </p:spPr>
      </p:pic>
      <p:sp>
        <p:nvSpPr>
          <p:cNvPr id="16" name="TextBox 15"/>
          <p:cNvSpPr txBox="1"/>
          <p:nvPr/>
        </p:nvSpPr>
        <p:spPr>
          <a:xfrm>
            <a:off x="8138160" y="4233672"/>
            <a:ext cx="3310128" cy="365760"/>
          </a:xfrm>
          <a:prstGeom prst="rect">
            <a:avLst/>
          </a:prstGeom>
          <a:noFill/>
        </p:spPr>
        <p:txBody>
          <a:bodyPr wrap="square">
            <a:spAutoFit/>
          </a:bodyPr>
          <a:lstStyle/>
          <a:p>
            <a:pPr>
              <a:spcAft>
                <a:spcPts val="500"/>
              </a:spcAft>
              <a:defRPr sz="1100" b="0">
                <a:solidFill>
                  <a:srgbClr val="B8C6D8"/>
                </a:solidFill>
                <a:latin typeface="Aptos"/>
              </a:defRPr>
            </a:pPr>
            <a:r>
              <a:t>5 · Electrónica y conexiones en banco</a:t>
            </a:r>
          </a:p>
        </p:txBody>
      </p:sp>
      <p:sp>
        <p:nvSpPr>
          <p:cNvPr id="17" name="TextBox 16"/>
          <p:cNvSpPr txBox="1"/>
          <p:nvPr/>
        </p:nvSpPr>
        <p:spPr>
          <a:xfrm>
            <a:off x="8138160" y="4617720"/>
            <a:ext cx="3310128" cy="1234440"/>
          </a:xfrm>
          <a:prstGeom prst="rect">
            <a:avLst/>
          </a:prstGeom>
          <a:noFill/>
        </p:spPr>
        <p:txBody>
          <a:bodyPr wrap="square">
            <a:spAutoFit/>
          </a:bodyPr>
          <a:lstStyle/>
          <a:p>
            <a:pPr>
              <a:spcAft>
                <a:spcPts val="500"/>
              </a:spcAft>
              <a:defRPr sz="1700" b="0">
                <a:solidFill>
                  <a:srgbClr val="4ED3BA"/>
                </a:solidFill>
                <a:latin typeface="Aptos"/>
              </a:defRPr>
            </a:pPr>
            <a:r>
              <a:t>Ya tenemos el prototipo.</a:t>
            </a:r>
          </a:p>
          <a:p>
            <a:pPr>
              <a:spcAft>
                <a:spcPts val="500"/>
              </a:spcAft>
              <a:defRPr sz="1700" b="0">
                <a:solidFill>
                  <a:srgbClr val="4ED3BA"/>
                </a:solidFill>
                <a:latin typeface="Aptos"/>
              </a:defRPr>
            </a:pPr>
            <a:r>
              <a:t>Falta comprobar que camina de forma segura.</a:t>
            </a:r>
          </a:p>
        </p:txBody>
      </p:sp>
      <p:sp>
        <p:nvSpPr>
          <p:cNvPr id="18" name="TextBox 17"/>
          <p:cNvSpPr txBox="1"/>
          <p:nvPr/>
        </p:nvSpPr>
        <p:spPr>
          <a:xfrm>
            <a:off x="731520" y="6035040"/>
            <a:ext cx="10789920" cy="274320"/>
          </a:xfrm>
          <a:prstGeom prst="rect">
            <a:avLst/>
          </a:prstGeom>
          <a:noFill/>
        </p:spPr>
        <p:txBody>
          <a:bodyPr wrap="square">
            <a:spAutoFit/>
          </a:bodyPr>
          <a:lstStyle/>
          <a:p>
            <a:pPr>
              <a:spcAft>
                <a:spcPts val="500"/>
              </a:spcAft>
              <a:defRPr sz="1500" b="0">
                <a:solidFill>
                  <a:srgbClr val="B8C6D8"/>
                </a:solidFill>
                <a:latin typeface="Aptos"/>
              </a:defRPr>
            </a:pPr>
            <a:r>
              <a:t>David Esteban Díaz Castro · David Felipe Díaz Suesca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411480" y="411480"/>
            <a:ext cx="91440" cy="685800"/>
          </a:xfrm>
          <a:prstGeom prst="rect">
            <a:avLst/>
          </a:prstGeom>
          <a:solidFill>
            <a:srgbClr val="4ED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0040"/>
            <a:ext cx="10972800" cy="548640"/>
          </a:xfrm>
          <a:prstGeom prst="rect">
            <a:avLst/>
          </a:prstGeom>
          <a:noFill/>
        </p:spPr>
        <p:txBody>
          <a:bodyPr wrap="square">
            <a:spAutoFit/>
          </a:bodyPr>
          <a:lstStyle/>
          <a:p>
            <a:pPr>
              <a:spcAft>
                <a:spcPts val="500"/>
              </a:spcAft>
              <a:defRPr sz="2600" b="1">
                <a:solidFill>
                  <a:srgbClr val="F3F6FA"/>
                </a:solidFill>
                <a:latin typeface="Aptos"/>
              </a:defRPr>
            </a:pPr>
            <a:r>
              <a:t>¿Cuánto hemos avanzado?</a:t>
            </a:r>
          </a:p>
        </p:txBody>
      </p:sp>
      <p:sp>
        <p:nvSpPr>
          <p:cNvPr id="4" name="TextBox 3"/>
          <p:cNvSpPr txBox="1"/>
          <p:nvPr/>
        </p:nvSpPr>
        <p:spPr>
          <a:xfrm>
            <a:off x="713232" y="960120"/>
            <a:ext cx="10881360" cy="594360"/>
          </a:xfrm>
          <a:prstGeom prst="rect">
            <a:avLst/>
          </a:prstGeom>
          <a:noFill/>
        </p:spPr>
        <p:txBody>
          <a:bodyPr wrap="square">
            <a:spAutoFit/>
          </a:bodyPr>
          <a:lstStyle/>
          <a:p>
            <a:pPr>
              <a:spcAft>
                <a:spcPts val="500"/>
              </a:spcAft>
              <a:defRPr sz="1600" b="0">
                <a:solidFill>
                  <a:srgbClr val="B8C6D8"/>
                </a:solidFill>
                <a:latin typeface="Aptos"/>
              </a:defRPr>
            </a:pPr>
            <a:r>
              <a:t>OE = objetivo específico. Los porcentajes son estimaciones basadas en evidencias.</a:t>
            </a:r>
          </a:p>
        </p:txBody>
      </p:sp>
      <p:sp>
        <p:nvSpPr>
          <p:cNvPr id="5" name="TextBox 4"/>
          <p:cNvSpPr txBox="1"/>
          <p:nvPr/>
        </p:nvSpPr>
        <p:spPr>
          <a:xfrm>
            <a:off x="685800" y="6473952"/>
            <a:ext cx="10058400" cy="219456"/>
          </a:xfrm>
          <a:prstGeom prst="rect">
            <a:avLst/>
          </a:prstGeom>
          <a:noFill/>
        </p:spPr>
        <p:txBody>
          <a:bodyPr wrap="square">
            <a:spAutoFit/>
          </a:bodyPr>
          <a:lstStyle/>
          <a:p>
            <a:pPr>
              <a:spcAft>
                <a:spcPts val="500"/>
              </a:spcAft>
              <a:defRPr sz="1000" b="0">
                <a:solidFill>
                  <a:srgbClr val="B8C6D8"/>
                </a:solidFill>
                <a:latin typeface="Aptos"/>
              </a:defRPr>
            </a:pPr>
            <a:r>
              <a:t>NOVA SPOT MICRO  ·  Proyecto de Grado II  ·  07 septiembre 2026</a:t>
            </a:r>
          </a:p>
        </p:txBody>
      </p:sp>
      <p:sp>
        <p:nvSpPr>
          <p:cNvPr id="6" name="TextBox 5"/>
          <p:cNvSpPr txBox="1"/>
          <p:nvPr/>
        </p:nvSpPr>
        <p:spPr>
          <a:xfrm>
            <a:off x="10972800" y="6437376"/>
            <a:ext cx="640080" cy="274320"/>
          </a:xfrm>
          <a:prstGeom prst="rect">
            <a:avLst/>
          </a:prstGeom>
          <a:noFill/>
        </p:spPr>
        <p:txBody>
          <a:bodyPr wrap="square">
            <a:spAutoFit/>
          </a:bodyPr>
          <a:lstStyle/>
          <a:p>
            <a:pPr>
              <a:spcAft>
                <a:spcPts val="500"/>
              </a:spcAft>
              <a:defRPr sz="1200" b="0">
                <a:solidFill>
                  <a:srgbClr val="4ED3BA"/>
                </a:solidFill>
                <a:latin typeface="Aptos"/>
              </a:defRPr>
            </a:pPr>
            <a:r>
              <a:t>2/7</a:t>
            </a:r>
          </a:p>
        </p:txBody>
      </p:sp>
      <p:graphicFrame>
        <p:nvGraphicFramePr>
          <p:cNvPr id="7" name="Table 6"/>
          <p:cNvGraphicFramePr>
            <a:graphicFrameLocks noGrp="1"/>
          </p:cNvGraphicFramePr>
          <p:nvPr/>
        </p:nvGraphicFramePr>
        <p:xfrm>
          <a:off x="731520" y="1783080"/>
          <a:ext cx="10744200" cy="4096512"/>
        </p:xfrm>
        <a:graphic>
          <a:graphicData uri="http://schemas.openxmlformats.org/drawingml/2006/table">
            <a:tbl>
              <a:tblPr firstRow="1" bandRow="1">
                <a:tableStyleId>{5C22544A-7EE6-4342-B048-85BDC9FD1C3A}</a:tableStyleId>
              </a:tblPr>
              <a:tblGrid>
                <a:gridCol w="2788920"/>
                <a:gridCol w="4251960"/>
                <a:gridCol w="868680"/>
                <a:gridCol w="2834640"/>
              </a:tblGrid>
              <a:tr h="438912">
                <a:tc>
                  <a:txBody>
                    <a:bodyPr/>
                    <a:lstStyle/>
                    <a:p>
                      <a:pPr>
                        <a:defRPr sz="1500" b="1">
                          <a:solidFill>
                            <a:srgbClr val="F3F6FA"/>
                          </a:solidFill>
                          <a:latin typeface="Aptos"/>
                        </a:defRPr>
                      </a:pPr>
                      <a:r>
                        <a:t>Objetivo</a:t>
                      </a:r>
                    </a:p>
                  </a:txBody>
                  <a:tcPr>
                    <a:solidFill>
                      <a:srgbClr val="28475F"/>
                    </a:solidFill>
                  </a:tcPr>
                </a:tc>
                <a:tc>
                  <a:txBody>
                    <a:bodyPr/>
                    <a:lstStyle/>
                    <a:p>
                      <a:pPr>
                        <a:defRPr sz="1500" b="1">
                          <a:solidFill>
                            <a:srgbClr val="F3F6FA"/>
                          </a:solidFill>
                          <a:latin typeface="Aptos"/>
                        </a:defRPr>
                      </a:pPr>
                      <a:r>
                        <a:t>¿Qué hicimos y cómo se demuestra?</a:t>
                      </a:r>
                    </a:p>
                  </a:txBody>
                  <a:tcPr>
                    <a:solidFill>
                      <a:srgbClr val="28475F"/>
                    </a:solidFill>
                  </a:tcPr>
                </a:tc>
                <a:tc>
                  <a:txBody>
                    <a:bodyPr/>
                    <a:lstStyle/>
                    <a:p>
                      <a:pPr>
                        <a:defRPr sz="1500" b="1">
                          <a:solidFill>
                            <a:srgbClr val="4ED3BA"/>
                          </a:solidFill>
                          <a:latin typeface="Aptos"/>
                        </a:defRPr>
                      </a:pPr>
                      <a:r>
                        <a:t>%</a:t>
                      </a:r>
                    </a:p>
                  </a:txBody>
                  <a:tcPr>
                    <a:solidFill>
                      <a:srgbClr val="28475F"/>
                    </a:solidFill>
                  </a:tcPr>
                </a:tc>
                <a:tc>
                  <a:txBody>
                    <a:bodyPr/>
                    <a:lstStyle/>
                    <a:p>
                      <a:pPr>
                        <a:defRPr sz="1500" b="1">
                          <a:solidFill>
                            <a:srgbClr val="F3F6FA"/>
                          </a:solidFill>
                          <a:latin typeface="Aptos"/>
                        </a:defRPr>
                      </a:pPr>
                      <a:r>
                        <a:t>Pendiente</a:t>
                      </a:r>
                    </a:p>
                  </a:txBody>
                  <a:tcPr>
                    <a:solidFill>
                      <a:srgbClr val="28475F"/>
                    </a:solidFill>
                  </a:tcPr>
                </a:tc>
              </a:tr>
              <a:tr h="914400">
                <a:tc>
                  <a:txBody>
                    <a:bodyPr/>
                    <a:lstStyle/>
                    <a:p>
                      <a:pPr>
                        <a:defRPr sz="1400" b="0">
                          <a:solidFill>
                            <a:srgbClr val="F3F6FA"/>
                          </a:solidFill>
                          <a:latin typeface="Aptos"/>
                        </a:defRPr>
                      </a:pPr>
                      <a:r>
                        <a:t>OE1 · Hardware y software</a:t>
                      </a:r>
                    </a:p>
                  </a:txBody>
                  <a:tcPr>
                    <a:solidFill>
                      <a:srgbClr val="1C3049"/>
                    </a:solidFill>
                  </a:tcPr>
                </a:tc>
                <a:tc>
                  <a:txBody>
                    <a:bodyPr/>
                    <a:lstStyle/>
                    <a:p>
                      <a:pPr>
                        <a:defRPr sz="1400" b="0">
                          <a:solidFill>
                            <a:srgbClr val="F3F6FA"/>
                          </a:solidFill>
                          <a:latin typeface="Aptos"/>
                        </a:defRPr>
                      </a:pPr>
                      <a:r>
                        <a:t>Integramos el control y movimos los motores.</a:t>
                      </a:r>
                    </a:p>
                    <a:p>
                      <a:pPr>
                        <a:defRPr sz="1400" b="0">
                          <a:solidFill>
                            <a:srgbClr val="F3F6FA"/>
                          </a:solidFill>
                          <a:latin typeface="Aptos"/>
                        </a:defRPr>
                      </a:pPr>
                      <a:r>
                        <a:t>Evidencia: código y registros.</a:t>
                      </a:r>
                    </a:p>
                  </a:txBody>
                  <a:tcPr>
                    <a:solidFill>
                      <a:srgbClr val="1C3049"/>
                    </a:solidFill>
                  </a:tcPr>
                </a:tc>
                <a:tc>
                  <a:txBody>
                    <a:bodyPr/>
                    <a:lstStyle/>
                    <a:p>
                      <a:pPr>
                        <a:defRPr sz="1400" b="1">
                          <a:solidFill>
                            <a:srgbClr val="4ED3BA"/>
                          </a:solidFill>
                          <a:latin typeface="Aptos"/>
                        </a:defRPr>
                      </a:pPr>
                      <a:r>
                        <a:t>50 %</a:t>
                      </a:r>
                    </a:p>
                  </a:txBody>
                  <a:tcPr>
                    <a:solidFill>
                      <a:srgbClr val="1C3049"/>
                    </a:solidFill>
                  </a:tcPr>
                </a:tc>
                <a:tc>
                  <a:txBody>
                    <a:bodyPr/>
                    <a:lstStyle/>
                    <a:p>
                      <a:pPr>
                        <a:defRPr sz="1400" b="0">
                          <a:solidFill>
                            <a:srgbClr val="F3F6FA"/>
                          </a:solidFill>
                          <a:latin typeface="Aptos"/>
                        </a:defRPr>
                      </a:pPr>
                      <a:r>
                        <a:t>Resolver sobrecarga, calibrar</a:t>
                      </a:r>
                    </a:p>
                    <a:p>
                      <a:pPr>
                        <a:defRPr sz="1400" b="0">
                          <a:solidFill>
                            <a:srgbClr val="F3F6FA"/>
                          </a:solidFill>
                          <a:latin typeface="Aptos"/>
                        </a:defRPr>
                      </a:pPr>
                      <a:r>
                        <a:t>y validar el movimiento real.</a:t>
                      </a:r>
                    </a:p>
                  </a:txBody>
                  <a:tcPr>
                    <a:solidFill>
                      <a:srgbClr val="1C3049"/>
                    </a:solidFill>
                  </a:tcPr>
                </a:tc>
              </a:tr>
              <a:tr h="914400">
                <a:tc>
                  <a:txBody>
                    <a:bodyPr/>
                    <a:lstStyle/>
                    <a:p>
                      <a:pPr>
                        <a:defRPr sz="1400" b="0">
                          <a:solidFill>
                            <a:srgbClr val="F3F6FA"/>
                          </a:solidFill>
                          <a:latin typeface="Aptos"/>
                        </a:defRPr>
                      </a:pPr>
                      <a:r>
                        <a:t>OE2 · Modelo del robot</a:t>
                      </a:r>
                    </a:p>
                  </a:txBody>
                  <a:tcPr>
                    <a:solidFill>
                      <a:srgbClr val="1C3049"/>
                    </a:solidFill>
                  </a:tcPr>
                </a:tc>
                <a:tc>
                  <a:txBody>
                    <a:bodyPr/>
                    <a:lstStyle/>
                    <a:p>
                      <a:pPr>
                        <a:defRPr sz="1400" b="0">
                          <a:solidFill>
                            <a:srgbClr val="F3F6FA"/>
                          </a:solidFill>
                          <a:latin typeface="Aptos"/>
                        </a:defRPr>
                      </a:pPr>
                      <a:r>
                        <a:t>Creamos y verificamos el modelo.</a:t>
                      </a:r>
                    </a:p>
                    <a:p>
                      <a:pPr>
                        <a:defRPr sz="1400" b="0">
                          <a:solidFill>
                            <a:srgbClr val="F3F6FA"/>
                          </a:solidFill>
                          <a:latin typeface="Aptos"/>
                        </a:defRPr>
                      </a:pPr>
                      <a:r>
                        <a:t>Evidencia: ecuaciones y pruebas.</a:t>
                      </a:r>
                    </a:p>
                  </a:txBody>
                  <a:tcPr>
                    <a:solidFill>
                      <a:srgbClr val="1C3049"/>
                    </a:solidFill>
                  </a:tcPr>
                </a:tc>
                <a:tc>
                  <a:txBody>
                    <a:bodyPr/>
                    <a:lstStyle/>
                    <a:p>
                      <a:pPr>
                        <a:defRPr sz="1400" b="1">
                          <a:solidFill>
                            <a:srgbClr val="4ED3BA"/>
                          </a:solidFill>
                          <a:latin typeface="Aptos"/>
                        </a:defRPr>
                      </a:pPr>
                      <a:r>
                        <a:t>50 %</a:t>
                      </a:r>
                    </a:p>
                  </a:txBody>
                  <a:tcPr>
                    <a:solidFill>
                      <a:srgbClr val="1C3049"/>
                    </a:solidFill>
                  </a:tcPr>
                </a:tc>
                <a:tc>
                  <a:txBody>
                    <a:bodyPr/>
                    <a:lstStyle/>
                    <a:p>
                      <a:pPr>
                        <a:defRPr sz="1400" b="0">
                          <a:solidFill>
                            <a:srgbClr val="F3F6FA"/>
                          </a:solidFill>
                          <a:latin typeface="Aptos"/>
                        </a:defRPr>
                      </a:pPr>
                      <a:r>
                        <a:t>Contrastar parámetros físicos</a:t>
                      </a:r>
                    </a:p>
                    <a:p>
                      <a:pPr>
                        <a:defRPr sz="1400" b="0">
                          <a:solidFill>
                            <a:srgbClr val="F3F6FA"/>
                          </a:solidFill>
                          <a:latin typeface="Aptos"/>
                        </a:defRPr>
                      </a:pPr>
                      <a:r>
                        <a:t>y validar el modelo.</a:t>
                      </a:r>
                    </a:p>
                  </a:txBody>
                  <a:tcPr>
                    <a:solidFill>
                      <a:srgbClr val="1C3049"/>
                    </a:solidFill>
                  </a:tcPr>
                </a:tc>
              </a:tr>
              <a:tr h="914400">
                <a:tc>
                  <a:txBody>
                    <a:bodyPr/>
                    <a:lstStyle/>
                    <a:p>
                      <a:pPr>
                        <a:defRPr sz="1400" b="0">
                          <a:solidFill>
                            <a:srgbClr val="F3F6FA"/>
                          </a:solidFill>
                          <a:latin typeface="Aptos"/>
                        </a:defRPr>
                      </a:pPr>
                      <a:r>
                        <a:t>OE3 · Control con aprendizaje</a:t>
                      </a:r>
                    </a:p>
                  </a:txBody>
                  <a:tcPr>
                    <a:solidFill>
                      <a:srgbClr val="1C3049"/>
                    </a:solidFill>
                  </a:tcPr>
                </a:tc>
                <a:tc>
                  <a:txBody>
                    <a:bodyPr/>
                    <a:lstStyle/>
                    <a:p>
                      <a:pPr>
                        <a:defRPr sz="1400" b="0">
                          <a:solidFill>
                            <a:srgbClr val="F3F6FA"/>
                          </a:solidFill>
                          <a:latin typeface="Aptos"/>
                        </a:defRPr>
                      </a:pPr>
                      <a:r>
                        <a:t>Entrenamos y evaluamos el algoritmo.</a:t>
                      </a:r>
                    </a:p>
                    <a:p>
                      <a:pPr>
                        <a:defRPr sz="1400" b="0">
                          <a:solidFill>
                            <a:srgbClr val="F3F6FA"/>
                          </a:solidFill>
                          <a:latin typeface="Aptos"/>
                        </a:defRPr>
                      </a:pPr>
                      <a:r>
                        <a:t>No se demostró la mejora buscada.</a:t>
                      </a:r>
                    </a:p>
                  </a:txBody>
                  <a:tcPr>
                    <a:solidFill>
                      <a:srgbClr val="1C3049"/>
                    </a:solidFill>
                  </a:tcPr>
                </a:tc>
                <a:tc>
                  <a:txBody>
                    <a:bodyPr/>
                    <a:lstStyle/>
                    <a:p>
                      <a:pPr>
                        <a:defRPr sz="1400" b="1">
                          <a:solidFill>
                            <a:srgbClr val="4ED3BA"/>
                          </a:solidFill>
                          <a:latin typeface="Aptos"/>
                        </a:defRPr>
                      </a:pPr>
                      <a:r>
                        <a:t>50 %</a:t>
                      </a:r>
                    </a:p>
                  </a:txBody>
                  <a:tcPr>
                    <a:solidFill>
                      <a:srgbClr val="1C3049"/>
                    </a:solidFill>
                  </a:tcPr>
                </a:tc>
                <a:tc>
                  <a:txBody>
                    <a:bodyPr/>
                    <a:lstStyle/>
                    <a:p>
                      <a:pPr>
                        <a:defRPr sz="1400" b="0">
                          <a:solidFill>
                            <a:srgbClr val="F3F6FA"/>
                          </a:solidFill>
                          <a:latin typeface="Aptos"/>
                        </a:defRPr>
                      </a:pPr>
                      <a:r>
                        <a:t>Demostrar estabilidad y</a:t>
                      </a:r>
                    </a:p>
                    <a:p>
                      <a:pPr>
                        <a:defRPr sz="1400" b="0">
                          <a:solidFill>
                            <a:srgbClr val="F3F6FA"/>
                          </a:solidFill>
                          <a:latin typeface="Aptos"/>
                        </a:defRPr>
                      </a:pPr>
                      <a:r>
                        <a:t>continuidad en paso y gateo.</a:t>
                      </a:r>
                    </a:p>
                  </a:txBody>
                  <a:tcPr>
                    <a:solidFill>
                      <a:srgbClr val="1C3049"/>
                    </a:solidFill>
                  </a:tcPr>
                </a:tc>
              </a:tr>
              <a:tr h="914400">
                <a:tc>
                  <a:txBody>
                    <a:bodyPr/>
                    <a:lstStyle/>
                    <a:p>
                      <a:pPr>
                        <a:defRPr sz="1400" b="0">
                          <a:solidFill>
                            <a:srgbClr val="F3F6FA"/>
                          </a:solidFill>
                          <a:latin typeface="Aptos"/>
                        </a:defRPr>
                      </a:pPr>
                      <a:r>
                        <a:t>OE4 · Tres pruebas de evaluación</a:t>
                      </a:r>
                    </a:p>
                  </a:txBody>
                  <a:tcPr>
                    <a:solidFill>
                      <a:srgbClr val="1C3049"/>
                    </a:solidFill>
                  </a:tcPr>
                </a:tc>
                <a:tc>
                  <a:txBody>
                    <a:bodyPr/>
                    <a:lstStyle/>
                    <a:p>
                      <a:pPr>
                        <a:defRPr sz="1400" b="0">
                          <a:solidFill>
                            <a:srgbClr val="F3F6FA"/>
                          </a:solidFill>
                          <a:latin typeface="Aptos"/>
                        </a:defRPr>
                      </a:pPr>
                      <a:r>
                        <a:t>Medimos seguimiento y repetibilidad</a:t>
                      </a:r>
                    </a:p>
                    <a:p>
                      <a:pPr>
                        <a:defRPr sz="1400" b="0">
                          <a:solidFill>
                            <a:srgbClr val="F3F6FA"/>
                          </a:solidFill>
                          <a:latin typeface="Aptos"/>
                        </a:defRPr>
                      </a:pPr>
                      <a:r>
                        <a:t>en simulación; margen aún parcial.</a:t>
                      </a:r>
                    </a:p>
                  </a:txBody>
                  <a:tcPr>
                    <a:solidFill>
                      <a:srgbClr val="1C3049"/>
                    </a:solidFill>
                  </a:tcPr>
                </a:tc>
                <a:tc>
                  <a:txBody>
                    <a:bodyPr/>
                    <a:lstStyle/>
                    <a:p>
                      <a:pPr>
                        <a:defRPr sz="1400" b="1">
                          <a:solidFill>
                            <a:srgbClr val="4ED3BA"/>
                          </a:solidFill>
                          <a:latin typeface="Aptos"/>
                        </a:defRPr>
                      </a:pPr>
                      <a:r>
                        <a:t>50 %</a:t>
                      </a:r>
                    </a:p>
                  </a:txBody>
                  <a:tcPr>
                    <a:solidFill>
                      <a:srgbClr val="1C3049"/>
                    </a:solidFill>
                  </a:tcPr>
                </a:tc>
                <a:tc>
                  <a:txBody>
                    <a:bodyPr/>
                    <a:lstStyle/>
                    <a:p>
                      <a:pPr>
                        <a:defRPr sz="1400" b="0">
                          <a:solidFill>
                            <a:srgbClr val="F3F6FA"/>
                          </a:solidFill>
                          <a:latin typeface="Aptos"/>
                        </a:defRPr>
                      </a:pPr>
                      <a:r>
                        <a:t>Completar las tres pruebas</a:t>
                      </a:r>
                    </a:p>
                    <a:p>
                      <a:pPr>
                        <a:defRPr sz="1400" b="0">
                          <a:solidFill>
                            <a:srgbClr val="F3F6FA"/>
                          </a:solidFill>
                          <a:latin typeface="Aptos"/>
                        </a:defRPr>
                      </a:pPr>
                      <a:r>
                        <a:t>y su análisis conjunto.</a:t>
                      </a:r>
                    </a:p>
                  </a:txBody>
                  <a:tcPr>
                    <a:solidFill>
                      <a:srgbClr val="1C3049"/>
                    </a:solidFill>
                  </a:tcPr>
                </a:tc>
              </a:tr>
            </a:tbl>
          </a:graphicData>
        </a:graphic>
      </p:graphicFrame>
      <p:sp>
        <p:nvSpPr>
          <p:cNvPr id="8" name="TextBox 7"/>
          <p:cNvSpPr txBox="1"/>
          <p:nvPr/>
        </p:nvSpPr>
        <p:spPr>
          <a:xfrm>
            <a:off x="731520" y="5989320"/>
            <a:ext cx="10607040" cy="320040"/>
          </a:xfrm>
          <a:prstGeom prst="rect">
            <a:avLst/>
          </a:prstGeom>
          <a:noFill/>
        </p:spPr>
        <p:txBody>
          <a:bodyPr wrap="square">
            <a:spAutoFit/>
          </a:bodyPr>
          <a:lstStyle/>
          <a:p>
            <a:pPr>
              <a:spcAft>
                <a:spcPts val="500"/>
              </a:spcAft>
              <a:defRPr sz="1300" b="0">
                <a:solidFill>
                  <a:srgbClr val="FFD187"/>
                </a:solidFill>
                <a:latin typeface="Aptos"/>
              </a:defRPr>
            </a:pPr>
            <a:r>
              <a:t>Cálculo propuesto: 4 etapas por objetivo; cada etapa terminada suma 25 %.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411480" y="411480"/>
            <a:ext cx="91440" cy="685800"/>
          </a:xfrm>
          <a:prstGeom prst="rect">
            <a:avLst/>
          </a:prstGeom>
          <a:solidFill>
            <a:srgbClr val="4ED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0040"/>
            <a:ext cx="10972800" cy="548640"/>
          </a:xfrm>
          <a:prstGeom prst="rect">
            <a:avLst/>
          </a:prstGeom>
          <a:noFill/>
        </p:spPr>
        <p:txBody>
          <a:bodyPr wrap="square">
            <a:spAutoFit/>
          </a:bodyPr>
          <a:lstStyle/>
          <a:p>
            <a:pPr>
              <a:spcAft>
                <a:spcPts val="500"/>
              </a:spcAft>
              <a:defRPr sz="2600" b="1">
                <a:solidFill>
                  <a:srgbClr val="F3F6FA"/>
                </a:solidFill>
                <a:latin typeface="Aptos"/>
              </a:defRPr>
            </a:pPr>
            <a:r>
              <a:t>¿Qué mostraron las pruebas?</a:t>
            </a:r>
          </a:p>
        </p:txBody>
      </p:sp>
      <p:sp>
        <p:nvSpPr>
          <p:cNvPr id="4" name="TextBox 3"/>
          <p:cNvSpPr txBox="1"/>
          <p:nvPr/>
        </p:nvSpPr>
        <p:spPr>
          <a:xfrm>
            <a:off x="713232" y="960120"/>
            <a:ext cx="10881360" cy="594360"/>
          </a:xfrm>
          <a:prstGeom prst="rect">
            <a:avLst/>
          </a:prstGeom>
          <a:noFill/>
        </p:spPr>
        <p:txBody>
          <a:bodyPr wrap="square">
            <a:spAutoFit/>
          </a:bodyPr>
          <a:lstStyle/>
          <a:p>
            <a:pPr>
              <a:spcAft>
                <a:spcPts val="500"/>
              </a:spcAft>
              <a:defRPr sz="1600" b="0">
                <a:solidFill>
                  <a:srgbClr val="B8C6D8"/>
                </a:solidFill>
                <a:latin typeface="Aptos"/>
              </a:defRPr>
            </a:pPr>
            <a:r>
              <a:t>Gazebo y MuJoCo son los dos simuladores que usamos para probar el movimiento.</a:t>
            </a:r>
          </a:p>
        </p:txBody>
      </p:sp>
      <p:sp>
        <p:nvSpPr>
          <p:cNvPr id="5" name="TextBox 4"/>
          <p:cNvSpPr txBox="1"/>
          <p:nvPr/>
        </p:nvSpPr>
        <p:spPr>
          <a:xfrm>
            <a:off x="685800" y="6473952"/>
            <a:ext cx="10058400" cy="219456"/>
          </a:xfrm>
          <a:prstGeom prst="rect">
            <a:avLst/>
          </a:prstGeom>
          <a:noFill/>
        </p:spPr>
        <p:txBody>
          <a:bodyPr wrap="square">
            <a:spAutoFit/>
          </a:bodyPr>
          <a:lstStyle/>
          <a:p>
            <a:pPr>
              <a:spcAft>
                <a:spcPts val="500"/>
              </a:spcAft>
              <a:defRPr sz="1000" b="0">
                <a:solidFill>
                  <a:srgbClr val="B8C6D8"/>
                </a:solidFill>
                <a:latin typeface="Aptos"/>
              </a:defRPr>
            </a:pPr>
            <a:r>
              <a:t>NOVA SPOT MICRO  ·  Proyecto de Grado II  ·  07 septiembre 2026</a:t>
            </a:r>
          </a:p>
        </p:txBody>
      </p:sp>
      <p:sp>
        <p:nvSpPr>
          <p:cNvPr id="6" name="TextBox 5"/>
          <p:cNvSpPr txBox="1"/>
          <p:nvPr/>
        </p:nvSpPr>
        <p:spPr>
          <a:xfrm>
            <a:off x="10972800" y="6437376"/>
            <a:ext cx="640080" cy="274320"/>
          </a:xfrm>
          <a:prstGeom prst="rect">
            <a:avLst/>
          </a:prstGeom>
          <a:noFill/>
        </p:spPr>
        <p:txBody>
          <a:bodyPr wrap="square">
            <a:spAutoFit/>
          </a:bodyPr>
          <a:lstStyle/>
          <a:p>
            <a:pPr>
              <a:spcAft>
                <a:spcPts val="500"/>
              </a:spcAft>
              <a:defRPr sz="1200" b="0">
                <a:solidFill>
                  <a:srgbClr val="4ED3BA"/>
                </a:solidFill>
                <a:latin typeface="Aptos"/>
              </a:defRPr>
            </a:pPr>
            <a:r>
              <a:t>4/7</a:t>
            </a:r>
          </a:p>
        </p:txBody>
      </p:sp>
      <p:sp>
        <p:nvSpPr>
          <p:cNvPr id="7" name="Rectangle 6"/>
          <p:cNvSpPr/>
          <p:nvPr/>
        </p:nvSpPr>
        <p:spPr>
          <a:xfrm>
            <a:off x="731520" y="1691640"/>
            <a:ext cx="6400800" cy="969264"/>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55648"/>
            <a:ext cx="6035040" cy="329184"/>
          </a:xfrm>
          <a:prstGeom prst="rect">
            <a:avLst/>
          </a:prstGeom>
          <a:noFill/>
        </p:spPr>
        <p:txBody>
          <a:bodyPr wrap="square">
            <a:spAutoFit/>
          </a:bodyPr>
          <a:lstStyle/>
          <a:p>
            <a:pPr>
              <a:spcAft>
                <a:spcPts val="500"/>
              </a:spcAft>
              <a:defRPr sz="1800" b="1">
                <a:solidFill>
                  <a:srgbClr val="4ED3BA"/>
                </a:solidFill>
                <a:latin typeface="Aptos"/>
              </a:defRPr>
            </a:pPr>
            <a:r>
              <a:t>Gazebo · el robot avanza</a:t>
            </a:r>
          </a:p>
        </p:txBody>
      </p:sp>
      <p:sp>
        <p:nvSpPr>
          <p:cNvPr id="9" name="TextBox 8"/>
          <p:cNvSpPr txBox="1"/>
          <p:nvPr/>
        </p:nvSpPr>
        <p:spPr>
          <a:xfrm>
            <a:off x="914400" y="2084832"/>
            <a:ext cx="6035040" cy="594360"/>
          </a:xfrm>
          <a:prstGeom prst="rect">
            <a:avLst/>
          </a:prstGeom>
          <a:noFill/>
        </p:spPr>
        <p:txBody>
          <a:bodyPr wrap="square">
            <a:spAutoFit/>
          </a:bodyPr>
          <a:lstStyle/>
          <a:p>
            <a:pPr>
              <a:spcAft>
                <a:spcPts val="0"/>
              </a:spcAft>
              <a:defRPr sz="1600" b="0">
                <a:solidFill>
                  <a:srgbClr val="F3F6FA"/>
                </a:solidFill>
                <a:latin typeface="Aptos"/>
              </a:defRPr>
            </a:pPr>
            <a:r>
              <a:t>En 5 pruebas avanzó unos 2,4 cm</a:t>
            </a:r>
          </a:p>
          <a:p>
            <a:pPr>
              <a:spcAft>
                <a:spcPts val="0"/>
              </a:spcAft>
              <a:defRPr sz="1600" b="0">
                <a:solidFill>
                  <a:srgbClr val="F3F6FA"/>
                </a:solidFill>
                <a:latin typeface="Aptos"/>
              </a:defRPr>
            </a:pPr>
            <a:r>
              <a:t>por cada secuencia completa de gateo.</a:t>
            </a:r>
          </a:p>
        </p:txBody>
      </p:sp>
      <p:sp>
        <p:nvSpPr>
          <p:cNvPr id="10" name="Rectangle 9"/>
          <p:cNvSpPr/>
          <p:nvPr/>
        </p:nvSpPr>
        <p:spPr>
          <a:xfrm>
            <a:off x="731520" y="2724912"/>
            <a:ext cx="6400800" cy="969264"/>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88920"/>
            <a:ext cx="6035040" cy="329184"/>
          </a:xfrm>
          <a:prstGeom prst="rect">
            <a:avLst/>
          </a:prstGeom>
          <a:noFill/>
        </p:spPr>
        <p:txBody>
          <a:bodyPr wrap="square">
            <a:spAutoFit/>
          </a:bodyPr>
          <a:lstStyle/>
          <a:p>
            <a:pPr>
              <a:spcAft>
                <a:spcPts val="500"/>
              </a:spcAft>
              <a:defRPr sz="1800" b="1">
                <a:solidFill>
                  <a:srgbClr val="4ED3BA"/>
                </a:solidFill>
                <a:latin typeface="Aptos"/>
              </a:defRPr>
            </a:pPr>
            <a:r>
              <a:t>MuJoCo · logramos mejorar el paso</a:t>
            </a:r>
          </a:p>
        </p:txBody>
      </p:sp>
      <p:sp>
        <p:nvSpPr>
          <p:cNvPr id="12" name="TextBox 11"/>
          <p:cNvSpPr txBox="1"/>
          <p:nvPr/>
        </p:nvSpPr>
        <p:spPr>
          <a:xfrm>
            <a:off x="914400" y="3118104"/>
            <a:ext cx="6035040" cy="594360"/>
          </a:xfrm>
          <a:prstGeom prst="rect">
            <a:avLst/>
          </a:prstGeom>
          <a:noFill/>
        </p:spPr>
        <p:txBody>
          <a:bodyPr wrap="square">
            <a:spAutoFit/>
          </a:bodyPr>
          <a:lstStyle/>
          <a:p>
            <a:pPr>
              <a:spcAft>
                <a:spcPts val="0"/>
              </a:spcAft>
              <a:defRPr sz="1600" b="0">
                <a:solidFill>
                  <a:srgbClr val="F3F6FA"/>
                </a:solidFill>
                <a:latin typeface="Aptos"/>
              </a:defRPr>
            </a:pPr>
            <a:r>
              <a:t>El avance pasó de 2,7 a 9,9 mm por ciclo.</a:t>
            </a:r>
          </a:p>
          <a:p>
            <a:pPr>
              <a:spcAft>
                <a:spcPts val="0"/>
              </a:spcAft>
              <a:defRPr sz="1600" b="0">
                <a:solidFill>
                  <a:srgbClr val="F3F6FA"/>
                </a:solidFill>
                <a:latin typeface="Aptos"/>
              </a:defRPr>
            </a:pPr>
            <a:r>
              <a:t>Falta mejorar cuándo apoya cada pata.</a:t>
            </a:r>
          </a:p>
        </p:txBody>
      </p:sp>
      <p:sp>
        <p:nvSpPr>
          <p:cNvPr id="13" name="Rectangle 12"/>
          <p:cNvSpPr/>
          <p:nvPr/>
        </p:nvSpPr>
        <p:spPr>
          <a:xfrm>
            <a:off x="731520" y="3758184"/>
            <a:ext cx="6400800" cy="969264"/>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822192"/>
            <a:ext cx="6035040" cy="329184"/>
          </a:xfrm>
          <a:prstGeom prst="rect">
            <a:avLst/>
          </a:prstGeom>
          <a:noFill/>
        </p:spPr>
        <p:txBody>
          <a:bodyPr wrap="square">
            <a:spAutoFit/>
          </a:bodyPr>
          <a:lstStyle/>
          <a:p>
            <a:pPr>
              <a:spcAft>
                <a:spcPts val="500"/>
              </a:spcAft>
              <a:defRPr sz="1800" b="1">
                <a:solidFill>
                  <a:srgbClr val="4ED3BA"/>
                </a:solidFill>
                <a:latin typeface="Aptos"/>
              </a:defRPr>
            </a:pPr>
            <a:r>
              <a:t>Seguridad · el programa detectó los fallos</a:t>
            </a:r>
          </a:p>
        </p:txBody>
      </p:sp>
      <p:sp>
        <p:nvSpPr>
          <p:cNvPr id="15" name="TextBox 14"/>
          <p:cNvSpPr txBox="1"/>
          <p:nvPr/>
        </p:nvSpPr>
        <p:spPr>
          <a:xfrm>
            <a:off x="914400" y="4151376"/>
            <a:ext cx="6035040" cy="594360"/>
          </a:xfrm>
          <a:prstGeom prst="rect">
            <a:avLst/>
          </a:prstGeom>
          <a:noFill/>
        </p:spPr>
        <p:txBody>
          <a:bodyPr wrap="square">
            <a:spAutoFit/>
          </a:bodyPr>
          <a:lstStyle/>
          <a:p>
            <a:pPr>
              <a:spcAft>
                <a:spcPts val="0"/>
              </a:spcAft>
              <a:defRPr sz="1600" b="0">
                <a:solidFill>
                  <a:srgbClr val="F3F6FA"/>
                </a:solidFill>
                <a:latin typeface="Aptos"/>
              </a:defRPr>
            </a:pPr>
            <a:r>
              <a:t>Detectó los 9 fallos que provocamos</a:t>
            </a:r>
          </a:p>
          <a:p>
            <a:pPr>
              <a:spcAft>
                <a:spcPts val="0"/>
              </a:spcAft>
              <a:defRPr sz="1600" b="0">
                <a:solidFill>
                  <a:srgbClr val="F3F6FA"/>
                </a:solidFill>
                <a:latin typeface="Aptos"/>
              </a:defRPr>
            </a:pPr>
            <a:r>
              <a:t>y envió la orden de detener la marcha.</a:t>
            </a:r>
          </a:p>
        </p:txBody>
      </p:sp>
      <p:sp>
        <p:nvSpPr>
          <p:cNvPr id="16" name="Rectangle 15"/>
          <p:cNvSpPr/>
          <p:nvPr/>
        </p:nvSpPr>
        <p:spPr>
          <a:xfrm>
            <a:off x="731520" y="4791456"/>
            <a:ext cx="6400800" cy="969264"/>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855464"/>
            <a:ext cx="6035040" cy="329184"/>
          </a:xfrm>
          <a:prstGeom prst="rect">
            <a:avLst/>
          </a:prstGeom>
          <a:noFill/>
        </p:spPr>
        <p:txBody>
          <a:bodyPr wrap="square">
            <a:spAutoFit/>
          </a:bodyPr>
          <a:lstStyle/>
          <a:p>
            <a:pPr>
              <a:spcAft>
                <a:spcPts val="500"/>
              </a:spcAft>
              <a:defRPr sz="1800" b="1">
                <a:solidFill>
                  <a:srgbClr val="4ED3BA"/>
                </a:solidFill>
                <a:latin typeface="Aptos"/>
              </a:defRPr>
            </a:pPr>
            <a:r>
              <a:t>Aprendizaje · todavía no logró la mejora</a:t>
            </a:r>
          </a:p>
        </p:txBody>
      </p:sp>
      <p:sp>
        <p:nvSpPr>
          <p:cNvPr id="18" name="TextBox 17"/>
          <p:cNvSpPr txBox="1"/>
          <p:nvPr/>
        </p:nvSpPr>
        <p:spPr>
          <a:xfrm>
            <a:off x="914400" y="5184648"/>
            <a:ext cx="6035040" cy="594360"/>
          </a:xfrm>
          <a:prstGeom prst="rect">
            <a:avLst/>
          </a:prstGeom>
          <a:noFill/>
        </p:spPr>
        <p:txBody>
          <a:bodyPr wrap="square">
            <a:spAutoFit/>
          </a:bodyPr>
          <a:lstStyle/>
          <a:p>
            <a:pPr>
              <a:spcAft>
                <a:spcPts val="0"/>
              </a:spcAft>
              <a:defRPr sz="1600" b="0">
                <a:solidFill>
                  <a:srgbClr val="F3F6FA"/>
                </a:solidFill>
                <a:latin typeface="Aptos"/>
              </a:defRPr>
            </a:pPr>
            <a:r>
              <a:t>Entrenamos el algoritmo cinco veces.</a:t>
            </a:r>
          </a:p>
          <a:p>
            <a:pPr>
              <a:spcAft>
                <a:spcPts val="0"/>
              </a:spcAft>
              <a:defRPr sz="1600" b="0">
                <a:solidFill>
                  <a:srgbClr val="F3F6FA"/>
                </a:solidFill>
                <a:latin typeface="Aptos"/>
              </a:defRPr>
            </a:pPr>
            <a:r>
              <a:t>Las correcciones no cumplieron lo esperado.</a:t>
            </a:r>
          </a:p>
        </p:txBody>
      </p:sp>
      <p:pic>
        <p:nvPicPr>
          <p:cNvPr id="19" name="Picture 18" descr="gazebo_nova.png"/>
          <p:cNvPicPr>
            <a:picLocks noChangeAspect="1"/>
          </p:cNvPicPr>
          <p:nvPr/>
        </p:nvPicPr>
        <p:blipFill>
          <a:blip r:embed="rId2"/>
          <a:stretch>
            <a:fillRect/>
          </a:stretch>
        </p:blipFill>
        <p:spPr>
          <a:xfrm>
            <a:off x="7388352" y="1691640"/>
            <a:ext cx="4041648" cy="3090672"/>
          </a:xfrm>
          <a:prstGeom prst="rect">
            <a:avLst/>
          </a:prstGeom>
        </p:spPr>
      </p:pic>
      <p:sp>
        <p:nvSpPr>
          <p:cNvPr id="20" name="TextBox 19"/>
          <p:cNvSpPr txBox="1"/>
          <p:nvPr/>
        </p:nvSpPr>
        <p:spPr>
          <a:xfrm>
            <a:off x="7388352" y="4809744"/>
            <a:ext cx="4041648" cy="365760"/>
          </a:xfrm>
          <a:prstGeom prst="rect">
            <a:avLst/>
          </a:prstGeom>
          <a:noFill/>
        </p:spPr>
        <p:txBody>
          <a:bodyPr wrap="square">
            <a:spAutoFit/>
          </a:bodyPr>
          <a:lstStyle/>
          <a:p>
            <a:pPr>
              <a:spcAft>
                <a:spcPts val="500"/>
              </a:spcAft>
              <a:defRPr sz="1200" b="0">
                <a:solidFill>
                  <a:srgbClr val="4ED3BA"/>
                </a:solidFill>
                <a:latin typeface="Aptos"/>
              </a:defRPr>
            </a:pPr>
            <a:r>
              <a:t>Nova Spot Micro · captura real de Gazebo</a:t>
            </a:r>
          </a:p>
        </p:txBody>
      </p:sp>
      <p:sp>
        <p:nvSpPr>
          <p:cNvPr id="21" name="Rectangle 20"/>
          <p:cNvSpPr/>
          <p:nvPr/>
        </p:nvSpPr>
        <p:spPr>
          <a:xfrm>
            <a:off x="7388352" y="5303520"/>
            <a:ext cx="1188720" cy="6858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2.jpeg"/>
          <p:cNvPicPr>
            <a:picLocks noChangeAspect="1"/>
          </p:cNvPicPr>
          <p:nvPr/>
        </p:nvPicPr>
        <p:blipFill>
          <a:blip r:embed="rId3"/>
          <a:stretch>
            <a:fillRect/>
          </a:stretch>
        </p:blipFill>
        <p:spPr>
          <a:xfrm>
            <a:off x="7789924" y="5303520"/>
            <a:ext cx="385574" cy="685800"/>
          </a:xfrm>
          <a:prstGeom prst="rect">
            <a:avLst/>
          </a:prstGeom>
        </p:spPr>
      </p:pic>
      <p:sp>
        <p:nvSpPr>
          <p:cNvPr id="23" name="TextBox 22"/>
          <p:cNvSpPr txBox="1"/>
          <p:nvPr/>
        </p:nvSpPr>
        <p:spPr>
          <a:xfrm>
            <a:off x="7388352" y="6044183"/>
            <a:ext cx="1188720" cy="365760"/>
          </a:xfrm>
          <a:prstGeom prst="rect">
            <a:avLst/>
          </a:prstGeom>
          <a:noFill/>
        </p:spPr>
        <p:txBody>
          <a:bodyPr wrap="square">
            <a:spAutoFit/>
          </a:bodyPr>
          <a:lstStyle/>
          <a:p>
            <a:pPr>
              <a:spcAft>
                <a:spcPts val="500"/>
              </a:spcAft>
              <a:defRPr sz="1100" b="0">
                <a:solidFill>
                  <a:srgbClr val="B8C6D8"/>
                </a:solidFill>
                <a:latin typeface="Aptos"/>
              </a:defRPr>
            </a:pPr>
            <a:r>
              <a:t>Ensamble</a:t>
            </a:r>
          </a:p>
        </p:txBody>
      </p:sp>
      <p:sp>
        <p:nvSpPr>
          <p:cNvPr id="24" name="Rectangle 23"/>
          <p:cNvSpPr/>
          <p:nvPr/>
        </p:nvSpPr>
        <p:spPr>
          <a:xfrm>
            <a:off x="8796528" y="5303520"/>
            <a:ext cx="1188720" cy="6858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jpeg"/>
          <p:cNvPicPr>
            <a:picLocks noChangeAspect="1"/>
          </p:cNvPicPr>
          <p:nvPr/>
        </p:nvPicPr>
        <p:blipFill>
          <a:blip r:embed="rId4"/>
          <a:stretch>
            <a:fillRect/>
          </a:stretch>
        </p:blipFill>
        <p:spPr>
          <a:xfrm>
            <a:off x="9189702" y="5303520"/>
            <a:ext cx="402371" cy="685800"/>
          </a:xfrm>
          <a:prstGeom prst="rect">
            <a:avLst/>
          </a:prstGeom>
        </p:spPr>
      </p:pic>
      <p:sp>
        <p:nvSpPr>
          <p:cNvPr id="26" name="TextBox 25"/>
          <p:cNvSpPr txBox="1"/>
          <p:nvPr/>
        </p:nvSpPr>
        <p:spPr>
          <a:xfrm>
            <a:off x="8796528" y="6044183"/>
            <a:ext cx="1188720" cy="365760"/>
          </a:xfrm>
          <a:prstGeom prst="rect">
            <a:avLst/>
          </a:prstGeom>
          <a:noFill/>
        </p:spPr>
        <p:txBody>
          <a:bodyPr wrap="square">
            <a:spAutoFit/>
          </a:bodyPr>
          <a:lstStyle/>
          <a:p>
            <a:pPr>
              <a:spcAft>
                <a:spcPts val="500"/>
              </a:spcAft>
              <a:defRPr sz="1100" b="0">
                <a:solidFill>
                  <a:srgbClr val="B8C6D8"/>
                </a:solidFill>
                <a:latin typeface="Aptos"/>
              </a:defRPr>
            </a:pPr>
            <a:r>
              <a:t>Articulación</a:t>
            </a:r>
          </a:p>
        </p:txBody>
      </p:sp>
      <p:sp>
        <p:nvSpPr>
          <p:cNvPr id="27" name="Rectangle 26"/>
          <p:cNvSpPr/>
          <p:nvPr/>
        </p:nvSpPr>
        <p:spPr>
          <a:xfrm>
            <a:off x="10204704" y="5303520"/>
            <a:ext cx="1188720" cy="6858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4.jpeg"/>
          <p:cNvPicPr>
            <a:picLocks noChangeAspect="1"/>
          </p:cNvPicPr>
          <p:nvPr/>
        </p:nvPicPr>
        <p:blipFill>
          <a:blip r:embed="rId5"/>
          <a:stretch>
            <a:fillRect/>
          </a:stretch>
        </p:blipFill>
        <p:spPr>
          <a:xfrm>
            <a:off x="10341864" y="5303520"/>
            <a:ext cx="914400" cy="685800"/>
          </a:xfrm>
          <a:prstGeom prst="rect">
            <a:avLst/>
          </a:prstGeom>
        </p:spPr>
      </p:pic>
      <p:sp>
        <p:nvSpPr>
          <p:cNvPr id="29" name="TextBox 28"/>
          <p:cNvSpPr txBox="1"/>
          <p:nvPr/>
        </p:nvSpPr>
        <p:spPr>
          <a:xfrm>
            <a:off x="10204704" y="6044183"/>
            <a:ext cx="1188720" cy="365760"/>
          </a:xfrm>
          <a:prstGeom prst="rect">
            <a:avLst/>
          </a:prstGeom>
          <a:noFill/>
        </p:spPr>
        <p:txBody>
          <a:bodyPr wrap="square">
            <a:spAutoFit/>
          </a:bodyPr>
          <a:lstStyle/>
          <a:p>
            <a:pPr>
              <a:spcAft>
                <a:spcPts val="500"/>
              </a:spcAft>
              <a:defRPr sz="1100" b="0">
                <a:solidFill>
                  <a:srgbClr val="B8C6D8"/>
                </a:solidFill>
                <a:latin typeface="Aptos"/>
              </a:defRPr>
            </a:pPr>
            <a:r>
              <a:t>Pieza impresa</a:t>
            </a:r>
          </a:p>
        </p:txBody>
      </p:sp>
      <p:sp>
        <p:nvSpPr>
          <p:cNvPr id="30" name="TextBox 29"/>
          <p:cNvSpPr txBox="1"/>
          <p:nvPr/>
        </p:nvSpPr>
        <p:spPr>
          <a:xfrm>
            <a:off x="731520" y="5943600"/>
            <a:ext cx="6400800" cy="365760"/>
          </a:xfrm>
          <a:prstGeom prst="rect">
            <a:avLst/>
          </a:prstGeom>
          <a:noFill/>
        </p:spPr>
        <p:txBody>
          <a:bodyPr wrap="square">
            <a:spAutoFit/>
          </a:bodyPr>
          <a:lstStyle/>
          <a:p>
            <a:pPr>
              <a:spcAft>
                <a:spcPts val="500"/>
              </a:spcAft>
              <a:defRPr sz="1100" b="0">
                <a:solidFill>
                  <a:srgbClr val="B8C6D8"/>
                </a:solidFill>
                <a:latin typeface="Aptos"/>
              </a:defRPr>
            </a:pPr>
            <a:r>
              <a:t>Fuentes: tesis; cierre MuJoCo 03/09; diagnóstico PPO 02/09.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411480" y="411480"/>
            <a:ext cx="91440" cy="685800"/>
          </a:xfrm>
          <a:prstGeom prst="rect">
            <a:avLst/>
          </a:prstGeom>
          <a:solidFill>
            <a:srgbClr val="4ED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0040"/>
            <a:ext cx="10972800" cy="548640"/>
          </a:xfrm>
          <a:prstGeom prst="rect">
            <a:avLst/>
          </a:prstGeom>
          <a:noFill/>
        </p:spPr>
        <p:txBody>
          <a:bodyPr wrap="square">
            <a:spAutoFit/>
          </a:bodyPr>
          <a:lstStyle/>
          <a:p>
            <a:pPr>
              <a:spcAft>
                <a:spcPts val="500"/>
              </a:spcAft>
              <a:defRPr sz="2600" b="1">
                <a:solidFill>
                  <a:srgbClr val="F3F6FA"/>
                </a:solidFill>
                <a:latin typeface="Aptos"/>
              </a:defRPr>
            </a:pPr>
            <a:r>
              <a:t>¿Cómo va la escritura de la tesis?</a:t>
            </a:r>
          </a:p>
        </p:txBody>
      </p:sp>
      <p:sp>
        <p:nvSpPr>
          <p:cNvPr id="4" name="TextBox 3"/>
          <p:cNvSpPr txBox="1"/>
          <p:nvPr/>
        </p:nvSpPr>
        <p:spPr>
          <a:xfrm>
            <a:off x="713232" y="960120"/>
            <a:ext cx="10881360" cy="594360"/>
          </a:xfrm>
          <a:prstGeom prst="rect">
            <a:avLst/>
          </a:prstGeom>
          <a:noFill/>
        </p:spPr>
        <p:txBody>
          <a:bodyPr wrap="square">
            <a:spAutoFit/>
          </a:bodyPr>
          <a:lstStyle/>
          <a:p>
            <a:pPr>
              <a:spcAft>
                <a:spcPts val="500"/>
              </a:spcAft>
              <a:defRPr sz="1600" b="0">
                <a:solidFill>
                  <a:srgbClr val="B8C6D8"/>
                </a:solidFill>
                <a:latin typeface="Aptos"/>
              </a:defRPr>
            </a:pPr>
            <a:r>
              <a:t>Tenemos un borrador de 72 páginas. Falta completarlo con las pruebas y resultados pendientes.</a:t>
            </a:r>
          </a:p>
        </p:txBody>
      </p:sp>
      <p:sp>
        <p:nvSpPr>
          <p:cNvPr id="5" name="TextBox 4"/>
          <p:cNvSpPr txBox="1"/>
          <p:nvPr/>
        </p:nvSpPr>
        <p:spPr>
          <a:xfrm>
            <a:off x="685800" y="6473952"/>
            <a:ext cx="10058400" cy="219456"/>
          </a:xfrm>
          <a:prstGeom prst="rect">
            <a:avLst/>
          </a:prstGeom>
          <a:noFill/>
        </p:spPr>
        <p:txBody>
          <a:bodyPr wrap="square">
            <a:spAutoFit/>
          </a:bodyPr>
          <a:lstStyle/>
          <a:p>
            <a:pPr>
              <a:spcAft>
                <a:spcPts val="500"/>
              </a:spcAft>
              <a:defRPr sz="1000" b="0">
                <a:solidFill>
                  <a:srgbClr val="B8C6D8"/>
                </a:solidFill>
                <a:latin typeface="Aptos"/>
              </a:defRPr>
            </a:pPr>
            <a:r>
              <a:t>NOVA SPOT MICRO  ·  Proyecto de Grado II  ·  07 septiembre 2026</a:t>
            </a:r>
          </a:p>
        </p:txBody>
      </p:sp>
      <p:sp>
        <p:nvSpPr>
          <p:cNvPr id="6" name="TextBox 5"/>
          <p:cNvSpPr txBox="1"/>
          <p:nvPr/>
        </p:nvSpPr>
        <p:spPr>
          <a:xfrm>
            <a:off x="10972800" y="6437376"/>
            <a:ext cx="640080" cy="274320"/>
          </a:xfrm>
          <a:prstGeom prst="rect">
            <a:avLst/>
          </a:prstGeom>
          <a:noFill/>
        </p:spPr>
        <p:txBody>
          <a:bodyPr wrap="square">
            <a:spAutoFit/>
          </a:bodyPr>
          <a:lstStyle/>
          <a:p>
            <a:pPr>
              <a:spcAft>
                <a:spcPts val="500"/>
              </a:spcAft>
              <a:defRPr sz="1200" b="0">
                <a:solidFill>
                  <a:srgbClr val="4ED3BA"/>
                </a:solidFill>
                <a:latin typeface="Aptos"/>
              </a:defRPr>
            </a:pPr>
            <a:r>
              <a:t>5/7</a:t>
            </a:r>
          </a:p>
        </p:txBody>
      </p:sp>
      <p:sp>
        <p:nvSpPr>
          <p:cNvPr id="7" name="Rectangle 6"/>
          <p:cNvSpPr/>
          <p:nvPr/>
        </p:nvSpPr>
        <p:spPr>
          <a:xfrm>
            <a:off x="731520" y="1737360"/>
            <a:ext cx="3474720" cy="416052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3108960" cy="502920"/>
          </a:xfrm>
          <a:prstGeom prst="rect">
            <a:avLst/>
          </a:prstGeom>
          <a:noFill/>
        </p:spPr>
        <p:txBody>
          <a:bodyPr wrap="square">
            <a:spAutoFit/>
          </a:bodyPr>
          <a:lstStyle/>
          <a:p>
            <a:pPr>
              <a:spcAft>
                <a:spcPts val="500"/>
              </a:spcAft>
              <a:defRPr sz="1900" b="1">
                <a:solidFill>
                  <a:srgbClr val="4ED3BA"/>
                </a:solidFill>
                <a:latin typeface="Aptos"/>
              </a:defRPr>
            </a:pPr>
            <a:r>
              <a:t>Ya está escrito</a:t>
            </a:r>
          </a:p>
        </p:txBody>
      </p:sp>
      <p:sp>
        <p:nvSpPr>
          <p:cNvPr id="9" name="TextBox 8"/>
          <p:cNvSpPr txBox="1"/>
          <p:nvPr/>
        </p:nvSpPr>
        <p:spPr>
          <a:xfrm>
            <a:off x="914400" y="2514600"/>
            <a:ext cx="3108960" cy="3291839"/>
          </a:xfrm>
          <a:prstGeom prst="rect">
            <a:avLst/>
          </a:prstGeom>
          <a:noFill/>
        </p:spPr>
        <p:txBody>
          <a:bodyPr wrap="square">
            <a:spAutoFit/>
          </a:bodyPr>
          <a:lstStyle/>
          <a:p>
            <a:pPr>
              <a:spcAft>
                <a:spcPts val="500"/>
              </a:spcAft>
              <a:defRPr sz="1700" b="0">
                <a:solidFill>
                  <a:srgbClr val="F3F6FA"/>
                </a:solidFill>
                <a:latin typeface="Aptos"/>
              </a:defRPr>
            </a:pPr>
            <a:r>
              <a:t>Modelo matemático</a:t>
            </a:r>
          </a:p>
          <a:p>
            <a:pPr>
              <a:spcAft>
                <a:spcPts val="500"/>
              </a:spcAft>
              <a:defRPr sz="1700" b="0">
                <a:solidFill>
                  <a:srgbClr val="F3F6FA"/>
                </a:solidFill>
                <a:latin typeface="Aptos"/>
              </a:defRPr>
            </a:pPr>
            <a:r>
              <a:t>Cómo hicimos las pruebas</a:t>
            </a:r>
          </a:p>
          <a:p>
            <a:pPr>
              <a:spcAft>
                <a:spcPts val="500"/>
              </a:spcAft>
              <a:defRPr sz="1700" b="0">
                <a:solidFill>
                  <a:srgbClr val="F3F6FA"/>
                </a:solidFill>
                <a:latin typeface="Aptos"/>
              </a:defRPr>
            </a:pPr>
            <a:r>
              <a:t>Cómo funciona el sistema</a:t>
            </a:r>
          </a:p>
          <a:p>
            <a:pPr>
              <a:spcAft>
                <a:spcPts val="500"/>
              </a:spcAft>
              <a:defRPr sz="1700" b="0">
                <a:solidFill>
                  <a:srgbClr val="F3F6FA"/>
                </a:solidFill>
                <a:latin typeface="Aptos"/>
              </a:defRPr>
            </a:pPr>
            <a:r>
              <a:t>Resultados de simulación</a:t>
            </a:r>
          </a:p>
          <a:p>
            <a:pPr>
              <a:spcAft>
                <a:spcPts val="500"/>
              </a:spcAft>
              <a:defRPr sz="1700" b="0">
                <a:solidFill>
                  <a:srgbClr val="F3F6FA"/>
                </a:solidFill>
                <a:latin typeface="Aptos"/>
              </a:defRPr>
            </a:pPr>
            <a:r>
              <a:t>Procedimientos y anexos</a:t>
            </a:r>
          </a:p>
        </p:txBody>
      </p:sp>
      <p:sp>
        <p:nvSpPr>
          <p:cNvPr id="10" name="Rectangle 9"/>
          <p:cNvSpPr/>
          <p:nvPr/>
        </p:nvSpPr>
        <p:spPr>
          <a:xfrm>
            <a:off x="4370832" y="1737360"/>
            <a:ext cx="3474720" cy="416052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1874519"/>
            <a:ext cx="3108960" cy="502920"/>
          </a:xfrm>
          <a:prstGeom prst="rect">
            <a:avLst/>
          </a:prstGeom>
          <a:noFill/>
        </p:spPr>
        <p:txBody>
          <a:bodyPr wrap="square">
            <a:spAutoFit/>
          </a:bodyPr>
          <a:lstStyle/>
          <a:p>
            <a:pPr>
              <a:spcAft>
                <a:spcPts val="500"/>
              </a:spcAft>
              <a:defRPr sz="1900" b="1">
                <a:solidFill>
                  <a:srgbClr val="4ED3BA"/>
                </a:solidFill>
                <a:latin typeface="Aptos"/>
              </a:defRPr>
            </a:pPr>
            <a:r>
              <a:t>Falta completar</a:t>
            </a:r>
          </a:p>
        </p:txBody>
      </p:sp>
      <p:sp>
        <p:nvSpPr>
          <p:cNvPr id="12" name="TextBox 11"/>
          <p:cNvSpPr txBox="1"/>
          <p:nvPr/>
        </p:nvSpPr>
        <p:spPr>
          <a:xfrm>
            <a:off x="4553712" y="2514600"/>
            <a:ext cx="3108960" cy="3291839"/>
          </a:xfrm>
          <a:prstGeom prst="rect">
            <a:avLst/>
          </a:prstGeom>
          <a:noFill/>
        </p:spPr>
        <p:txBody>
          <a:bodyPr wrap="square">
            <a:spAutoFit/>
          </a:bodyPr>
          <a:lstStyle/>
          <a:p>
            <a:pPr>
              <a:spcAft>
                <a:spcPts val="500"/>
              </a:spcAft>
              <a:defRPr sz="1700" b="0">
                <a:solidFill>
                  <a:srgbClr val="F3F6FA"/>
                </a:solidFill>
                <a:latin typeface="Aptos"/>
              </a:defRPr>
            </a:pPr>
            <a:r>
              <a:t>Mediciones del robot real</a:t>
            </a:r>
          </a:p>
          <a:p>
            <a:pPr>
              <a:spcAft>
                <a:spcPts val="500"/>
              </a:spcAft>
              <a:defRPr sz="1700" b="0">
                <a:solidFill>
                  <a:srgbClr val="F3F6FA"/>
                </a:solidFill>
                <a:latin typeface="Aptos"/>
              </a:defRPr>
            </a:pPr>
            <a:r>
              <a:t>Pruebas de seguridad</a:t>
            </a:r>
          </a:p>
          <a:p>
            <a:pPr>
              <a:spcAft>
                <a:spcPts val="500"/>
              </a:spcAft>
              <a:defRPr sz="1700" b="0">
                <a:solidFill>
                  <a:srgbClr val="F3F6FA"/>
                </a:solidFill>
                <a:latin typeface="Aptos"/>
              </a:defRPr>
            </a:pPr>
            <a:r>
              <a:t>Comparación final</a:t>
            </a:r>
          </a:p>
          <a:p>
            <a:pPr>
              <a:spcAft>
                <a:spcPts val="500"/>
              </a:spcAft>
              <a:defRPr sz="1700" b="0">
                <a:solidFill>
                  <a:srgbClr val="F3F6FA"/>
                </a:solidFill>
                <a:latin typeface="Aptos"/>
              </a:defRPr>
            </a:pPr>
            <a:r>
              <a:t>Análisis de los resultados</a:t>
            </a:r>
          </a:p>
          <a:p>
            <a:pPr>
              <a:spcAft>
                <a:spcPts val="500"/>
              </a:spcAft>
              <a:defRPr sz="1700" b="0">
                <a:solidFill>
                  <a:srgbClr val="F3F6FA"/>
                </a:solidFill>
                <a:latin typeface="Aptos"/>
              </a:defRPr>
            </a:pPr>
            <a:r>
              <a:t>Conclusiones finales</a:t>
            </a:r>
          </a:p>
        </p:txBody>
      </p:sp>
      <p:sp>
        <p:nvSpPr>
          <p:cNvPr id="13" name="Rectangle 12"/>
          <p:cNvSpPr/>
          <p:nvPr/>
        </p:nvSpPr>
        <p:spPr>
          <a:xfrm>
            <a:off x="8010144" y="1737360"/>
            <a:ext cx="3474720" cy="416052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1874519"/>
            <a:ext cx="3108960" cy="502920"/>
          </a:xfrm>
          <a:prstGeom prst="rect">
            <a:avLst/>
          </a:prstGeom>
          <a:noFill/>
        </p:spPr>
        <p:txBody>
          <a:bodyPr wrap="square">
            <a:spAutoFit/>
          </a:bodyPr>
          <a:lstStyle/>
          <a:p>
            <a:pPr>
              <a:spcAft>
                <a:spcPts val="500"/>
              </a:spcAft>
              <a:defRPr sz="1900" b="1">
                <a:solidFill>
                  <a:srgbClr val="4ED3BA"/>
                </a:solidFill>
                <a:latin typeface="Aptos"/>
              </a:defRPr>
            </a:pPr>
            <a:r>
              <a:t>Hay que actualizar</a:t>
            </a:r>
          </a:p>
        </p:txBody>
      </p:sp>
      <p:sp>
        <p:nvSpPr>
          <p:cNvPr id="15" name="TextBox 14"/>
          <p:cNvSpPr txBox="1"/>
          <p:nvPr/>
        </p:nvSpPr>
        <p:spPr>
          <a:xfrm>
            <a:off x="8193023" y="2514600"/>
            <a:ext cx="3108960" cy="3291839"/>
          </a:xfrm>
          <a:prstGeom prst="rect">
            <a:avLst/>
          </a:prstGeom>
          <a:noFill/>
        </p:spPr>
        <p:txBody>
          <a:bodyPr wrap="square">
            <a:spAutoFit/>
          </a:bodyPr>
          <a:lstStyle/>
          <a:p>
            <a:pPr>
              <a:spcAft>
                <a:spcPts val="500"/>
              </a:spcAft>
              <a:defRPr sz="1700" b="0">
                <a:solidFill>
                  <a:srgbClr val="F3F6FA"/>
                </a:solidFill>
                <a:latin typeface="Aptos"/>
              </a:defRPr>
            </a:pPr>
            <a:r>
              <a:t>Nuevas pruebas de MuJoCo</a:t>
            </a:r>
          </a:p>
          <a:p>
            <a:pPr>
              <a:spcAft>
                <a:spcPts val="500"/>
              </a:spcAft>
              <a:defRPr sz="1700" b="0">
                <a:solidFill>
                  <a:srgbClr val="F3F6FA"/>
                </a:solidFill>
                <a:latin typeface="Aptos"/>
              </a:defRPr>
            </a:pPr>
            <a:r>
              <a:t>Avances y fotos del prototipo</a:t>
            </a:r>
          </a:p>
          <a:p>
            <a:pPr>
              <a:spcAft>
                <a:spcPts val="500"/>
              </a:spcAft>
              <a:defRPr sz="1700" b="0">
                <a:solidFill>
                  <a:srgbClr val="F3F6FA"/>
                </a:solidFill>
                <a:latin typeface="Aptos"/>
              </a:defRPr>
            </a:pPr>
            <a:r>
              <a:t>Problema de corriente</a:t>
            </a:r>
          </a:p>
          <a:p>
            <a:pPr>
              <a:spcAft>
                <a:spcPts val="500"/>
              </a:spcAft>
              <a:defRPr sz="1700" b="0">
                <a:solidFill>
                  <a:srgbClr val="F3F6FA"/>
                </a:solidFill>
                <a:latin typeface="Aptos"/>
              </a:defRPr>
            </a:pPr>
            <a:r>
              <a:t>Textos que dicen que aún no entrenamos el algoritmo</a:t>
            </a:r>
          </a:p>
          <a:p>
            <a:pPr>
              <a:spcAft>
                <a:spcPts val="500"/>
              </a:spcAft>
              <a:defRPr sz="1700" b="0">
                <a:solidFill>
                  <a:srgbClr val="F3F6FA"/>
                </a:solidFill>
                <a:latin typeface="Aptos"/>
              </a:defRPr>
            </a:pPr>
            <a:r>
              <a:t>Cronograma y presupuesto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411480" y="411480"/>
            <a:ext cx="91440" cy="685800"/>
          </a:xfrm>
          <a:prstGeom prst="rect">
            <a:avLst/>
          </a:prstGeom>
          <a:solidFill>
            <a:srgbClr val="4ED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0040"/>
            <a:ext cx="10972800" cy="548640"/>
          </a:xfrm>
          <a:prstGeom prst="rect">
            <a:avLst/>
          </a:prstGeom>
          <a:noFill/>
        </p:spPr>
        <p:txBody>
          <a:bodyPr wrap="square">
            <a:spAutoFit/>
          </a:bodyPr>
          <a:lstStyle/>
          <a:p>
            <a:pPr>
              <a:spcAft>
                <a:spcPts val="500"/>
              </a:spcAft>
              <a:defRPr sz="2600" b="1">
                <a:solidFill>
                  <a:srgbClr val="F3F6FA"/>
                </a:solidFill>
                <a:latin typeface="Aptos"/>
              </a:defRPr>
            </a:pPr>
            <a:r>
              <a:t>¿Qué falta hacer y en qué orden?</a:t>
            </a:r>
          </a:p>
        </p:txBody>
      </p:sp>
      <p:sp>
        <p:nvSpPr>
          <p:cNvPr id="4" name="TextBox 3"/>
          <p:cNvSpPr txBox="1"/>
          <p:nvPr/>
        </p:nvSpPr>
        <p:spPr>
          <a:xfrm>
            <a:off x="713232" y="960120"/>
            <a:ext cx="10881360" cy="594360"/>
          </a:xfrm>
          <a:prstGeom prst="rect">
            <a:avLst/>
          </a:prstGeom>
          <a:noFill/>
        </p:spPr>
        <p:txBody>
          <a:bodyPr wrap="square">
            <a:spAutoFit/>
          </a:bodyPr>
          <a:lstStyle/>
          <a:p>
            <a:pPr>
              <a:spcAft>
                <a:spcPts val="500"/>
              </a:spcAft>
              <a:defRPr sz="1600" b="0">
                <a:solidFill>
                  <a:srgbClr val="B8C6D8"/>
                </a:solidFill>
                <a:latin typeface="Aptos"/>
              </a:defRPr>
            </a:pPr>
            <a:r>
              <a:t>Primero resolver la parte eléctrica; después probar el movimiento y comparar los resultados.</a:t>
            </a:r>
          </a:p>
        </p:txBody>
      </p:sp>
      <p:sp>
        <p:nvSpPr>
          <p:cNvPr id="5" name="TextBox 4"/>
          <p:cNvSpPr txBox="1"/>
          <p:nvPr/>
        </p:nvSpPr>
        <p:spPr>
          <a:xfrm>
            <a:off x="685800" y="6473952"/>
            <a:ext cx="10058400" cy="219456"/>
          </a:xfrm>
          <a:prstGeom prst="rect">
            <a:avLst/>
          </a:prstGeom>
          <a:noFill/>
        </p:spPr>
        <p:txBody>
          <a:bodyPr wrap="square">
            <a:spAutoFit/>
          </a:bodyPr>
          <a:lstStyle/>
          <a:p>
            <a:pPr>
              <a:spcAft>
                <a:spcPts val="500"/>
              </a:spcAft>
              <a:defRPr sz="1000" b="0">
                <a:solidFill>
                  <a:srgbClr val="B8C6D8"/>
                </a:solidFill>
                <a:latin typeface="Aptos"/>
              </a:defRPr>
            </a:pPr>
            <a:r>
              <a:t>NOVA SPOT MICRO  ·  Proyecto de Grado II  ·  07 septiembre 2026</a:t>
            </a:r>
          </a:p>
        </p:txBody>
      </p:sp>
      <p:sp>
        <p:nvSpPr>
          <p:cNvPr id="6" name="TextBox 5"/>
          <p:cNvSpPr txBox="1"/>
          <p:nvPr/>
        </p:nvSpPr>
        <p:spPr>
          <a:xfrm>
            <a:off x="10972800" y="6437376"/>
            <a:ext cx="640080" cy="274320"/>
          </a:xfrm>
          <a:prstGeom prst="rect">
            <a:avLst/>
          </a:prstGeom>
          <a:noFill/>
        </p:spPr>
        <p:txBody>
          <a:bodyPr wrap="square">
            <a:spAutoFit/>
          </a:bodyPr>
          <a:lstStyle/>
          <a:p>
            <a:pPr>
              <a:spcAft>
                <a:spcPts val="500"/>
              </a:spcAft>
              <a:defRPr sz="1200" b="0">
                <a:solidFill>
                  <a:srgbClr val="4ED3BA"/>
                </a:solidFill>
                <a:latin typeface="Aptos"/>
              </a:defRPr>
            </a:pPr>
            <a:r>
              <a:t>6/7</a:t>
            </a:r>
          </a:p>
        </p:txBody>
      </p:sp>
      <p:sp>
        <p:nvSpPr>
          <p:cNvPr id="7" name="Rectangle 6"/>
          <p:cNvSpPr/>
          <p:nvPr/>
        </p:nvSpPr>
        <p:spPr>
          <a:xfrm>
            <a:off x="731520" y="1737360"/>
            <a:ext cx="3474720" cy="34290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3108960" cy="502920"/>
          </a:xfrm>
          <a:prstGeom prst="rect">
            <a:avLst/>
          </a:prstGeom>
          <a:noFill/>
        </p:spPr>
        <p:txBody>
          <a:bodyPr wrap="square">
            <a:spAutoFit/>
          </a:bodyPr>
          <a:lstStyle/>
          <a:p>
            <a:pPr>
              <a:spcAft>
                <a:spcPts val="500"/>
              </a:spcAft>
              <a:defRPr sz="1900" b="1">
                <a:solidFill>
                  <a:srgbClr val="4ED3BA"/>
                </a:solidFill>
                <a:latin typeface="Aptos"/>
              </a:defRPr>
            </a:pPr>
            <a:r>
              <a:t>1 · Revisar la electricidad</a:t>
            </a:r>
          </a:p>
        </p:txBody>
      </p:sp>
      <p:sp>
        <p:nvSpPr>
          <p:cNvPr id="9" name="TextBox 8"/>
          <p:cNvSpPr txBox="1"/>
          <p:nvPr/>
        </p:nvSpPr>
        <p:spPr>
          <a:xfrm>
            <a:off x="914400" y="2514600"/>
            <a:ext cx="3108960" cy="2560320"/>
          </a:xfrm>
          <a:prstGeom prst="rect">
            <a:avLst/>
          </a:prstGeom>
          <a:noFill/>
        </p:spPr>
        <p:txBody>
          <a:bodyPr wrap="square">
            <a:spAutoFit/>
          </a:bodyPr>
          <a:lstStyle/>
          <a:p>
            <a:pPr>
              <a:spcAft>
                <a:spcPts val="500"/>
              </a:spcAft>
              <a:defRPr sz="1700" b="0">
                <a:solidFill>
                  <a:srgbClr val="F3F6FA"/>
                </a:solidFill>
                <a:latin typeface="Aptos"/>
              </a:defRPr>
            </a:pPr>
            <a:r>
              <a:t>Encontrar la causa del exceso de corriente.</a:t>
            </a:r>
          </a:p>
          <a:p>
            <a:pPr>
              <a:spcAft>
                <a:spcPts val="500"/>
              </a:spcAft>
              <a:defRPr sz="1700" b="0">
                <a:solidFill>
                  <a:srgbClr val="F3F6FA"/>
                </a:solidFill>
                <a:latin typeface="Aptos"/>
              </a:defRPr>
            </a:pPr>
            <a:r>
              <a:t>Revisar la placa de control.</a:t>
            </a:r>
          </a:p>
          <a:p>
            <a:pPr>
              <a:spcAft>
                <a:spcPts val="500"/>
              </a:spcAft>
              <a:defRPr sz="1700" b="0">
                <a:solidFill>
                  <a:srgbClr val="F3F6FA"/>
                </a:solidFill>
                <a:latin typeface="Aptos"/>
              </a:defRPr>
            </a:pPr>
            <a:r>
              <a:t>Medir voltaje y consumo.</a:t>
            </a:r>
          </a:p>
          <a:p>
            <a:pPr>
              <a:spcAft>
                <a:spcPts val="500"/>
              </a:spcAft>
              <a:defRPr sz="1700" b="0">
                <a:solidFill>
                  <a:srgbClr val="F3F6FA"/>
                </a:solidFill>
                <a:latin typeface="Aptos"/>
              </a:defRPr>
            </a:pPr>
            <a:r>
              <a:t>Comprobar el apagado seguro.</a:t>
            </a:r>
          </a:p>
        </p:txBody>
      </p:sp>
      <p:sp>
        <p:nvSpPr>
          <p:cNvPr id="10" name="Rectangle 9"/>
          <p:cNvSpPr/>
          <p:nvPr/>
        </p:nvSpPr>
        <p:spPr>
          <a:xfrm>
            <a:off x="4370832" y="1737360"/>
            <a:ext cx="3474720" cy="34290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1874519"/>
            <a:ext cx="3108960" cy="502920"/>
          </a:xfrm>
          <a:prstGeom prst="rect">
            <a:avLst/>
          </a:prstGeom>
          <a:noFill/>
        </p:spPr>
        <p:txBody>
          <a:bodyPr wrap="square">
            <a:spAutoFit/>
          </a:bodyPr>
          <a:lstStyle/>
          <a:p>
            <a:pPr>
              <a:spcAft>
                <a:spcPts val="500"/>
              </a:spcAft>
              <a:defRPr sz="1900" b="1">
                <a:solidFill>
                  <a:srgbClr val="4ED3BA"/>
                </a:solidFill>
                <a:latin typeface="Aptos"/>
              </a:defRPr>
            </a:pPr>
            <a:r>
              <a:t>2 · Probar el movimiento</a:t>
            </a:r>
          </a:p>
        </p:txBody>
      </p:sp>
      <p:sp>
        <p:nvSpPr>
          <p:cNvPr id="12" name="TextBox 11"/>
          <p:cNvSpPr txBox="1"/>
          <p:nvPr/>
        </p:nvSpPr>
        <p:spPr>
          <a:xfrm>
            <a:off x="4553712" y="2514600"/>
            <a:ext cx="3108960" cy="2560320"/>
          </a:xfrm>
          <a:prstGeom prst="rect">
            <a:avLst/>
          </a:prstGeom>
          <a:noFill/>
        </p:spPr>
        <p:txBody>
          <a:bodyPr wrap="square">
            <a:spAutoFit/>
          </a:bodyPr>
          <a:lstStyle/>
          <a:p>
            <a:pPr>
              <a:spcAft>
                <a:spcPts val="500"/>
              </a:spcAft>
              <a:defRPr sz="1700" b="0">
                <a:solidFill>
                  <a:srgbClr val="F3F6FA"/>
                </a:solidFill>
                <a:latin typeface="Aptos"/>
              </a:defRPr>
            </a:pPr>
            <a:r>
              <a:t>Ajustar primero un motor.</a:t>
            </a:r>
          </a:p>
          <a:p>
            <a:pPr>
              <a:spcAft>
                <a:spcPts val="500"/>
              </a:spcAft>
              <a:defRPr sz="1700" b="0">
                <a:solidFill>
                  <a:srgbClr val="F3F6FA"/>
                </a:solidFill>
                <a:latin typeface="Aptos"/>
              </a:defRPr>
            </a:pPr>
            <a:r>
              <a:t>Después probar una pata.</a:t>
            </a:r>
          </a:p>
          <a:p>
            <a:pPr>
              <a:spcAft>
                <a:spcPts val="500"/>
              </a:spcAft>
              <a:defRPr sz="1700" b="0">
                <a:solidFill>
                  <a:srgbClr val="F3F6FA"/>
                </a:solidFill>
                <a:latin typeface="Aptos"/>
              </a:defRPr>
            </a:pPr>
            <a:r>
              <a:t>Comprobar postura y marcha.</a:t>
            </a:r>
          </a:p>
          <a:p>
            <a:pPr>
              <a:spcAft>
                <a:spcPts val="500"/>
              </a:spcAft>
              <a:defRPr sz="1700" b="0">
                <a:solidFill>
                  <a:srgbClr val="F3F6FA"/>
                </a:solidFill>
                <a:latin typeface="Aptos"/>
              </a:defRPr>
            </a:pPr>
            <a:r>
              <a:t>Medir los movimientos reales.</a:t>
            </a:r>
          </a:p>
        </p:txBody>
      </p:sp>
      <p:sp>
        <p:nvSpPr>
          <p:cNvPr id="13" name="Rectangle 12"/>
          <p:cNvSpPr/>
          <p:nvPr/>
        </p:nvSpPr>
        <p:spPr>
          <a:xfrm>
            <a:off x="8010144" y="1737360"/>
            <a:ext cx="3474720" cy="34290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1874519"/>
            <a:ext cx="3108960" cy="502920"/>
          </a:xfrm>
          <a:prstGeom prst="rect">
            <a:avLst/>
          </a:prstGeom>
          <a:noFill/>
        </p:spPr>
        <p:txBody>
          <a:bodyPr wrap="square">
            <a:spAutoFit/>
          </a:bodyPr>
          <a:lstStyle/>
          <a:p>
            <a:pPr>
              <a:spcAft>
                <a:spcPts val="500"/>
              </a:spcAft>
              <a:defRPr sz="1900" b="1">
                <a:solidFill>
                  <a:srgbClr val="4ED3BA"/>
                </a:solidFill>
                <a:latin typeface="Aptos"/>
              </a:defRPr>
            </a:pPr>
            <a:r>
              <a:t>3 · Comparar y concluir</a:t>
            </a:r>
          </a:p>
        </p:txBody>
      </p:sp>
      <p:sp>
        <p:nvSpPr>
          <p:cNvPr id="15" name="TextBox 14"/>
          <p:cNvSpPr txBox="1"/>
          <p:nvPr/>
        </p:nvSpPr>
        <p:spPr>
          <a:xfrm>
            <a:off x="8193023" y="2514600"/>
            <a:ext cx="3108960" cy="2560320"/>
          </a:xfrm>
          <a:prstGeom prst="rect">
            <a:avLst/>
          </a:prstGeom>
          <a:noFill/>
        </p:spPr>
        <p:txBody>
          <a:bodyPr wrap="square">
            <a:spAutoFit/>
          </a:bodyPr>
          <a:lstStyle/>
          <a:p>
            <a:pPr>
              <a:spcAft>
                <a:spcPts val="500"/>
              </a:spcAft>
              <a:defRPr sz="1700" b="0">
                <a:solidFill>
                  <a:srgbClr val="F3F6FA"/>
                </a:solidFill>
                <a:latin typeface="Aptos"/>
              </a:defRPr>
            </a:pPr>
            <a:r>
              <a:t>Mejorar el algoritmo de aprendizaje.</a:t>
            </a:r>
          </a:p>
          <a:p>
            <a:pPr>
              <a:spcAft>
                <a:spcPts val="500"/>
              </a:spcAft>
              <a:defRPr sz="1700" b="0">
                <a:solidFill>
                  <a:srgbClr val="F3F6FA"/>
                </a:solidFill>
                <a:latin typeface="Aptos"/>
              </a:defRPr>
            </a:pPr>
            <a:r>
              <a:t>Probar con y sin sus correcciones.</a:t>
            </a:r>
          </a:p>
          <a:p>
            <a:pPr>
              <a:spcAft>
                <a:spcPts val="500"/>
              </a:spcAft>
              <a:defRPr sz="1700" b="0">
                <a:solidFill>
                  <a:srgbClr val="F3F6FA"/>
                </a:solidFill>
                <a:latin typeface="Aptos"/>
              </a:defRPr>
            </a:pPr>
            <a:r>
              <a:t>Usar las mismas condiciones.</a:t>
            </a:r>
          </a:p>
          <a:p>
            <a:pPr>
              <a:spcAft>
                <a:spcPts val="500"/>
              </a:spcAft>
              <a:defRPr sz="1700" b="0">
                <a:solidFill>
                  <a:srgbClr val="F3F6FA"/>
                </a:solidFill>
                <a:latin typeface="Aptos"/>
              </a:defRPr>
            </a:pPr>
            <a:r>
              <a:t>Explicar qué mejoró y qué no.</a:t>
            </a:r>
          </a:p>
        </p:txBody>
      </p:sp>
      <p:sp>
        <p:nvSpPr>
          <p:cNvPr id="16" name="TextBox 15"/>
          <p:cNvSpPr txBox="1"/>
          <p:nvPr/>
        </p:nvSpPr>
        <p:spPr>
          <a:xfrm>
            <a:off x="731520" y="5440680"/>
            <a:ext cx="10744200" cy="777240"/>
          </a:xfrm>
          <a:prstGeom prst="rect">
            <a:avLst/>
          </a:prstGeom>
          <a:noFill/>
        </p:spPr>
        <p:txBody>
          <a:bodyPr wrap="square">
            <a:spAutoFit/>
          </a:bodyPr>
          <a:lstStyle/>
          <a:p>
            <a:pPr>
              <a:spcAft>
                <a:spcPts val="500"/>
              </a:spcAft>
              <a:defRPr sz="1700" b="0">
                <a:solidFill>
                  <a:srgbClr val="FFD187"/>
                </a:solidFill>
                <a:latin typeface="Aptos"/>
              </a:defRPr>
            </a:pPr>
            <a:r>
              <a:t>En paralelo: actualizar la tesis con lo que ya hicimos.</a:t>
            </a:r>
          </a:p>
          <a:p>
            <a:pPr>
              <a:spcAft>
                <a:spcPts val="500"/>
              </a:spcAft>
              <a:defRPr sz="1700" b="0">
                <a:solidFill>
                  <a:srgbClr val="FFD187"/>
                </a:solidFill>
                <a:latin typeface="Aptos"/>
              </a:defRPr>
            </a:pPr>
            <a:r>
              <a:t>Principal dificultad: faltan pruebas físicas y aún no demostramos la mejora por aprendizaje.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411480" y="411480"/>
            <a:ext cx="91440" cy="685800"/>
          </a:xfrm>
          <a:prstGeom prst="rect">
            <a:avLst/>
          </a:prstGeom>
          <a:solidFill>
            <a:srgbClr val="4ED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0040"/>
            <a:ext cx="10972800" cy="548640"/>
          </a:xfrm>
          <a:prstGeom prst="rect">
            <a:avLst/>
          </a:prstGeom>
          <a:noFill/>
        </p:spPr>
        <p:txBody>
          <a:bodyPr wrap="square">
            <a:spAutoFit/>
          </a:bodyPr>
          <a:lstStyle/>
          <a:p>
            <a:pPr>
              <a:spcAft>
                <a:spcPts val="500"/>
              </a:spcAft>
              <a:defRPr sz="2600" b="1">
                <a:solidFill>
                  <a:srgbClr val="F3F6FA"/>
                </a:solidFill>
                <a:latin typeface="Aptos"/>
              </a:defRPr>
            </a:pPr>
            <a:r>
              <a:t>¿Qué entregaremos en la próxima revisión?</a:t>
            </a:r>
          </a:p>
        </p:txBody>
      </p:sp>
      <p:sp>
        <p:nvSpPr>
          <p:cNvPr id="4" name="TextBox 3"/>
          <p:cNvSpPr txBox="1"/>
          <p:nvPr/>
        </p:nvSpPr>
        <p:spPr>
          <a:xfrm>
            <a:off x="713232" y="960120"/>
            <a:ext cx="10881360" cy="594360"/>
          </a:xfrm>
          <a:prstGeom prst="rect">
            <a:avLst/>
          </a:prstGeom>
          <a:noFill/>
        </p:spPr>
        <p:txBody>
          <a:bodyPr wrap="square">
            <a:spAutoFit/>
          </a:bodyPr>
          <a:lstStyle/>
          <a:p>
            <a:pPr>
              <a:spcAft>
                <a:spcPts val="500"/>
              </a:spcAft>
              <a:defRPr sz="1600" b="0">
                <a:solidFill>
                  <a:srgbClr val="B8C6D8"/>
                </a:solidFill>
                <a:latin typeface="Aptos"/>
              </a:defRPr>
            </a:pPr>
            <a:r>
              <a:t>Compromiso propuesto: un informe de revisión eléctrica y el borrador de tesis actualizado.</a:t>
            </a:r>
          </a:p>
        </p:txBody>
      </p:sp>
      <p:sp>
        <p:nvSpPr>
          <p:cNvPr id="5" name="TextBox 4"/>
          <p:cNvSpPr txBox="1"/>
          <p:nvPr/>
        </p:nvSpPr>
        <p:spPr>
          <a:xfrm>
            <a:off x="685800" y="6473952"/>
            <a:ext cx="10058400" cy="219456"/>
          </a:xfrm>
          <a:prstGeom prst="rect">
            <a:avLst/>
          </a:prstGeom>
          <a:noFill/>
        </p:spPr>
        <p:txBody>
          <a:bodyPr wrap="square">
            <a:spAutoFit/>
          </a:bodyPr>
          <a:lstStyle/>
          <a:p>
            <a:pPr>
              <a:spcAft>
                <a:spcPts val="500"/>
              </a:spcAft>
              <a:defRPr sz="1000" b="0">
                <a:solidFill>
                  <a:srgbClr val="B8C6D8"/>
                </a:solidFill>
                <a:latin typeface="Aptos"/>
              </a:defRPr>
            </a:pPr>
            <a:r>
              <a:t>NOVA SPOT MICRO  ·  Proyecto de Grado II  ·  07 septiembre 2026</a:t>
            </a:r>
          </a:p>
        </p:txBody>
      </p:sp>
      <p:sp>
        <p:nvSpPr>
          <p:cNvPr id="6" name="TextBox 5"/>
          <p:cNvSpPr txBox="1"/>
          <p:nvPr/>
        </p:nvSpPr>
        <p:spPr>
          <a:xfrm>
            <a:off x="10972800" y="6437376"/>
            <a:ext cx="640080" cy="274320"/>
          </a:xfrm>
          <a:prstGeom prst="rect">
            <a:avLst/>
          </a:prstGeom>
          <a:noFill/>
        </p:spPr>
        <p:txBody>
          <a:bodyPr wrap="square">
            <a:spAutoFit/>
          </a:bodyPr>
          <a:lstStyle/>
          <a:p>
            <a:pPr>
              <a:spcAft>
                <a:spcPts val="500"/>
              </a:spcAft>
              <a:defRPr sz="1200" b="0">
                <a:solidFill>
                  <a:srgbClr val="4ED3BA"/>
                </a:solidFill>
                <a:latin typeface="Aptos"/>
              </a:defRPr>
            </a:pPr>
            <a:r>
              <a:t>7/7</a:t>
            </a:r>
          </a:p>
        </p:txBody>
      </p:sp>
      <p:sp>
        <p:nvSpPr>
          <p:cNvPr id="7" name="Rectangle 6"/>
          <p:cNvSpPr/>
          <p:nvPr/>
        </p:nvSpPr>
        <p:spPr>
          <a:xfrm>
            <a:off x="731520" y="1691640"/>
            <a:ext cx="10716768" cy="1600200"/>
          </a:xfrm>
          <a:prstGeom prst="rect">
            <a:avLst/>
          </a:prstGeom>
          <a:solidFill>
            <a:srgbClr val="1C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10351008" cy="502920"/>
          </a:xfrm>
          <a:prstGeom prst="rect">
            <a:avLst/>
          </a:prstGeom>
          <a:noFill/>
        </p:spPr>
        <p:txBody>
          <a:bodyPr wrap="square">
            <a:spAutoFit/>
          </a:bodyPr>
          <a:lstStyle/>
          <a:p>
            <a:pPr>
              <a:spcAft>
                <a:spcPts val="500"/>
              </a:spcAft>
              <a:defRPr sz="1900" b="1">
                <a:solidFill>
                  <a:srgbClr val="4ED3BA"/>
                </a:solidFill>
                <a:latin typeface="Aptos"/>
              </a:defRPr>
            </a:pPr>
            <a:r>
              <a:t>Un informe con mediciones y una tesis actualizada</a:t>
            </a:r>
          </a:p>
        </p:txBody>
      </p:sp>
      <p:sp>
        <p:nvSpPr>
          <p:cNvPr id="9" name="TextBox 8"/>
          <p:cNvSpPr txBox="1"/>
          <p:nvPr/>
        </p:nvSpPr>
        <p:spPr>
          <a:xfrm>
            <a:off x="914400" y="2468880"/>
            <a:ext cx="10351008" cy="731520"/>
          </a:xfrm>
          <a:prstGeom prst="rect">
            <a:avLst/>
          </a:prstGeom>
          <a:noFill/>
        </p:spPr>
        <p:txBody>
          <a:bodyPr wrap="square">
            <a:spAutoFit/>
          </a:bodyPr>
          <a:lstStyle/>
          <a:p>
            <a:pPr>
              <a:spcAft>
                <a:spcPts val="500"/>
              </a:spcAft>
              <a:defRPr sz="1700" b="0">
                <a:solidFill>
                  <a:srgbClr val="F3F6FA"/>
                </a:solidFill>
                <a:latin typeface="Aptos"/>
              </a:defRPr>
            </a:pPr>
            <a:r>
              <a:t>Registrar qué revisamos, qué medimos y qué falta resolver.</a:t>
            </a:r>
          </a:p>
          <a:p>
            <a:pPr>
              <a:spcAft>
                <a:spcPts val="500"/>
              </a:spcAft>
              <a:defRPr sz="1700" b="0">
                <a:solidFill>
                  <a:srgbClr val="F3F6FA"/>
                </a:solidFill>
                <a:latin typeface="Aptos"/>
              </a:defRPr>
            </a:pPr>
            <a:r>
              <a:t>Incluir fotos, resultados nuevos y correcciones del documento.</a:t>
            </a:r>
          </a:p>
        </p:txBody>
      </p:sp>
      <p:sp>
        <p:nvSpPr>
          <p:cNvPr id="10" name="TextBox 9"/>
          <p:cNvSpPr txBox="1"/>
          <p:nvPr/>
        </p:nvSpPr>
        <p:spPr>
          <a:xfrm>
            <a:off x="868680" y="3584448"/>
            <a:ext cx="10378440" cy="960120"/>
          </a:xfrm>
          <a:prstGeom prst="rect">
            <a:avLst/>
          </a:prstGeom>
          <a:noFill/>
        </p:spPr>
        <p:txBody>
          <a:bodyPr wrap="square">
            <a:spAutoFit/>
          </a:bodyPr>
          <a:lstStyle/>
          <a:p>
            <a:pPr>
              <a:spcAft>
                <a:spcPts val="500"/>
              </a:spcAft>
              <a:defRPr sz="2500" b="0">
                <a:solidFill>
                  <a:srgbClr val="F3F6FA"/>
                </a:solidFill>
                <a:latin typeface="Aptos"/>
              </a:defRPr>
            </a:pPr>
            <a:r>
              <a:t>“Nuestro proyecto todavía no puede darse por terminado porque falta comprobar la marcha segura del robot real y evaluar las correcciones aprendidas.”</a:t>
            </a:r>
          </a:p>
        </p:txBody>
      </p:sp>
      <p:sp>
        <p:nvSpPr>
          <p:cNvPr id="11" name="TextBox 10"/>
          <p:cNvSpPr txBox="1"/>
          <p:nvPr/>
        </p:nvSpPr>
        <p:spPr>
          <a:xfrm>
            <a:off x="868680" y="4800600"/>
            <a:ext cx="10378440" cy="1024128"/>
          </a:xfrm>
          <a:prstGeom prst="rect">
            <a:avLst/>
          </a:prstGeom>
          <a:noFill/>
        </p:spPr>
        <p:txBody>
          <a:bodyPr wrap="square">
            <a:spAutoFit/>
          </a:bodyPr>
          <a:lstStyle/>
          <a:p>
            <a:pPr>
              <a:spcAft>
                <a:spcPts val="500"/>
              </a:spcAft>
              <a:defRPr sz="2500" b="0">
                <a:solidFill>
                  <a:srgbClr val="4ED3BA"/>
                </a:solidFill>
                <a:latin typeface="Aptos"/>
              </a:defRPr>
            </a:pPr>
            <a:r>
              <a:t>“La evidencia que permitirá demostrar su finalización será el registro de pruebas comparables, con mediciones y conclusiones sobre lo que funcionó y lo que 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411480" y="411480"/>
            <a:ext cx="91440" cy="685800"/>
          </a:xfrm>
          <a:prstGeom prst="rect">
            <a:avLst/>
          </a:prstGeom>
          <a:solidFill>
            <a:srgbClr val="4ED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0040"/>
            <a:ext cx="10972800" cy="548640"/>
          </a:xfrm>
          <a:prstGeom prst="rect">
            <a:avLst/>
          </a:prstGeom>
          <a:noFill/>
        </p:spPr>
        <p:txBody>
          <a:bodyPr wrap="square">
            <a:spAutoFit/>
          </a:bodyPr>
          <a:lstStyle/>
          <a:p>
            <a:pPr>
              <a:spcAft>
                <a:spcPts val="500"/>
              </a:spcAft>
              <a:defRPr sz="2600" b="1">
                <a:solidFill>
                  <a:srgbClr val="F3F6FA"/>
                </a:solidFill>
                <a:latin typeface="Aptos"/>
              </a:defRPr>
            </a:pPr>
            <a:r>
              <a:t>Objetivos: qué está cumplido y qué falta</a:t>
            </a:r>
          </a:p>
        </p:txBody>
      </p:sp>
      <p:sp>
        <p:nvSpPr>
          <p:cNvPr id="4" name="TextBox 3"/>
          <p:cNvSpPr txBox="1"/>
          <p:nvPr/>
        </p:nvSpPr>
        <p:spPr>
          <a:xfrm>
            <a:off x="713232" y="960120"/>
            <a:ext cx="10881360" cy="594360"/>
          </a:xfrm>
          <a:prstGeom prst="rect">
            <a:avLst/>
          </a:prstGeom>
          <a:noFill/>
        </p:spPr>
        <p:txBody>
          <a:bodyPr wrap="square">
            <a:spAutoFit/>
          </a:bodyPr>
          <a:lstStyle/>
          <a:p>
            <a:pPr>
              <a:spcAft>
                <a:spcPts val="500"/>
              </a:spcAft>
              <a:defRPr sz="1600" b="0">
                <a:solidFill>
                  <a:srgbClr val="B8C6D8"/>
                </a:solidFill>
                <a:latin typeface="Aptos"/>
              </a:defRPr>
            </a:pPr>
            <a:r>
              <a:t>Cuatro objetivos suministrados por el grupo. Ninguno está cerrado al 100 %; el avance es estimado.</a:t>
            </a:r>
          </a:p>
        </p:txBody>
      </p:sp>
      <p:sp>
        <p:nvSpPr>
          <p:cNvPr id="5" name="TextBox 4"/>
          <p:cNvSpPr txBox="1"/>
          <p:nvPr/>
        </p:nvSpPr>
        <p:spPr>
          <a:xfrm>
            <a:off x="685800" y="6473952"/>
            <a:ext cx="10058400" cy="219456"/>
          </a:xfrm>
          <a:prstGeom prst="rect">
            <a:avLst/>
          </a:prstGeom>
          <a:noFill/>
        </p:spPr>
        <p:txBody>
          <a:bodyPr wrap="square">
            <a:spAutoFit/>
          </a:bodyPr>
          <a:lstStyle/>
          <a:p>
            <a:pPr>
              <a:spcAft>
                <a:spcPts val="500"/>
              </a:spcAft>
              <a:defRPr sz="1000" b="0">
                <a:solidFill>
                  <a:srgbClr val="B8C6D8"/>
                </a:solidFill>
                <a:latin typeface="Aptos"/>
              </a:defRPr>
            </a:pPr>
            <a:r>
              <a:t>NOVA SPOT MICRO  ·  Proyecto de Grado II  ·  07 septiembre 2026</a:t>
            </a:r>
          </a:p>
        </p:txBody>
      </p:sp>
      <p:sp>
        <p:nvSpPr>
          <p:cNvPr id="6" name="TextBox 5"/>
          <p:cNvSpPr txBox="1"/>
          <p:nvPr/>
        </p:nvSpPr>
        <p:spPr>
          <a:xfrm>
            <a:off x="10972800" y="6437376"/>
            <a:ext cx="640080" cy="274320"/>
          </a:xfrm>
          <a:prstGeom prst="rect">
            <a:avLst/>
          </a:prstGeom>
          <a:noFill/>
        </p:spPr>
        <p:txBody>
          <a:bodyPr wrap="square">
            <a:spAutoFit/>
          </a:bodyPr>
          <a:lstStyle/>
          <a:p>
            <a:pPr>
              <a:spcAft>
                <a:spcPts val="500"/>
              </a:spcAft>
              <a:defRPr sz="1200" b="0">
                <a:solidFill>
                  <a:srgbClr val="4ED3BA"/>
                </a:solidFill>
                <a:latin typeface="Aptos"/>
              </a:defRPr>
            </a:pPr>
            <a:r>
              <a:t>3/7</a:t>
            </a:r>
          </a:p>
        </p:txBody>
      </p:sp>
      <p:graphicFrame>
        <p:nvGraphicFramePr>
          <p:cNvPr id="7" name="Table 6"/>
          <p:cNvGraphicFramePr>
            <a:graphicFrameLocks noGrp="1"/>
          </p:cNvGraphicFramePr>
          <p:nvPr/>
        </p:nvGraphicFramePr>
        <p:xfrm>
          <a:off x="731520" y="1691640"/>
          <a:ext cx="10744200" cy="4297680"/>
        </p:xfrm>
        <a:graphic>
          <a:graphicData uri="http://schemas.openxmlformats.org/drawingml/2006/table">
            <a:tbl>
              <a:tblPr firstRow="1" bandRow="1">
                <a:tableStyleId>{5C22544A-7EE6-4342-B048-85BDC9FD1C3A}</a:tableStyleId>
              </a:tblPr>
              <a:tblGrid>
                <a:gridCol w="6446520"/>
                <a:gridCol w="1508760"/>
                <a:gridCol w="2788920"/>
              </a:tblGrid>
              <a:tr h="457200">
                <a:tc>
                  <a:txBody>
                    <a:bodyPr/>
                    <a:lstStyle/>
                    <a:p>
                      <a:pPr>
                        <a:defRPr sz="1200" b="1">
                          <a:solidFill>
                            <a:srgbClr val="F3F6FA"/>
                          </a:solidFill>
                          <a:latin typeface="Aptos"/>
                        </a:defRPr>
                      </a:pPr>
                      <a:r>
                        <a:t>Objetivo específico (texto original)</a:t>
                      </a:r>
                    </a:p>
                  </a:txBody>
                  <a:tcPr marT="27432" marB="27432">
                    <a:solidFill>
                      <a:srgbClr val="28475F"/>
                    </a:solidFill>
                  </a:tcPr>
                </a:tc>
                <a:tc>
                  <a:txBody>
                    <a:bodyPr/>
                    <a:lstStyle/>
                    <a:p>
                      <a:pPr>
                        <a:defRPr sz="1300" b="1">
                          <a:solidFill>
                            <a:srgbClr val="4ED3BA"/>
                          </a:solidFill>
                          <a:latin typeface="Aptos"/>
                        </a:defRPr>
                      </a:pPr>
                      <a:r>
                        <a:t>Estado / avance</a:t>
                      </a:r>
                    </a:p>
                  </a:txBody>
                  <a:tcPr marT="27432" marB="27432">
                    <a:solidFill>
                      <a:srgbClr val="28475F"/>
                    </a:solidFill>
                  </a:tcPr>
                </a:tc>
                <a:tc>
                  <a:txBody>
                    <a:bodyPr/>
                    <a:lstStyle/>
                    <a:p>
                      <a:pPr>
                        <a:defRPr sz="1300" b="1">
                          <a:solidFill>
                            <a:srgbClr val="F3F6FA"/>
                          </a:solidFill>
                          <a:latin typeface="Aptos"/>
                        </a:defRPr>
                      </a:pPr>
                      <a:r>
                        <a:t>¿Qué falta para cumplirlo?</a:t>
                      </a:r>
                    </a:p>
                  </a:txBody>
                  <a:tcPr marT="27432" marB="27432">
                    <a:solidFill>
                      <a:srgbClr val="28475F"/>
                    </a:solidFill>
                  </a:tcPr>
                </a:tc>
              </a:tr>
              <a:tr h="960120">
                <a:tc>
                  <a:txBody>
                    <a:bodyPr/>
                    <a:lstStyle/>
                    <a:p>
                      <a:pPr>
                        <a:defRPr sz="1200" b="0">
                          <a:solidFill>
                            <a:srgbClr val="F3F6FA"/>
                          </a:solidFill>
                          <a:latin typeface="Aptos"/>
                        </a:defRPr>
                      </a:pPr>
                      <a:r>
                        <a:t>OE1 · Implementar el hardware y software necesario para la ejecución de movimiento de las extremidades de la plataforma spot micro con la que cuenta el laboratorio de robótica, siguiendo la documentación técnica del fabricante.</a:t>
                      </a:r>
                    </a:p>
                  </a:txBody>
                  <a:tcPr marT="27432" marB="27432">
                    <a:solidFill>
                      <a:srgbClr val="1C3049"/>
                    </a:solidFill>
                  </a:tcPr>
                </a:tc>
                <a:tc>
                  <a:txBody>
                    <a:bodyPr/>
                    <a:lstStyle/>
                    <a:p>
                      <a:pPr>
                        <a:defRPr sz="1300" b="1">
                          <a:solidFill>
                            <a:srgbClr val="4ED3BA"/>
                          </a:solidFill>
                          <a:latin typeface="Aptos"/>
                        </a:defRPr>
                      </a:pPr>
                      <a:r>
                        <a:t>Parcial</a:t>
                      </a:r>
                    </a:p>
                    <a:p>
                      <a:pPr>
                        <a:defRPr sz="1300" b="1">
                          <a:solidFill>
                            <a:srgbClr val="4ED3BA"/>
                          </a:solidFill>
                          <a:latin typeface="Aptos"/>
                        </a:defRPr>
                      </a:pPr>
                      <a:r>
                        <a:t>50 %</a:t>
                      </a:r>
                    </a:p>
                  </a:txBody>
                  <a:tcPr marT="27432" marB="27432">
                    <a:solidFill>
                      <a:srgbClr val="1C3049"/>
                    </a:solidFill>
                  </a:tcPr>
                </a:tc>
                <a:tc>
                  <a:txBody>
                    <a:bodyPr/>
                    <a:lstStyle/>
                    <a:p>
                      <a:pPr>
                        <a:defRPr sz="1300" b="0">
                          <a:solidFill>
                            <a:srgbClr val="F3F6FA"/>
                          </a:solidFill>
                          <a:latin typeface="Aptos"/>
                        </a:defRPr>
                      </a:pPr>
                      <a:r>
                        <a:t>Resolver sobrecarga, calibrar y validar el movimiento real.</a:t>
                      </a:r>
                    </a:p>
                  </a:txBody>
                  <a:tcPr marT="27432" marB="27432">
                    <a:solidFill>
                      <a:srgbClr val="1C3049"/>
                    </a:solidFill>
                  </a:tcPr>
                </a:tc>
              </a:tr>
              <a:tr h="960120">
                <a:tc>
                  <a:txBody>
                    <a:bodyPr/>
                    <a:lstStyle/>
                    <a:p>
                      <a:pPr>
                        <a:defRPr sz="1200" b="0">
                          <a:solidFill>
                            <a:srgbClr val="F3F6FA"/>
                          </a:solidFill>
                          <a:latin typeface="Aptos"/>
                        </a:defRPr>
                      </a:pPr>
                      <a:r>
                        <a:t>OE2 · Modelar comportamiento cinemático y dinámico de la plataforma para simulación y posterior diseño a partir de la literatura y estudios previos sobre robots cuadrúpedos.</a:t>
                      </a:r>
                    </a:p>
                  </a:txBody>
                  <a:tcPr marT="27432" marB="27432">
                    <a:solidFill>
                      <a:srgbClr val="1C3049"/>
                    </a:solidFill>
                  </a:tcPr>
                </a:tc>
                <a:tc>
                  <a:txBody>
                    <a:bodyPr/>
                    <a:lstStyle/>
                    <a:p>
                      <a:pPr>
                        <a:defRPr sz="1300" b="1">
                          <a:solidFill>
                            <a:srgbClr val="4ED3BA"/>
                          </a:solidFill>
                          <a:latin typeface="Aptos"/>
                        </a:defRPr>
                      </a:pPr>
                      <a:r>
                        <a:t>Parcial</a:t>
                      </a:r>
                    </a:p>
                    <a:p>
                      <a:pPr>
                        <a:defRPr sz="1300" b="1">
                          <a:solidFill>
                            <a:srgbClr val="4ED3BA"/>
                          </a:solidFill>
                          <a:latin typeface="Aptos"/>
                        </a:defRPr>
                      </a:pPr>
                      <a:r>
                        <a:t>50 %</a:t>
                      </a:r>
                    </a:p>
                  </a:txBody>
                  <a:tcPr marT="27432" marB="27432">
                    <a:solidFill>
                      <a:srgbClr val="1C3049"/>
                    </a:solidFill>
                  </a:tcPr>
                </a:tc>
                <a:tc>
                  <a:txBody>
                    <a:bodyPr/>
                    <a:lstStyle/>
                    <a:p>
                      <a:pPr>
                        <a:defRPr sz="1300" b="0">
                          <a:solidFill>
                            <a:srgbClr val="F3F6FA"/>
                          </a:solidFill>
                          <a:latin typeface="Aptos"/>
                        </a:defRPr>
                      </a:pPr>
                      <a:r>
                        <a:t>Contrastar parámetros físicos y validar el modelo.</a:t>
                      </a:r>
                    </a:p>
                  </a:txBody>
                  <a:tcPr marT="27432" marB="27432">
                    <a:solidFill>
                      <a:srgbClr val="1C3049"/>
                    </a:solidFill>
                  </a:tcPr>
                </a:tc>
              </a:tr>
              <a:tr h="960120">
                <a:tc>
                  <a:txBody>
                    <a:bodyPr/>
                    <a:lstStyle/>
                    <a:p>
                      <a:pPr>
                        <a:defRPr sz="1200" b="0">
                          <a:solidFill>
                            <a:srgbClr val="F3F6FA"/>
                          </a:solidFill>
                          <a:latin typeface="Aptos"/>
                        </a:defRPr>
                      </a:pPr>
                      <a:r>
                        <a:t>OE3 · Diseñar una estrategia de control basada en aprendizaje automático para la coordinación del movimiento del robot, garantizando estabilidad y continuidad durante los modos de locomoción tipo paso y gateo.</a:t>
                      </a:r>
                    </a:p>
                  </a:txBody>
                  <a:tcPr marT="27432" marB="27432">
                    <a:solidFill>
                      <a:srgbClr val="1C3049"/>
                    </a:solidFill>
                  </a:tcPr>
                </a:tc>
                <a:tc>
                  <a:txBody>
                    <a:bodyPr/>
                    <a:lstStyle/>
                    <a:p>
                      <a:pPr>
                        <a:defRPr sz="1300" b="1">
                          <a:solidFill>
                            <a:srgbClr val="4ED3BA"/>
                          </a:solidFill>
                          <a:latin typeface="Aptos"/>
                        </a:defRPr>
                      </a:pPr>
                      <a:r>
                        <a:t>Parcial</a:t>
                      </a:r>
                    </a:p>
                    <a:p>
                      <a:pPr>
                        <a:defRPr sz="1300" b="1">
                          <a:solidFill>
                            <a:srgbClr val="4ED3BA"/>
                          </a:solidFill>
                          <a:latin typeface="Aptos"/>
                        </a:defRPr>
                      </a:pPr>
                      <a:r>
                        <a:t>50 %</a:t>
                      </a:r>
                    </a:p>
                  </a:txBody>
                  <a:tcPr marT="27432" marB="27432">
                    <a:solidFill>
                      <a:srgbClr val="1C3049"/>
                    </a:solidFill>
                  </a:tcPr>
                </a:tc>
                <a:tc>
                  <a:txBody>
                    <a:bodyPr/>
                    <a:lstStyle/>
                    <a:p>
                      <a:pPr>
                        <a:defRPr sz="1300" b="0">
                          <a:solidFill>
                            <a:srgbClr val="F3F6FA"/>
                          </a:solidFill>
                          <a:latin typeface="Aptos"/>
                        </a:defRPr>
                      </a:pPr>
                      <a:r>
                        <a:t>Demostrar estabilidad y continuidad en paso y gateo.</a:t>
                      </a:r>
                    </a:p>
                  </a:txBody>
                  <a:tcPr marT="27432" marB="27432">
                    <a:solidFill>
                      <a:srgbClr val="1C3049"/>
                    </a:solidFill>
                  </a:tcPr>
                </a:tc>
              </a:tr>
              <a:tr h="960120">
                <a:tc>
                  <a:txBody>
                    <a:bodyPr/>
                    <a:lstStyle/>
                    <a:p>
                      <a:pPr>
                        <a:defRPr sz="1200" b="0">
                          <a:solidFill>
                            <a:srgbClr val="F3F6FA"/>
                          </a:solidFill>
                          <a:latin typeface="Aptos"/>
                        </a:defRPr>
                      </a:pPr>
                      <a:r>
                        <a:t>OE4 · Evaluar el funcionamiento del modelo de caminata del robot cuadrúpedo mediante tres pruebas: la Prueba de Margen de Estabilidad Estática, la Prueba de Seguimiento de Posición Articular y la Prueba de Repetibilidad del Patrón de Marcha.</a:t>
                      </a:r>
                    </a:p>
                  </a:txBody>
                  <a:tcPr marT="27432" marB="27432">
                    <a:solidFill>
                      <a:srgbClr val="1C3049"/>
                    </a:solidFill>
                  </a:tcPr>
                </a:tc>
                <a:tc>
                  <a:txBody>
                    <a:bodyPr/>
                    <a:lstStyle/>
                    <a:p>
                      <a:pPr>
                        <a:defRPr sz="1300" b="1">
                          <a:solidFill>
                            <a:srgbClr val="4ED3BA"/>
                          </a:solidFill>
                          <a:latin typeface="Aptos"/>
                        </a:defRPr>
                      </a:pPr>
                      <a:r>
                        <a:t>Parcial</a:t>
                      </a:r>
                    </a:p>
                    <a:p>
                      <a:pPr>
                        <a:defRPr sz="1300" b="1">
                          <a:solidFill>
                            <a:srgbClr val="4ED3BA"/>
                          </a:solidFill>
                          <a:latin typeface="Aptos"/>
                        </a:defRPr>
                      </a:pPr>
                      <a:r>
                        <a:t>50 %</a:t>
                      </a:r>
                    </a:p>
                  </a:txBody>
                  <a:tcPr marT="27432" marB="27432">
                    <a:solidFill>
                      <a:srgbClr val="1C3049"/>
                    </a:solidFill>
                  </a:tcPr>
                </a:tc>
                <a:tc>
                  <a:txBody>
                    <a:bodyPr/>
                    <a:lstStyle/>
                    <a:p>
                      <a:pPr>
                        <a:defRPr sz="1300" b="0">
                          <a:solidFill>
                            <a:srgbClr val="F3F6FA"/>
                          </a:solidFill>
                          <a:latin typeface="Aptos"/>
                        </a:defRPr>
                      </a:pPr>
                      <a:r>
                        <a:t>Completar las tres pruebas y su análisis conjunto.</a:t>
                      </a:r>
                    </a:p>
                  </a:txBody>
                  <a:tcPr marT="27432" marB="27432">
                    <a:solidFill>
                      <a:srgbClr val="1C3049"/>
                    </a:solidFill>
                  </a:tcPr>
                </a:tc>
              </a:tr>
            </a:tbl>
          </a:graphicData>
        </a:graphic>
      </p:graphicFrame>
      <p:sp>
        <p:nvSpPr>
          <p:cNvPr id="8" name="TextBox 7"/>
          <p:cNvSpPr txBox="1"/>
          <p:nvPr/>
        </p:nvSpPr>
        <p:spPr>
          <a:xfrm>
            <a:off x="731520" y="6080760"/>
            <a:ext cx="10744200" cy="274320"/>
          </a:xfrm>
          <a:prstGeom prst="rect">
            <a:avLst/>
          </a:prstGeom>
          <a:noFill/>
        </p:spPr>
        <p:txBody>
          <a:bodyPr wrap="square">
            <a:spAutoFit/>
          </a:bodyPr>
          <a:lstStyle/>
          <a:p>
            <a:pPr>
              <a:spcAft>
                <a:spcPts val="500"/>
              </a:spcAft>
              <a:defRPr sz="1100" b="0">
                <a:solidFill>
                  <a:srgbClr val="B8C6D8"/>
                </a:solidFill>
                <a:latin typeface="Aptos"/>
              </a:defRPr>
            </a:pPr>
            <a:r>
              <a:t>Avance: 4 etapas por objetivo, 25 % por etapa cerrada. Fuente: objetivos y matriz de evidencias de la tesis.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