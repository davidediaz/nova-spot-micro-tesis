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jpeg" ContentType="image/jpeg"/>
  <Override PartName="/ppt/media/image2.jpeg" ContentType="image/jpeg"/>
  <Override PartName="/ppt/media/image3.png" ContentType="image/png"/>
  <Override PartName="/ppt/media/image4.jpeg" ContentType="image/jpeg"/>
  <Override PartName="/ppt/media/image5.jpeg" ContentType="image/jpeg"/>
  <Override PartName="/ppt/media/image6.jpeg" ContentType="image/jpe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US" sz="1800" spc="-1" strike="noStrike">
                <a:solidFill>
                  <a:srgbClr val="000000"/>
                </a:solidFill>
                <a:latin typeface="Calibri"/>
              </a:rPr>
              <a:t>Pulse para desplazar la diapositiva</a:t>
            </a:r>
            <a:endParaRPr b="0" lang="en-US" sz="1800" spc="-1" strike="noStrike">
              <a:solidFill>
                <a:srgbClr val="000000"/>
              </a:solidFill>
              <a:latin typeface="Calibri"/>
            </a:endParaRPr>
          </a:p>
        </p:txBody>
      </p:sp>
      <p:sp>
        <p:nvSpPr>
          <p:cNvPr id="42"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r>
              <a:rPr b="0" lang="es-CO" sz="2000" spc="-1" strike="noStrike">
                <a:latin typeface="Arial"/>
              </a:rPr>
              <a:t>Pulse para editar el </a:t>
            </a:r>
            <a:r>
              <a:rPr b="0" lang="es-CO" sz="2000" spc="-1" strike="noStrike">
                <a:latin typeface="Arial"/>
              </a:rPr>
              <a:t>formato de las notas</a:t>
            </a:r>
            <a:endParaRPr b="0" lang="es-CO" sz="2000" spc="-1" strike="noStrike">
              <a:latin typeface="Arial"/>
            </a:endParaRPr>
          </a:p>
        </p:txBody>
      </p:sp>
      <p:sp>
        <p:nvSpPr>
          <p:cNvPr id="43" name="PlaceHolder 3"/>
          <p:cNvSpPr>
            <a:spLocks noGrp="1"/>
          </p:cNvSpPr>
          <p:nvPr>
            <p:ph type="hdr"/>
          </p:nvPr>
        </p:nvSpPr>
        <p:spPr>
          <a:xfrm>
            <a:off x="0" y="0"/>
            <a:ext cx="3372840" cy="502560"/>
          </a:xfrm>
          <a:prstGeom prst="rect">
            <a:avLst/>
          </a:prstGeom>
          <a:noFill/>
          <a:ln w="0">
            <a:noFill/>
          </a:ln>
        </p:spPr>
        <p:txBody>
          <a:bodyPr lIns="0" rIns="0" tIns="0" bIns="0" anchor="t">
            <a:noAutofit/>
          </a:bodyPr>
          <a:p>
            <a:r>
              <a:rPr b="0" lang="es-CO" sz="1400" spc="-1" strike="noStrike">
                <a:latin typeface="Times New Roman"/>
              </a:rPr>
              <a:t>&lt;cabecera&gt;</a:t>
            </a:r>
            <a:endParaRPr b="0" lang="es-CO" sz="1400" spc="-1" strike="noStrike">
              <a:latin typeface="Times New Roman"/>
            </a:endParaRPr>
          </a:p>
        </p:txBody>
      </p:sp>
      <p:sp>
        <p:nvSpPr>
          <p:cNvPr id="44" name="PlaceHolder 4"/>
          <p:cNvSpPr>
            <a:spLocks noGrp="1"/>
          </p:cNvSpPr>
          <p:nvPr>
            <p:ph type="dt" idx="4"/>
          </p:nvPr>
        </p:nvSpPr>
        <p:spPr>
          <a:xfrm>
            <a:off x="4399200" y="0"/>
            <a:ext cx="3372840" cy="502560"/>
          </a:xfrm>
          <a:prstGeom prst="rect">
            <a:avLst/>
          </a:prstGeom>
          <a:noFill/>
          <a:ln w="0">
            <a:noFill/>
          </a:ln>
        </p:spPr>
        <p:txBody>
          <a:bodyPr lIns="0" rIns="0" tIns="0" bIns="0" anchor="t">
            <a:noAutofit/>
          </a:bodyPr>
          <a:lstStyle>
            <a:lvl1pPr algn="r">
              <a:buNone/>
              <a:defRPr b="0" lang="es-CO" sz="1400" spc="-1" strike="noStrike">
                <a:latin typeface="Times New Roman"/>
              </a:defRPr>
            </a:lvl1pPr>
          </a:lstStyle>
          <a:p>
            <a:pPr algn="r">
              <a:buNone/>
            </a:pPr>
            <a:r>
              <a:rPr b="0" lang="es-CO" sz="1400" spc="-1" strike="noStrike">
                <a:latin typeface="Times New Roman"/>
              </a:rPr>
              <a:t>&lt;fecha/hora&gt;</a:t>
            </a:r>
            <a:endParaRPr b="0" lang="es-CO" sz="1400" spc="-1" strike="noStrike">
              <a:latin typeface="Times New Roman"/>
            </a:endParaRPr>
          </a:p>
        </p:txBody>
      </p:sp>
      <p:sp>
        <p:nvSpPr>
          <p:cNvPr id="45" name="PlaceHolder 5"/>
          <p:cNvSpPr>
            <a:spLocks noGrp="1"/>
          </p:cNvSpPr>
          <p:nvPr>
            <p:ph type="ftr" idx="5"/>
          </p:nvPr>
        </p:nvSpPr>
        <p:spPr>
          <a:xfrm>
            <a:off x="0" y="9555480"/>
            <a:ext cx="3372840" cy="502560"/>
          </a:xfrm>
          <a:prstGeom prst="rect">
            <a:avLst/>
          </a:prstGeom>
          <a:noFill/>
          <a:ln w="0">
            <a:noFill/>
          </a:ln>
        </p:spPr>
        <p:txBody>
          <a:bodyPr lIns="0" rIns="0" tIns="0" bIns="0" anchor="b">
            <a:noAutofit/>
          </a:bodyPr>
          <a:lstStyle>
            <a:lvl1pPr>
              <a:defRPr b="0" lang="es-CO" sz="1400" spc="-1" strike="noStrike">
                <a:latin typeface="Times New Roman"/>
              </a:defRPr>
            </a:lvl1pPr>
          </a:lstStyle>
          <a:p>
            <a:r>
              <a:rPr b="0" lang="es-CO" sz="1400" spc="-1" strike="noStrike">
                <a:latin typeface="Times New Roman"/>
              </a:rPr>
              <a:t>&lt;pie de página&gt;</a:t>
            </a:r>
            <a:endParaRPr b="0" lang="es-CO" sz="1400" spc="-1" strike="noStrike">
              <a:latin typeface="Times New Roman"/>
            </a:endParaRPr>
          </a:p>
        </p:txBody>
      </p:sp>
      <p:sp>
        <p:nvSpPr>
          <p:cNvPr id="46" name="PlaceHolder 6"/>
          <p:cNvSpPr>
            <a:spLocks noGrp="1"/>
          </p:cNvSpPr>
          <p:nvPr>
            <p:ph type="sldNum" idx="6"/>
          </p:nvPr>
        </p:nvSpPr>
        <p:spPr>
          <a:xfrm>
            <a:off x="4399200" y="9555480"/>
            <a:ext cx="3372840" cy="502560"/>
          </a:xfrm>
          <a:prstGeom prst="rect">
            <a:avLst/>
          </a:prstGeom>
          <a:noFill/>
          <a:ln w="0">
            <a:noFill/>
          </a:ln>
        </p:spPr>
        <p:txBody>
          <a:bodyPr lIns="0" rIns="0" tIns="0" bIns="0" anchor="b">
            <a:noAutofit/>
          </a:bodyPr>
          <a:lstStyle>
            <a:lvl1pPr algn="r">
              <a:buNone/>
              <a:defRPr b="0" lang="es-CO" sz="1400" spc="-1" strike="noStrike">
                <a:latin typeface="Times New Roman"/>
              </a:defRPr>
            </a:lvl1pPr>
          </a:lstStyle>
          <a:p>
            <a:pPr algn="r">
              <a:buNone/>
            </a:pPr>
            <a:fld id="{49C0435A-21E8-4CAB-A554-84806F69563B}" type="slidenum">
              <a:rPr b="0" lang="es-CO" sz="1400" spc="-1" strike="noStrike">
                <a:latin typeface="Times New Roman"/>
              </a:rPr>
              <a:t>&lt;número&gt;</a:t>
            </a:fld>
            <a:endParaRPr b="0" lang="es-CO"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sldImg"/>
          </p:nvPr>
        </p:nvSpPr>
        <p:spPr>
          <a:xfrm>
            <a:off x="1143000" y="685800"/>
            <a:ext cx="4571640" cy="3428640"/>
          </a:xfrm>
          <a:prstGeom prst="rect">
            <a:avLst/>
          </a:prstGeom>
          <a:ln w="0">
            <a:noFill/>
          </a:ln>
        </p:spPr>
      </p:sp>
      <p:sp>
        <p:nvSpPr>
          <p:cNvPr id="14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s-CO" sz="2000" spc="-1" strike="noStrike">
                <a:latin typeface="Arial"/>
              </a:rPr>
              <a:t>Objetivo general: Desarrollar un sistema de control para la plataforma cuadrúpedo Spot Micro que integre aprendizaje por refuerzo para su ejecución y estabilización en los diferentes modos de locomoción tipo paso y gateo en condiciones de entorno controladas.</a:t>
            </a:r>
            <a:endParaRPr b="0" lang="es-CO" sz="2000" spc="-1" strike="noStrike">
              <a:latin typeface="Arial"/>
            </a:endParaRPr>
          </a:p>
        </p:txBody>
      </p:sp>
      <p:sp>
        <p:nvSpPr>
          <p:cNvPr id="143" name="PlaceHolder 3"/>
          <p:cNvSpPr>
            <a:spLocks noGrp="1"/>
          </p:cNvSpPr>
          <p:nvPr>
            <p:ph type="sldNum" idx="7"/>
          </p:nvPr>
        </p:nvSpPr>
        <p:spPr>
          <a:xfrm>
            <a:off x="3884760" y="8685360"/>
            <a:ext cx="2971440" cy="456840"/>
          </a:xfrm>
          <a:prstGeom prst="rect">
            <a:avLst/>
          </a:prstGeom>
          <a:noFill/>
          <a:ln w="0">
            <a:noFill/>
          </a:ln>
        </p:spPr>
        <p:txBody>
          <a:bodyPr anchor="b">
            <a:noAutofit/>
          </a:bodyPr>
          <a:lstStyle>
            <a:lvl1pPr algn="r">
              <a:lnSpc>
                <a:spcPct val="100000"/>
              </a:lnSpc>
              <a:buNone/>
              <a:defRPr b="0" lang="es-CO" sz="1200" spc="-1" strike="noStrike">
                <a:latin typeface="Times New Roman"/>
              </a:defRPr>
            </a:lvl1pPr>
          </a:lstStyle>
          <a:p>
            <a:pPr algn="r">
              <a:lnSpc>
                <a:spcPct val="100000"/>
              </a:lnSpc>
              <a:buNone/>
            </a:pPr>
            <a:fld id="{0AE2D961-CA58-4FAF-9328-3240AF5921D2}" type="slidenum">
              <a:rPr b="0" lang="es-CO" sz="1200" spc="-1" strike="noStrike">
                <a:latin typeface="Times New Roman"/>
              </a:rPr>
              <a:t>&lt;número&gt;</a:t>
            </a:fld>
            <a:endParaRPr b="0" lang="es-CO"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sldImg"/>
          </p:nvPr>
        </p:nvSpPr>
        <p:spPr>
          <a:xfrm>
            <a:off x="1143000" y="685800"/>
            <a:ext cx="4571640" cy="3428640"/>
          </a:xfrm>
          <a:prstGeom prst="rect">
            <a:avLst/>
          </a:prstGeom>
          <a:ln w="0">
            <a:noFill/>
          </a:ln>
        </p:spPr>
      </p:sp>
      <p:sp>
        <p:nvSpPr>
          <p:cNvPr id="14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s-CO" sz="2000" spc="-1" strike="noStrike">
                <a:latin typeface="Arial"/>
              </a:rPr>
              <a:t>Estos son los cuatro objetivos originales. El primero reúne hardware y software; el segundo es modelado; el tercero es control aprendido; el cuarto exige tres pruebas concretas. Todos están parciales. Los porcentajes se recalcularon con una rúbrica por entregables y no significan una calificación. El entrenamiento no demuestra por sí solo estabilidad ni continuidad.</a:t>
            </a:r>
            <a:endParaRPr b="0" lang="es-CO" sz="2000" spc="-1" strike="noStrike">
              <a:latin typeface="Arial"/>
            </a:endParaRPr>
          </a:p>
        </p:txBody>
      </p:sp>
      <p:sp>
        <p:nvSpPr>
          <p:cNvPr id="146" name="PlaceHolder 3"/>
          <p:cNvSpPr>
            <a:spLocks noGrp="1"/>
          </p:cNvSpPr>
          <p:nvPr>
            <p:ph type="sldNum" idx="8"/>
          </p:nvPr>
        </p:nvSpPr>
        <p:spPr>
          <a:xfrm>
            <a:off x="3884760" y="8685360"/>
            <a:ext cx="2971440" cy="456840"/>
          </a:xfrm>
          <a:prstGeom prst="rect">
            <a:avLst/>
          </a:prstGeom>
          <a:noFill/>
          <a:ln w="0">
            <a:noFill/>
          </a:ln>
        </p:spPr>
        <p:txBody>
          <a:bodyPr anchor="b">
            <a:noAutofit/>
          </a:bodyPr>
          <a:lstStyle>
            <a:lvl1pPr algn="r">
              <a:lnSpc>
                <a:spcPct val="100000"/>
              </a:lnSpc>
              <a:buNone/>
              <a:defRPr b="0" lang="es-CO" sz="1200" spc="-1" strike="noStrike">
                <a:latin typeface="Times New Roman"/>
              </a:defRPr>
            </a:lvl1pPr>
          </a:lstStyle>
          <a:p>
            <a:pPr algn="r">
              <a:lnSpc>
                <a:spcPct val="100000"/>
              </a:lnSpc>
              <a:buNone/>
            </a:pPr>
            <a:fld id="{50CD22CE-6682-4EAA-AF17-D6EAAD500FBD}" type="slidenum">
              <a:rPr b="0" lang="es-CO" sz="1200" spc="-1" strike="noStrike">
                <a:latin typeface="Times New Roman"/>
              </a:rPr>
              <a:t>&lt;número&gt;</a:t>
            </a:fld>
            <a:endParaRPr b="0" lang="es-CO"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sldImg"/>
          </p:nvPr>
        </p:nvSpPr>
        <p:spPr>
          <a:xfrm>
            <a:off x="1143000" y="685800"/>
            <a:ext cx="4571640" cy="3428640"/>
          </a:xfrm>
          <a:prstGeom prst="rect">
            <a:avLst/>
          </a:prstGeom>
          <a:ln w="0">
            <a:noFill/>
          </a:ln>
        </p:spPr>
      </p:sp>
      <p:sp>
        <p:nvSpPr>
          <p:cNvPr id="14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s-CO" sz="2000" spc="-1" strike="noStrike">
                <a:latin typeface="Arial"/>
              </a:rPr>
              <a:t>Gazebo y MuJoCo son programas que simulan el robot. En Gazebo hicimos cinco pruebas y el avance medio fue de unos 2,4 centímetros por cada secuencia completa de gateo. En MuJoCo ajustamos el movimiento y el avance pasó de 2,7 a 9,9 milímetros por ciclo. Aún falta mejorar cuándo despega y aterriza cada pata. El programa de seguridad detectó los nueve fallos que provocamos y envió la orden de detener la marcha; falta comprobar la parada eléctrica real. Entrenamos el algoritmo de aprendizaje cinco veces, pero sus correcciones no cumplieron los criterios de mejora. La captura de Gazebo ilustra el modelo actual: los números vienen de los informes de pruebas anteriores.</a:t>
            </a:r>
            <a:endParaRPr b="0" lang="es-CO" sz="2000" spc="-1" strike="noStrike">
              <a:latin typeface="Arial"/>
            </a:endParaRPr>
          </a:p>
        </p:txBody>
      </p:sp>
      <p:sp>
        <p:nvSpPr>
          <p:cNvPr id="149" name="PlaceHolder 3"/>
          <p:cNvSpPr>
            <a:spLocks noGrp="1"/>
          </p:cNvSpPr>
          <p:nvPr>
            <p:ph type="sldNum" idx="9"/>
          </p:nvPr>
        </p:nvSpPr>
        <p:spPr>
          <a:xfrm>
            <a:off x="3884760" y="8685360"/>
            <a:ext cx="2971440" cy="456840"/>
          </a:xfrm>
          <a:prstGeom prst="rect">
            <a:avLst/>
          </a:prstGeom>
          <a:noFill/>
          <a:ln w="0">
            <a:noFill/>
          </a:ln>
        </p:spPr>
        <p:txBody>
          <a:bodyPr anchor="b">
            <a:noAutofit/>
          </a:bodyPr>
          <a:lstStyle>
            <a:lvl1pPr algn="r">
              <a:lnSpc>
                <a:spcPct val="100000"/>
              </a:lnSpc>
              <a:buNone/>
              <a:defRPr b="0" lang="es-CO" sz="1200" spc="-1" strike="noStrike">
                <a:latin typeface="Times New Roman"/>
              </a:defRPr>
            </a:lvl1pPr>
          </a:lstStyle>
          <a:p>
            <a:pPr algn="r">
              <a:lnSpc>
                <a:spcPct val="100000"/>
              </a:lnSpc>
              <a:buNone/>
            </a:pPr>
            <a:fld id="{B58ACC6E-B720-46A9-9BD1-D2D9DC40DC08}" type="slidenum">
              <a:rPr b="0" lang="es-CO" sz="1200" spc="-1" strike="noStrike">
                <a:latin typeface="Times New Roman"/>
              </a:rPr>
              <a:t>&lt;número&gt;</a:t>
            </a:fld>
            <a:endParaRPr b="0" lang="es-CO"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sldImg"/>
          </p:nvPr>
        </p:nvSpPr>
        <p:spPr>
          <a:xfrm>
            <a:off x="1143000" y="685800"/>
            <a:ext cx="4571640" cy="3428640"/>
          </a:xfrm>
          <a:prstGeom prst="rect">
            <a:avLst/>
          </a:prstGeom>
          <a:ln w="0">
            <a:noFill/>
          </a:ln>
        </p:spPr>
      </p:sp>
      <p:sp>
        <p:nvSpPr>
          <p:cNvPr id="15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s-CO" sz="2000" spc="-1" strike="noStrike">
                <a:latin typeface="Arial"/>
              </a:rPr>
              <a:t>La tesis ya tiene un borrador de 72 páginas. Están escritos el modelo, los procedimientos, el funcionamiento del sistema y los resultados disponibles. Faltan las mediciones y pruebas del robot real, la comparación final y las conclusiones definitivas. También debemos añadir las nuevas pruebas y fotos. Hay frases antiguas que dicen que no hemos entrenado el algoritmo, aunque ya lo hicimos. Vamos a corregirlas para que el documento refleje el mismo estado en todas sus secciones. Tener los capítulos escritos no significa que la tesis esté terminada.</a:t>
            </a:r>
            <a:endParaRPr b="0" lang="es-CO" sz="2000" spc="-1" strike="noStrike">
              <a:latin typeface="Arial"/>
            </a:endParaRPr>
          </a:p>
        </p:txBody>
      </p:sp>
      <p:sp>
        <p:nvSpPr>
          <p:cNvPr id="152" name="PlaceHolder 3"/>
          <p:cNvSpPr>
            <a:spLocks noGrp="1"/>
          </p:cNvSpPr>
          <p:nvPr>
            <p:ph type="sldNum" idx="10"/>
          </p:nvPr>
        </p:nvSpPr>
        <p:spPr>
          <a:xfrm>
            <a:off x="3884760" y="8685360"/>
            <a:ext cx="2971440" cy="456840"/>
          </a:xfrm>
          <a:prstGeom prst="rect">
            <a:avLst/>
          </a:prstGeom>
          <a:noFill/>
          <a:ln w="0">
            <a:noFill/>
          </a:ln>
        </p:spPr>
        <p:txBody>
          <a:bodyPr anchor="b">
            <a:noAutofit/>
          </a:bodyPr>
          <a:lstStyle>
            <a:lvl1pPr algn="r">
              <a:lnSpc>
                <a:spcPct val="100000"/>
              </a:lnSpc>
              <a:buNone/>
              <a:defRPr b="0" lang="es-CO" sz="1200" spc="-1" strike="noStrike">
                <a:latin typeface="Times New Roman"/>
              </a:defRPr>
            </a:lvl1pPr>
          </a:lstStyle>
          <a:p>
            <a:pPr algn="r">
              <a:lnSpc>
                <a:spcPct val="100000"/>
              </a:lnSpc>
              <a:buNone/>
            </a:pPr>
            <a:fld id="{A40895B4-57A4-4811-8FAD-B1EDB0662FD5}" type="slidenum">
              <a:rPr b="0" lang="es-CO" sz="1200" spc="-1" strike="noStrike">
                <a:latin typeface="Times New Roman"/>
              </a:rPr>
              <a:t>&lt;número&gt;</a:t>
            </a:fld>
            <a:endParaRPr b="0" lang="es-CO"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sldImg"/>
          </p:nvPr>
        </p:nvSpPr>
        <p:spPr>
          <a:xfrm>
            <a:off x="1143000" y="685800"/>
            <a:ext cx="4571640" cy="3428640"/>
          </a:xfrm>
          <a:prstGeom prst="rect">
            <a:avLst/>
          </a:prstGeom>
          <a:ln w="0">
            <a:noFill/>
          </a:ln>
        </p:spPr>
      </p:sp>
      <p:sp>
        <p:nvSpPr>
          <p:cNvPr id="15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s-CO" sz="2000" spc="-1" strike="noStrike">
                <a:latin typeface="Arial"/>
              </a:rPr>
              <a:t>El orden de trabajo empieza por resolver el exceso de corriente y comprobar el apagado seguro. Después ajustaremos un motor y una pata antes de probar el robot completo. Registraremos sus movimientos y el consumo. Finalmente evaluaremos las correcciones aprendidas frente al movimiento básico, usando las mismas condiciones. La comparación debe mostrar tanto lo que mejora como lo que empeora. En paralelo actualizaremos la tesis. Las principales dificultades son la validación física pendiente y que aún no hemos demostrado la mejora mediante aprendizaje.</a:t>
            </a:r>
            <a:endParaRPr b="0" lang="es-CO" sz="2000" spc="-1" strike="noStrike">
              <a:latin typeface="Arial"/>
            </a:endParaRPr>
          </a:p>
        </p:txBody>
      </p:sp>
      <p:sp>
        <p:nvSpPr>
          <p:cNvPr id="155" name="PlaceHolder 3"/>
          <p:cNvSpPr>
            <a:spLocks noGrp="1"/>
          </p:cNvSpPr>
          <p:nvPr>
            <p:ph type="sldNum" idx="11"/>
          </p:nvPr>
        </p:nvSpPr>
        <p:spPr>
          <a:xfrm>
            <a:off x="3884760" y="8685360"/>
            <a:ext cx="2971440" cy="456840"/>
          </a:xfrm>
          <a:prstGeom prst="rect">
            <a:avLst/>
          </a:prstGeom>
          <a:noFill/>
          <a:ln w="0">
            <a:noFill/>
          </a:ln>
        </p:spPr>
        <p:txBody>
          <a:bodyPr anchor="b">
            <a:noAutofit/>
          </a:bodyPr>
          <a:lstStyle>
            <a:lvl1pPr algn="r">
              <a:lnSpc>
                <a:spcPct val="100000"/>
              </a:lnSpc>
              <a:buNone/>
              <a:defRPr b="0" lang="es-CO" sz="1200" spc="-1" strike="noStrike">
                <a:latin typeface="Times New Roman"/>
              </a:defRPr>
            </a:lvl1pPr>
          </a:lstStyle>
          <a:p>
            <a:pPr algn="r">
              <a:lnSpc>
                <a:spcPct val="100000"/>
              </a:lnSpc>
              <a:buNone/>
            </a:pPr>
            <a:fld id="{3A565ACD-8CA1-43BE-95DF-52053CB09290}" type="slidenum">
              <a:rPr b="0" lang="es-CO" sz="1200" spc="-1" strike="noStrike">
                <a:latin typeface="Times New Roman"/>
              </a:rPr>
              <a:t>&lt;número&gt;</a:t>
            </a:fld>
            <a:endParaRPr b="0" lang="es-CO"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sldImg"/>
          </p:nvPr>
        </p:nvSpPr>
        <p:spPr>
          <a:xfrm>
            <a:off x="1143000" y="685800"/>
            <a:ext cx="4571640" cy="3428640"/>
          </a:xfrm>
          <a:prstGeom prst="rect">
            <a:avLst/>
          </a:prstGeom>
          <a:ln w="0">
            <a:noFill/>
          </a:ln>
        </p:spPr>
      </p:sp>
      <p:sp>
        <p:nvSpPr>
          <p:cNvPr id="15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s-CO" sz="2000" spc="-1" strike="noStrike">
                <a:latin typeface="Arial"/>
              </a:rPr>
              <a:t>Para la próxima revisión proponemos entregar un informe de revisión eléctrica y una versión actualizada de la tesis. El informe debe decir qué revisamos, qué medimos, con qué instrumentos y qué falta. Si una prueba no puede hacerse con seguridad, lo registraremos como pendiente. No prometemos una caminata antes de resolver esos requisitos. Nuestro proyecto todavía no puede darse por terminado porque falta comprobar la marcha segura del robot real y evaluar las correcciones aprendidas. La evidencia de cierre serán pruebas comparables, mediciones y conclusiones que expliquen lo que funcionó y lo que no.</a:t>
            </a:r>
            <a:endParaRPr b="0" lang="es-CO" sz="2000" spc="-1" strike="noStrike">
              <a:latin typeface="Arial"/>
            </a:endParaRPr>
          </a:p>
        </p:txBody>
      </p:sp>
      <p:sp>
        <p:nvSpPr>
          <p:cNvPr id="158" name="PlaceHolder 3"/>
          <p:cNvSpPr>
            <a:spLocks noGrp="1"/>
          </p:cNvSpPr>
          <p:nvPr>
            <p:ph type="sldNum" idx="12"/>
          </p:nvPr>
        </p:nvSpPr>
        <p:spPr>
          <a:xfrm>
            <a:off x="3884760" y="8685360"/>
            <a:ext cx="2971440" cy="456840"/>
          </a:xfrm>
          <a:prstGeom prst="rect">
            <a:avLst/>
          </a:prstGeom>
          <a:noFill/>
          <a:ln w="0">
            <a:noFill/>
          </a:ln>
        </p:spPr>
        <p:txBody>
          <a:bodyPr anchor="b">
            <a:noAutofit/>
          </a:bodyPr>
          <a:lstStyle>
            <a:lvl1pPr algn="r">
              <a:lnSpc>
                <a:spcPct val="100000"/>
              </a:lnSpc>
              <a:buNone/>
              <a:defRPr b="0" lang="es-CO" sz="1200" spc="-1" strike="noStrike">
                <a:latin typeface="Times New Roman"/>
              </a:defRPr>
            </a:lvl1pPr>
          </a:lstStyle>
          <a:p>
            <a:pPr algn="r">
              <a:lnSpc>
                <a:spcPct val="100000"/>
              </a:lnSpc>
              <a:buNone/>
            </a:pPr>
            <a:fld id="{6B5DCEDD-A4C2-4DC0-B02B-19545AC6E4CC}" type="slidenum">
              <a:rPr b="0" lang="es-CO" sz="1200" spc="-1" strike="noStrike">
                <a:latin typeface="Times New Roman"/>
              </a:rPr>
              <a:t>&lt;número&gt;</a:t>
            </a:fld>
            <a:endParaRPr b="0" lang="es-CO"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92B45340-9F20-4613-B73D-51523764AA2E}" type="slidenum">
              <a:t>&lt;#&gt;</a:t>
            </a:fld>
          </a:p>
        </p:txBody>
      </p:sp>
      <p:sp>
        <p:nvSpPr>
          <p:cNvPr id="4" name="PlaceHolder 3"/>
          <p:cNvSpPr>
            <a:spLocks noGrp="1"/>
          </p:cNvSpPr>
          <p:nvPr>
            <p:ph type="dt" idx="1"/>
          </p:nvPr>
        </p:nvSpPr>
        <p:spPr/>
        <p:txBody>
          <a:bodyPr/>
          <a:p>
            <a:r>
              <a:rPr lang="es-CO"/>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 name="PlaceHolder 2"/>
          <p:cNvSpPr>
            <a:spLocks noGrp="1"/>
          </p:cNvSpPr>
          <p:nvPr>
            <p:ph type="subTitle"/>
          </p:nvPr>
        </p:nvSpPr>
        <p:spPr>
          <a:xfrm>
            <a:off x="609480" y="1604520"/>
            <a:ext cx="10972080" cy="3977280"/>
          </a:xfrm>
          <a:prstGeom prst="rect">
            <a:avLst/>
          </a:prstGeom>
          <a:noFill/>
          <a:ln w="0">
            <a:noFill/>
          </a:ln>
        </p:spPr>
        <p:txBody>
          <a:bodyPr lIns="0" rIns="0" tIns="0" bIns="0" anchor="ctr">
            <a:noAutofit/>
          </a:bodyPr>
          <a:p>
            <a:pPr algn="ctr">
              <a:buNone/>
            </a:pPr>
            <a:endParaRPr b="0" lang="es-CO"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7667EDE7-0720-4F2E-9842-61C31B45E04C}" type="slidenum">
              <a:t>&lt;#&gt;</a:t>
            </a:fld>
          </a:p>
        </p:txBody>
      </p:sp>
      <p:sp>
        <p:nvSpPr>
          <p:cNvPr id="6" name="PlaceHolder 5"/>
          <p:cNvSpPr>
            <a:spLocks noGrp="1"/>
          </p:cNvSpPr>
          <p:nvPr>
            <p:ph type="dt" idx="1"/>
          </p:nvPr>
        </p:nvSpPr>
        <p:spPr/>
        <p:txBody>
          <a:bodyPr/>
          <a:p>
            <a:r>
              <a:rPr lang="es-CO"/>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8" name="PlaceHolder 2"/>
          <p:cNvSpPr>
            <a:spLocks noGrp="1"/>
          </p:cNvSpPr>
          <p:nvPr>
            <p:ph/>
          </p:nvPr>
        </p:nvSpPr>
        <p:spPr>
          <a:xfrm>
            <a:off x="609480" y="1604520"/>
            <a:ext cx="1097208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8E729D33-E062-4CF3-91B5-F9E8447DB358}" type="slidenum">
              <a:t>&lt;#&gt;</a:t>
            </a:fld>
          </a:p>
        </p:txBody>
      </p:sp>
      <p:sp>
        <p:nvSpPr>
          <p:cNvPr id="6" name="PlaceHolder 5"/>
          <p:cNvSpPr>
            <a:spLocks noGrp="1"/>
          </p:cNvSpPr>
          <p:nvPr>
            <p:ph type="dt" idx="1"/>
          </p:nvPr>
        </p:nvSpPr>
        <p:spPr/>
        <p:txBody>
          <a:bodyPr/>
          <a:p>
            <a:r>
              <a:rPr lang="es-CO"/>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6F4E0C51-8408-4C29-A19F-4A1DB76FED9B}" type="slidenum">
              <a:t>&lt;#&gt;</a:t>
            </a:fld>
          </a:p>
        </p:txBody>
      </p:sp>
      <p:sp>
        <p:nvSpPr>
          <p:cNvPr id="7" name="PlaceHolder 6"/>
          <p:cNvSpPr>
            <a:spLocks noGrp="1"/>
          </p:cNvSpPr>
          <p:nvPr>
            <p:ph type="dt" idx="1"/>
          </p:nvPr>
        </p:nvSpPr>
        <p:spPr/>
        <p:txBody>
          <a:bodyPr/>
          <a:p>
            <a:r>
              <a:rPr lang="es-CO"/>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F0526A50-D46C-4626-89AD-24E1D0636FFC}" type="slidenum">
              <a:t>&lt;#&gt;</a:t>
            </a:fld>
          </a:p>
        </p:txBody>
      </p:sp>
      <p:sp>
        <p:nvSpPr>
          <p:cNvPr id="5" name="PlaceHolder 4"/>
          <p:cNvSpPr>
            <a:spLocks noGrp="1"/>
          </p:cNvSpPr>
          <p:nvPr>
            <p:ph type="dt" idx="1"/>
          </p:nvPr>
        </p:nvSpPr>
        <p:spPr/>
        <p:txBody>
          <a:bodyPr/>
          <a:p>
            <a:r>
              <a:rPr lang="es-CO"/>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09480" y="273600"/>
            <a:ext cx="10972080" cy="5307840"/>
          </a:xfrm>
          <a:prstGeom prst="rect">
            <a:avLst/>
          </a:prstGeom>
          <a:noFill/>
          <a:ln w="0">
            <a:noFill/>
          </a:ln>
        </p:spPr>
        <p:txBody>
          <a:bodyPr lIns="0" rIns="0" tIns="0" bIns="0" anchor="ctr">
            <a:noAutofit/>
          </a:bodyPr>
          <a:p>
            <a:pPr algn="ctr">
              <a:buNone/>
            </a:pPr>
            <a:endParaRPr b="0" lang="es-CO"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04F67152-1C0D-4A17-BF91-EB59E0F9900A}" type="slidenum">
              <a:t>&lt;#&gt;</a:t>
            </a:fld>
          </a:p>
        </p:txBody>
      </p:sp>
      <p:sp>
        <p:nvSpPr>
          <p:cNvPr id="5" name="PlaceHolder 4"/>
          <p:cNvSpPr>
            <a:spLocks noGrp="1"/>
          </p:cNvSpPr>
          <p:nvPr>
            <p:ph type="dt" idx="1"/>
          </p:nvPr>
        </p:nvSpPr>
        <p:spPr/>
        <p:txBody>
          <a:bodyPr/>
          <a:p>
            <a:r>
              <a:rPr lang="es-CO"/>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E75C3B48-8C80-4139-AD7E-F321D5A3D2DC}" type="slidenum">
              <a:t>&lt;#&gt;</a:t>
            </a:fld>
          </a:p>
        </p:txBody>
      </p:sp>
      <p:sp>
        <p:nvSpPr>
          <p:cNvPr id="8" name="PlaceHolder 7"/>
          <p:cNvSpPr>
            <a:spLocks noGrp="1"/>
          </p:cNvSpPr>
          <p:nvPr>
            <p:ph type="dt" idx="1"/>
          </p:nvPr>
        </p:nvSpPr>
        <p:spPr/>
        <p:txBody>
          <a:bodyPr/>
          <a:p>
            <a:r>
              <a:rPr lang="es-CO"/>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1"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DD396FD-CB38-438F-B320-8BD58D642E5F}" type="slidenum">
              <a:t>&lt;#&gt;</a:t>
            </a:fld>
          </a:p>
        </p:txBody>
      </p:sp>
      <p:sp>
        <p:nvSpPr>
          <p:cNvPr id="8" name="PlaceHolder 7"/>
          <p:cNvSpPr>
            <a:spLocks noGrp="1"/>
          </p:cNvSpPr>
          <p:nvPr>
            <p:ph type="dt" idx="1"/>
          </p:nvPr>
        </p:nvSpPr>
        <p:spPr/>
        <p:txBody>
          <a:bodyPr/>
          <a:p>
            <a:r>
              <a:rPr lang="es-CO"/>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5" name="PlaceHolder 4"/>
          <p:cNvSpPr>
            <a:spLocks noGrp="1"/>
          </p:cNvSpPr>
          <p:nvPr>
            <p:ph/>
          </p:nvPr>
        </p:nvSpPr>
        <p:spPr>
          <a:xfrm>
            <a:off x="609480" y="3682080"/>
            <a:ext cx="109720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D41B187F-BF5E-4FB4-B971-CFB32124B3DD}" type="slidenum">
              <a:t>&lt;#&gt;</a:t>
            </a:fld>
          </a:p>
        </p:txBody>
      </p:sp>
      <p:sp>
        <p:nvSpPr>
          <p:cNvPr id="8" name="PlaceHolder 7"/>
          <p:cNvSpPr>
            <a:spLocks noGrp="1"/>
          </p:cNvSpPr>
          <p:nvPr>
            <p:ph type="dt" idx="1"/>
          </p:nvPr>
        </p:nvSpPr>
        <p:spPr/>
        <p:txBody>
          <a:bodyPr/>
          <a:p>
            <a:r>
              <a:rPr lang="es-CO"/>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7" name="PlaceHolder 2"/>
          <p:cNvSpPr>
            <a:spLocks noGrp="1"/>
          </p:cNvSpPr>
          <p:nvPr>
            <p:ph/>
          </p:nvPr>
        </p:nvSpPr>
        <p:spPr>
          <a:xfrm>
            <a:off x="609480" y="1604520"/>
            <a:ext cx="109720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8" name="PlaceHolder 3"/>
          <p:cNvSpPr>
            <a:spLocks noGrp="1"/>
          </p:cNvSpPr>
          <p:nvPr>
            <p:ph/>
          </p:nvPr>
        </p:nvSpPr>
        <p:spPr>
          <a:xfrm>
            <a:off x="609480" y="3682080"/>
            <a:ext cx="109720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3E768628-6E6B-43D7-9A5F-39EC54500491}" type="slidenum">
              <a:t>&lt;#&gt;</a:t>
            </a:fld>
          </a:p>
        </p:txBody>
      </p:sp>
      <p:sp>
        <p:nvSpPr>
          <p:cNvPr id="7" name="PlaceHolder 6"/>
          <p:cNvSpPr>
            <a:spLocks noGrp="1"/>
          </p:cNvSpPr>
          <p:nvPr>
            <p:ph type="dt" idx="1"/>
          </p:nvPr>
        </p:nvSpPr>
        <p:spPr/>
        <p:txBody>
          <a:bodyPr/>
          <a:p>
            <a:r>
              <a:rPr lang="es-CO"/>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3"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B65DE3F6-3F1A-4735-9F0C-4D46E7FD48D1}" type="slidenum">
              <a:t>&lt;#&gt;</a:t>
            </a:fld>
          </a:p>
        </p:txBody>
      </p:sp>
      <p:sp>
        <p:nvSpPr>
          <p:cNvPr id="9" name="PlaceHolder 8"/>
          <p:cNvSpPr>
            <a:spLocks noGrp="1"/>
          </p:cNvSpPr>
          <p:nvPr>
            <p:ph type="dt" idx="1"/>
          </p:nvPr>
        </p:nvSpPr>
        <p:spPr/>
        <p:txBody>
          <a:bodyPr/>
          <a:p>
            <a:r>
              <a:rPr lang="es-CO"/>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5" name="PlaceHolder 2"/>
          <p:cNvSpPr>
            <a:spLocks noGrp="1"/>
          </p:cNvSpPr>
          <p:nvPr>
            <p:ph/>
          </p:nvPr>
        </p:nvSpPr>
        <p:spPr>
          <a:xfrm>
            <a:off x="609480" y="1604520"/>
            <a:ext cx="35326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6" name="PlaceHolder 3"/>
          <p:cNvSpPr>
            <a:spLocks noGrp="1"/>
          </p:cNvSpPr>
          <p:nvPr>
            <p:ph/>
          </p:nvPr>
        </p:nvSpPr>
        <p:spPr>
          <a:xfrm>
            <a:off x="4319280" y="1604520"/>
            <a:ext cx="35326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7" name="PlaceHolder 4"/>
          <p:cNvSpPr>
            <a:spLocks noGrp="1"/>
          </p:cNvSpPr>
          <p:nvPr>
            <p:ph/>
          </p:nvPr>
        </p:nvSpPr>
        <p:spPr>
          <a:xfrm>
            <a:off x="8028720" y="1604520"/>
            <a:ext cx="35326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8" name="PlaceHolder 5"/>
          <p:cNvSpPr>
            <a:spLocks noGrp="1"/>
          </p:cNvSpPr>
          <p:nvPr>
            <p:ph/>
          </p:nvPr>
        </p:nvSpPr>
        <p:spPr>
          <a:xfrm>
            <a:off x="609480" y="3682080"/>
            <a:ext cx="35326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9" name="PlaceHolder 6"/>
          <p:cNvSpPr>
            <a:spLocks noGrp="1"/>
          </p:cNvSpPr>
          <p:nvPr>
            <p:ph/>
          </p:nvPr>
        </p:nvSpPr>
        <p:spPr>
          <a:xfrm>
            <a:off x="4319280" y="3682080"/>
            <a:ext cx="35326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0" name="PlaceHolder 7"/>
          <p:cNvSpPr>
            <a:spLocks noGrp="1"/>
          </p:cNvSpPr>
          <p:nvPr>
            <p:ph/>
          </p:nvPr>
        </p:nvSpPr>
        <p:spPr>
          <a:xfrm>
            <a:off x="8028720" y="3682080"/>
            <a:ext cx="35326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D12F2D52-94DF-4BE8-BE4C-5C225E50AC9A}" type="slidenum">
              <a:t>&lt;#&gt;</a:t>
            </a:fld>
          </a:p>
        </p:txBody>
      </p:sp>
      <p:sp>
        <p:nvSpPr>
          <p:cNvPr id="11" name="PlaceHolder 10"/>
          <p:cNvSpPr>
            <a:spLocks noGrp="1"/>
          </p:cNvSpPr>
          <p:nvPr>
            <p:ph type="dt" idx="1"/>
          </p:nvPr>
        </p:nvSpPr>
        <p:spPr/>
        <p:txBody>
          <a:bodyPr/>
          <a:p>
            <a:r>
              <a:rPr lang="es-CO"/>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dt" idx="1"/>
          </p:nvPr>
        </p:nvSpPr>
        <p:spPr>
          <a:xfrm>
            <a:off x="457200" y="6356520"/>
            <a:ext cx="2133360" cy="364680"/>
          </a:xfrm>
          <a:prstGeom prst="rect">
            <a:avLst/>
          </a:prstGeom>
          <a:noFill/>
          <a:ln w="0">
            <a:noFill/>
          </a:ln>
        </p:spPr>
        <p:txBody>
          <a:bodyPr anchor="ctr">
            <a:noAutofit/>
          </a:bodyPr>
          <a:lstStyle>
            <a:lvl1pPr>
              <a:lnSpc>
                <a:spcPct val="100000"/>
              </a:lnSpc>
              <a:buNone/>
              <a:defRPr b="0" lang="en-US" sz="1200" spc="-1" strike="noStrike">
                <a:solidFill>
                  <a:srgbClr val="8b8b8b"/>
                </a:solidFill>
                <a:latin typeface="Calibri"/>
              </a:defRPr>
            </a:lvl1pPr>
          </a:lstStyle>
          <a:p>
            <a:pPr>
              <a:lnSpc>
                <a:spcPct val="100000"/>
              </a:lnSpc>
              <a:buNone/>
            </a:pPr>
            <a:r>
              <a:rPr b="0" lang="en-US" sz="1200" spc="-1" strike="noStrike">
                <a:solidFill>
                  <a:srgbClr val="8b8b8b"/>
                </a:solidFill>
                <a:latin typeface="Calibri"/>
              </a:rPr>
              <a:t>&lt;fecha/hora&gt;</a:t>
            </a:r>
            <a:endParaRPr b="0" lang="es-CO" sz="1200" spc="-1" strike="noStrike">
              <a:latin typeface="Times New Roman"/>
            </a:endParaRPr>
          </a:p>
        </p:txBody>
      </p:sp>
      <p:sp>
        <p:nvSpPr>
          <p:cNvPr id="1" name="PlaceHolder 2"/>
          <p:cNvSpPr>
            <a:spLocks noGrp="1"/>
          </p:cNvSpPr>
          <p:nvPr>
            <p:ph type="ftr" idx="2"/>
          </p:nvPr>
        </p:nvSpPr>
        <p:spPr>
          <a:xfrm>
            <a:off x="3124080" y="6356520"/>
            <a:ext cx="2895120" cy="364680"/>
          </a:xfrm>
          <a:prstGeom prst="rect">
            <a:avLst/>
          </a:prstGeom>
          <a:noFill/>
          <a:ln w="0">
            <a:noFill/>
          </a:ln>
        </p:spPr>
        <p:txBody>
          <a:bodyPr anchor="ctr">
            <a:noAutofit/>
          </a:bodyPr>
          <a:lstStyle>
            <a:lvl1pPr algn="ctr">
              <a:buNone/>
              <a:defRPr b="0" lang="es-CO" sz="1400" spc="-1" strike="noStrike">
                <a:latin typeface="Times New Roman"/>
              </a:defRPr>
            </a:lvl1pPr>
          </a:lstStyle>
          <a:p>
            <a:pPr algn="ctr">
              <a:buNone/>
            </a:pPr>
            <a:r>
              <a:rPr b="0" lang="es-CO" sz="1400" spc="-1" strike="noStrike">
                <a:latin typeface="Times New Roman"/>
              </a:rPr>
              <a:t>&lt;pie de página&gt;</a:t>
            </a:r>
            <a:endParaRPr b="0" lang="es-CO" sz="1400" spc="-1" strike="noStrike">
              <a:latin typeface="Times New Roman"/>
            </a:endParaRPr>
          </a:p>
        </p:txBody>
      </p:sp>
      <p:sp>
        <p:nvSpPr>
          <p:cNvPr id="2" name="PlaceHolder 3"/>
          <p:cNvSpPr>
            <a:spLocks noGrp="1"/>
          </p:cNvSpPr>
          <p:nvPr>
            <p:ph type="sldNum" idx="3"/>
          </p:nvPr>
        </p:nvSpPr>
        <p:spPr>
          <a:xfrm>
            <a:off x="6553080" y="6356520"/>
            <a:ext cx="2133360" cy="364680"/>
          </a:xfrm>
          <a:prstGeom prst="rect">
            <a:avLst/>
          </a:prstGeom>
          <a:noFill/>
          <a:ln w="0">
            <a:noFill/>
          </a:ln>
        </p:spPr>
        <p:txBody>
          <a:bodyPr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C840B443-9571-4397-8C1C-3E04020F736B}" type="slidenum">
              <a:rPr b="0" lang="en-US" sz="1200" spc="-1" strike="noStrike">
                <a:solidFill>
                  <a:srgbClr val="8b8b8b"/>
                </a:solidFill>
                <a:latin typeface="Calibri"/>
              </a:rPr>
              <a:t>&lt;número&gt;</a:t>
            </a:fld>
            <a:endParaRPr b="0" lang="es-CO" sz="1200" spc="-1" strike="noStrike">
              <a:latin typeface="Times New Roman"/>
            </a:endParaRPr>
          </a:p>
        </p:txBody>
      </p:sp>
      <p:sp>
        <p:nvSpPr>
          <p:cNvPr id="3"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r>
              <a:rPr b="0" lang="en-US" sz="1800" spc="-1" strike="noStrike">
                <a:solidFill>
                  <a:srgbClr val="000000"/>
                </a:solidFill>
                <a:latin typeface="Calibri"/>
              </a:rPr>
              <a:t>Pulse para editar el formato del texto de título</a:t>
            </a:r>
            <a:endParaRPr b="0" lang="en-US" sz="1800" spc="-1" strike="noStrike">
              <a:solidFill>
                <a:srgbClr val="000000"/>
              </a:solidFill>
              <a:latin typeface="Calibri"/>
            </a:endParaRPr>
          </a:p>
        </p:txBody>
      </p:sp>
      <p:sp>
        <p:nvSpPr>
          <p:cNvPr id="4"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Pulse para editar el formato de texto del esquema</a:t>
            </a:r>
            <a:endParaRPr b="0" lang="en-US"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Calibri"/>
              </a:rPr>
              <a:t>Segundo nivel del esquema</a:t>
            </a:r>
            <a:endParaRPr b="0" lang="en-US"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Calibri"/>
              </a:rPr>
              <a:t>Tercer nivel del esquema</a:t>
            </a:r>
            <a:endParaRPr b="0" lang="en-US"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Calibri"/>
              </a:rPr>
              <a:t>Cuarto nivel del esquema</a:t>
            </a:r>
            <a:endParaRPr b="0" lang="en-US"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Quinto nivel del esquema</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Sexto nivel del esquema</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Séptimo nivel del esquema</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slideLayout" Target="../slideLayouts/slideLayout1.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jpeg"/><Relationship Id="rId3" Type="http://schemas.openxmlformats.org/officeDocument/2006/relationships/image" Target="../media/image5.jpeg"/><Relationship Id="rId4" Type="http://schemas.openxmlformats.org/officeDocument/2006/relationships/image" Target="../media/image6.jpeg"/><Relationship Id="rId5" Type="http://schemas.openxmlformats.org/officeDocument/2006/relationships/slideLayout" Target="../slideLayouts/slideLayout1.xml"/><Relationship Id="rId6"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1d30"/>
        </a:solidFill>
      </p:bgPr>
    </p:bg>
    <p:spTree>
      <p:nvGrpSpPr>
        <p:cNvPr id="1" name=""/>
        <p:cNvGrpSpPr/>
        <p:nvPr/>
      </p:nvGrpSpPr>
      <p:grpSpPr>
        <a:xfrm>
          <a:off x="0" y="0"/>
          <a:ext cx="0" cy="0"/>
          <a:chOff x="0" y="0"/>
          <a:chExt cx="0" cy="0"/>
        </a:xfrm>
      </p:grpSpPr>
      <p:sp>
        <p:nvSpPr>
          <p:cNvPr id="47" name="Rectangle 1"/>
          <p:cNvSpPr/>
          <p:nvPr/>
        </p:nvSpPr>
        <p:spPr>
          <a:xfrm>
            <a:off x="411480" y="411480"/>
            <a:ext cx="91080" cy="685440"/>
          </a:xfrm>
          <a:prstGeom prst="rect">
            <a:avLst/>
          </a:prstGeom>
          <a:solidFill>
            <a:srgbClr val="4ed3b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8" name="TextBox 2"/>
          <p:cNvSpPr/>
          <p:nvPr/>
        </p:nvSpPr>
        <p:spPr>
          <a:xfrm>
            <a:off x="685800" y="320040"/>
            <a:ext cx="109724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1" lang="es-CO" sz="2600" spc="-1" strike="noStrike">
                <a:solidFill>
                  <a:srgbClr val="f3f6fa"/>
                </a:solidFill>
                <a:latin typeface="Aptos"/>
              </a:rPr>
              <a:t>Nuestro robot: qué hemos logrado</a:t>
            </a:r>
            <a:endParaRPr b="0" lang="es-CO" sz="2600" spc="-1" strike="noStrike">
              <a:latin typeface="Arial"/>
            </a:endParaRPr>
          </a:p>
        </p:txBody>
      </p:sp>
      <p:sp>
        <p:nvSpPr>
          <p:cNvPr id="49" name="TextBox 3"/>
          <p:cNvSpPr/>
          <p:nvPr/>
        </p:nvSpPr>
        <p:spPr>
          <a:xfrm>
            <a:off x="713160" y="960120"/>
            <a:ext cx="10881000" cy="33300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600" spc="-1" strike="noStrike">
                <a:solidFill>
                  <a:srgbClr val="b8c6d8"/>
                </a:solidFill>
                <a:latin typeface="Aptos"/>
              </a:rPr>
              <a:t>Nova Spot Micro · Control del movimiento y del equilibrio</a:t>
            </a:r>
            <a:endParaRPr b="0" lang="es-CO" sz="1600" spc="-1" strike="noStrike">
              <a:latin typeface="Arial"/>
            </a:endParaRPr>
          </a:p>
        </p:txBody>
      </p:sp>
      <p:sp>
        <p:nvSpPr>
          <p:cNvPr id="50" name="TextBox 4"/>
          <p:cNvSpPr/>
          <p:nvPr/>
        </p:nvSpPr>
        <p:spPr>
          <a:xfrm>
            <a:off x="685800" y="6473880"/>
            <a:ext cx="1005804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000" spc="-1" strike="noStrike">
                <a:solidFill>
                  <a:srgbClr val="b8c6d8"/>
                </a:solidFill>
                <a:latin typeface="Aptos"/>
              </a:rPr>
              <a:t>NOVA SPOT MICRO  ·  Proyecto de Grado II  ·  07 septiembre 2026</a:t>
            </a:r>
            <a:endParaRPr b="0" lang="es-CO" sz="1000" spc="-1" strike="noStrike">
              <a:latin typeface="Arial"/>
            </a:endParaRPr>
          </a:p>
        </p:txBody>
      </p:sp>
      <p:sp>
        <p:nvSpPr>
          <p:cNvPr id="51" name="TextBox 5"/>
          <p:cNvSpPr/>
          <p:nvPr/>
        </p:nvSpPr>
        <p:spPr>
          <a:xfrm>
            <a:off x="10972800" y="6437520"/>
            <a:ext cx="639720" cy="27216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200" spc="-1" strike="noStrike">
                <a:solidFill>
                  <a:srgbClr val="4ed3ba"/>
                </a:solidFill>
                <a:latin typeface="Aptos"/>
              </a:rPr>
              <a:t>1/7</a:t>
            </a:r>
            <a:endParaRPr b="0" lang="es-CO" sz="1200" spc="-1" strike="noStrike">
              <a:latin typeface="Arial"/>
            </a:endParaRPr>
          </a:p>
        </p:txBody>
      </p:sp>
      <p:sp>
        <p:nvSpPr>
          <p:cNvPr id="52" name="TextBox 6"/>
          <p:cNvSpPr/>
          <p:nvPr/>
        </p:nvSpPr>
        <p:spPr>
          <a:xfrm>
            <a:off x="731520" y="1536120"/>
            <a:ext cx="4663080" cy="145908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500" spc="-1" strike="noStrike">
                <a:solidFill>
                  <a:srgbClr val="f3f6fa"/>
                </a:solidFill>
                <a:latin typeface="Aptos"/>
              </a:rPr>
              <a:t>Desarrollar un sistema de control para la plataforma cuadrúpedo Spot Micro que integre aprendizaje por refuerzo para su ejecución y estabilización en los diferentes modos de locomoción tipo paso y gateo en condiciones de entorno controladas.</a:t>
            </a:r>
            <a:endParaRPr b="0" lang="es-CO" sz="1500" spc="-1" strike="noStrike">
              <a:latin typeface="Arial"/>
            </a:endParaRPr>
          </a:p>
        </p:txBody>
      </p:sp>
      <p:sp>
        <p:nvSpPr>
          <p:cNvPr id="53" name="Rectangle 7"/>
          <p:cNvSpPr/>
          <p:nvPr/>
        </p:nvSpPr>
        <p:spPr>
          <a:xfrm>
            <a:off x="731520" y="3383280"/>
            <a:ext cx="4663080" cy="2422800"/>
          </a:xfrm>
          <a:prstGeom prst="rect">
            <a:avLst/>
          </a:prstGeom>
          <a:solidFill>
            <a:srgbClr val="1c304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4" name="TextBox 8"/>
          <p:cNvSpPr/>
          <p:nvPr/>
        </p:nvSpPr>
        <p:spPr>
          <a:xfrm>
            <a:off x="914400" y="3520440"/>
            <a:ext cx="4297320" cy="37908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1" lang="es-CO" sz="1900" spc="-1" strike="noStrike">
                <a:solidFill>
                  <a:srgbClr val="4ed3ba"/>
                </a:solidFill>
                <a:latin typeface="Aptos"/>
              </a:rPr>
              <a:t>Ahora: pruebas del robot real</a:t>
            </a:r>
            <a:endParaRPr b="0" lang="es-CO" sz="1900" spc="-1" strike="noStrike">
              <a:latin typeface="Arial"/>
            </a:endParaRPr>
          </a:p>
        </p:txBody>
      </p:sp>
      <p:sp>
        <p:nvSpPr>
          <p:cNvPr id="55" name="TextBox 9"/>
          <p:cNvSpPr/>
          <p:nvPr/>
        </p:nvSpPr>
        <p:spPr>
          <a:xfrm>
            <a:off x="914400" y="4160520"/>
            <a:ext cx="4297320" cy="157572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700" spc="-1" strike="noStrike">
                <a:solidFill>
                  <a:srgbClr val="f3f6fa"/>
                </a:solidFill>
                <a:latin typeface="Aptos"/>
              </a:rPr>
              <a:t>El robot camina en simulación.</a:t>
            </a:r>
            <a:endParaRPr b="0" lang="es-CO" sz="1700" spc="-1" strike="noStrike">
              <a:latin typeface="Arial"/>
            </a:endParaRPr>
          </a:p>
          <a:p>
            <a:pPr>
              <a:lnSpc>
                <a:spcPct val="100000"/>
              </a:lnSpc>
              <a:spcAft>
                <a:spcPts val="499"/>
              </a:spcAft>
              <a:buNone/>
            </a:pPr>
            <a:r>
              <a:rPr b="0" lang="es-CO" sz="1700" spc="-1" strike="noStrike">
                <a:solidFill>
                  <a:srgbClr val="f3f6fa"/>
                </a:solidFill>
                <a:latin typeface="Aptos"/>
              </a:rPr>
              <a:t>Los 12 motores respondieron.</a:t>
            </a:r>
            <a:endParaRPr b="0" lang="es-CO" sz="1700" spc="-1" strike="noStrike">
              <a:latin typeface="Arial"/>
            </a:endParaRPr>
          </a:p>
          <a:p>
            <a:pPr>
              <a:lnSpc>
                <a:spcPct val="100000"/>
              </a:lnSpc>
              <a:spcAft>
                <a:spcPts val="499"/>
              </a:spcAft>
              <a:buNone/>
            </a:pPr>
            <a:r>
              <a:rPr b="0" lang="es-CO" sz="1700" spc="-1" strike="noStrike">
                <a:solidFill>
                  <a:srgbClr val="f3f6fa"/>
                </a:solidFill>
                <a:latin typeface="Aptos"/>
              </a:rPr>
              <a:t>Las pruebas físicas se pausaron por exceso de corriente.</a:t>
            </a:r>
            <a:endParaRPr b="0" lang="es-CO" sz="1700" spc="-1" strike="noStrike">
              <a:latin typeface="Arial"/>
            </a:endParaRPr>
          </a:p>
          <a:p>
            <a:pPr>
              <a:lnSpc>
                <a:spcPct val="100000"/>
              </a:lnSpc>
              <a:spcAft>
                <a:spcPts val="499"/>
              </a:spcAft>
              <a:buNone/>
            </a:pPr>
            <a:r>
              <a:rPr b="0" lang="es-CO" sz="1700" spc="-1" strike="noStrike">
                <a:solidFill>
                  <a:srgbClr val="f3f6fa"/>
                </a:solidFill>
                <a:latin typeface="Aptos"/>
              </a:rPr>
              <a:t>Falta resolver la causa.</a:t>
            </a:r>
            <a:endParaRPr b="0" lang="es-CO" sz="1700" spc="-1" strike="noStrike">
              <a:latin typeface="Arial"/>
            </a:endParaRPr>
          </a:p>
        </p:txBody>
      </p:sp>
      <p:sp>
        <p:nvSpPr>
          <p:cNvPr id="56" name="Rectangle 10"/>
          <p:cNvSpPr/>
          <p:nvPr/>
        </p:nvSpPr>
        <p:spPr>
          <a:xfrm>
            <a:off x="5623560" y="1691640"/>
            <a:ext cx="2331360" cy="4114440"/>
          </a:xfrm>
          <a:prstGeom prst="rect">
            <a:avLst/>
          </a:prstGeom>
          <a:solidFill>
            <a:srgbClr val="1c304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pic>
        <p:nvPicPr>
          <p:cNvPr id="57" name="Picture 11" descr="1.jpeg"/>
          <p:cNvPicPr/>
          <p:nvPr/>
        </p:nvPicPr>
        <p:blipFill>
          <a:blip r:embed="rId1"/>
          <a:stretch/>
        </p:blipFill>
        <p:spPr>
          <a:xfrm>
            <a:off x="5632200" y="1691640"/>
            <a:ext cx="2314080" cy="4114440"/>
          </a:xfrm>
          <a:prstGeom prst="rect">
            <a:avLst/>
          </a:prstGeom>
          <a:ln w="0">
            <a:noFill/>
          </a:ln>
        </p:spPr>
      </p:pic>
      <p:sp>
        <p:nvSpPr>
          <p:cNvPr id="58" name="TextBox 12"/>
          <p:cNvSpPr/>
          <p:nvPr/>
        </p:nvSpPr>
        <p:spPr>
          <a:xfrm>
            <a:off x="5623560" y="5861160"/>
            <a:ext cx="2331360" cy="2570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100" spc="-1" strike="noStrike">
                <a:solidFill>
                  <a:srgbClr val="b8c6d8"/>
                </a:solidFill>
                <a:latin typeface="Aptos"/>
              </a:rPr>
              <a:t>1 · Vista general del robot</a:t>
            </a:r>
            <a:endParaRPr b="0" lang="es-CO" sz="1100" spc="-1" strike="noStrike">
              <a:latin typeface="Arial"/>
            </a:endParaRPr>
          </a:p>
        </p:txBody>
      </p:sp>
      <p:sp>
        <p:nvSpPr>
          <p:cNvPr id="59" name="Rectangle 13"/>
          <p:cNvSpPr/>
          <p:nvPr/>
        </p:nvSpPr>
        <p:spPr>
          <a:xfrm>
            <a:off x="8138160" y="1691640"/>
            <a:ext cx="3309840" cy="2486880"/>
          </a:xfrm>
          <a:prstGeom prst="rect">
            <a:avLst/>
          </a:prstGeom>
          <a:solidFill>
            <a:srgbClr val="1c304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pic>
        <p:nvPicPr>
          <p:cNvPr id="60" name="Picture 14" descr="5.jpeg"/>
          <p:cNvPicPr/>
          <p:nvPr/>
        </p:nvPicPr>
        <p:blipFill>
          <a:blip r:embed="rId2"/>
          <a:stretch/>
        </p:blipFill>
        <p:spPr>
          <a:xfrm>
            <a:off x="8138160" y="1693800"/>
            <a:ext cx="3309840" cy="2482200"/>
          </a:xfrm>
          <a:prstGeom prst="rect">
            <a:avLst/>
          </a:prstGeom>
          <a:ln w="0">
            <a:noFill/>
          </a:ln>
        </p:spPr>
      </p:pic>
      <p:sp>
        <p:nvSpPr>
          <p:cNvPr id="61" name="TextBox 15"/>
          <p:cNvSpPr/>
          <p:nvPr/>
        </p:nvSpPr>
        <p:spPr>
          <a:xfrm>
            <a:off x="8138160" y="4233600"/>
            <a:ext cx="3309840" cy="2570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100" spc="-1" strike="noStrike">
                <a:solidFill>
                  <a:srgbClr val="b8c6d8"/>
                </a:solidFill>
                <a:latin typeface="Aptos"/>
              </a:rPr>
              <a:t>5 · Electrónica y conexiones en banco</a:t>
            </a:r>
            <a:endParaRPr b="0" lang="es-CO" sz="1100" spc="-1" strike="noStrike">
              <a:latin typeface="Arial"/>
            </a:endParaRPr>
          </a:p>
        </p:txBody>
      </p:sp>
      <p:sp>
        <p:nvSpPr>
          <p:cNvPr id="62" name="TextBox 16"/>
          <p:cNvSpPr/>
          <p:nvPr/>
        </p:nvSpPr>
        <p:spPr>
          <a:xfrm>
            <a:off x="8138160" y="4617720"/>
            <a:ext cx="3309840" cy="93060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700" spc="-1" strike="noStrike">
                <a:solidFill>
                  <a:srgbClr val="4ed3ba"/>
                </a:solidFill>
                <a:latin typeface="Aptos"/>
              </a:rPr>
              <a:t>Ya tenemos el prototipo.</a:t>
            </a:r>
            <a:endParaRPr b="0" lang="es-CO" sz="1700" spc="-1" strike="noStrike">
              <a:latin typeface="Arial"/>
            </a:endParaRPr>
          </a:p>
          <a:p>
            <a:pPr>
              <a:lnSpc>
                <a:spcPct val="100000"/>
              </a:lnSpc>
              <a:spcAft>
                <a:spcPts val="499"/>
              </a:spcAft>
              <a:buNone/>
            </a:pPr>
            <a:r>
              <a:rPr b="0" lang="es-CO" sz="1700" spc="-1" strike="noStrike">
                <a:solidFill>
                  <a:srgbClr val="4ed3ba"/>
                </a:solidFill>
                <a:latin typeface="Aptos"/>
              </a:rPr>
              <a:t>Falta comprobar que camina de forma segura.</a:t>
            </a:r>
            <a:endParaRPr b="0" lang="es-CO" sz="1700" spc="-1" strike="noStrike">
              <a:latin typeface="Arial"/>
            </a:endParaRPr>
          </a:p>
        </p:txBody>
      </p:sp>
      <p:sp>
        <p:nvSpPr>
          <p:cNvPr id="63" name="TextBox 17"/>
          <p:cNvSpPr/>
          <p:nvPr/>
        </p:nvSpPr>
        <p:spPr>
          <a:xfrm>
            <a:off x="731520" y="6035040"/>
            <a:ext cx="10789560" cy="31788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500" spc="-1" strike="noStrike">
                <a:solidFill>
                  <a:srgbClr val="b8c6d8"/>
                </a:solidFill>
                <a:latin typeface="Aptos"/>
              </a:rPr>
              <a:t>David Esteban Díaz Castro · David Felipe Díaz Suesca</a:t>
            </a:r>
            <a:endParaRPr b="0" lang="es-CO" sz="15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1d30"/>
        </a:solidFill>
      </p:bgPr>
    </p:bg>
    <p:spTree>
      <p:nvGrpSpPr>
        <p:cNvPr id="1" name=""/>
        <p:cNvGrpSpPr/>
        <p:nvPr/>
      </p:nvGrpSpPr>
      <p:grpSpPr>
        <a:xfrm>
          <a:off x="0" y="0"/>
          <a:ext cx="0" cy="0"/>
          <a:chOff x="0" y="0"/>
          <a:chExt cx="0" cy="0"/>
        </a:xfrm>
      </p:grpSpPr>
      <p:sp>
        <p:nvSpPr>
          <p:cNvPr id="64" name="Rectangle 1"/>
          <p:cNvSpPr/>
          <p:nvPr/>
        </p:nvSpPr>
        <p:spPr>
          <a:xfrm>
            <a:off x="411480" y="411480"/>
            <a:ext cx="91080" cy="685440"/>
          </a:xfrm>
          <a:prstGeom prst="rect">
            <a:avLst/>
          </a:prstGeom>
          <a:solidFill>
            <a:srgbClr val="4ed3b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5" name="TextBox 2"/>
          <p:cNvSpPr/>
          <p:nvPr/>
        </p:nvSpPr>
        <p:spPr>
          <a:xfrm>
            <a:off x="685800" y="320040"/>
            <a:ext cx="109724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1" lang="es-CO" sz="2600" spc="-1" strike="noStrike">
                <a:solidFill>
                  <a:srgbClr val="f3f6fa"/>
                </a:solidFill>
                <a:latin typeface="Aptos"/>
              </a:rPr>
              <a:t>Objetivos: qué está cumplido y qué falta</a:t>
            </a:r>
            <a:endParaRPr b="0" lang="es-CO" sz="2600" spc="-1" strike="noStrike">
              <a:latin typeface="Arial"/>
            </a:endParaRPr>
          </a:p>
        </p:txBody>
      </p:sp>
      <p:sp>
        <p:nvSpPr>
          <p:cNvPr id="66" name="TextBox 3"/>
          <p:cNvSpPr/>
          <p:nvPr/>
        </p:nvSpPr>
        <p:spPr>
          <a:xfrm>
            <a:off x="713160" y="960120"/>
            <a:ext cx="10881000" cy="33300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600" spc="-1" strike="noStrike">
                <a:solidFill>
                  <a:srgbClr val="b8c6d8"/>
                </a:solidFill>
                <a:latin typeface="Aptos"/>
              </a:rPr>
              <a:t>Cuatro objetivos suministrados por el grupo. Ninguno está cerrado al 100 %; el avance es estimado.</a:t>
            </a:r>
            <a:endParaRPr b="0" lang="es-CO" sz="1600" spc="-1" strike="noStrike">
              <a:latin typeface="Arial"/>
            </a:endParaRPr>
          </a:p>
        </p:txBody>
      </p:sp>
      <p:sp>
        <p:nvSpPr>
          <p:cNvPr id="67" name="TextBox 4"/>
          <p:cNvSpPr/>
          <p:nvPr/>
        </p:nvSpPr>
        <p:spPr>
          <a:xfrm>
            <a:off x="685800" y="6473880"/>
            <a:ext cx="1005804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000" spc="-1" strike="noStrike">
                <a:solidFill>
                  <a:srgbClr val="b8c6d8"/>
                </a:solidFill>
                <a:latin typeface="Aptos"/>
              </a:rPr>
              <a:t>NOVA SPOT MICRO  ·  Proyecto de Grado II  ·  07 septiembre 2026</a:t>
            </a:r>
            <a:endParaRPr b="0" lang="es-CO" sz="1000" spc="-1" strike="noStrike">
              <a:latin typeface="Arial"/>
            </a:endParaRPr>
          </a:p>
        </p:txBody>
      </p:sp>
      <p:sp>
        <p:nvSpPr>
          <p:cNvPr id="68" name="TextBox 5"/>
          <p:cNvSpPr/>
          <p:nvPr/>
        </p:nvSpPr>
        <p:spPr>
          <a:xfrm>
            <a:off x="10972800" y="6437520"/>
            <a:ext cx="639720" cy="27216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200" spc="-1" strike="noStrike">
                <a:solidFill>
                  <a:srgbClr val="4ed3ba"/>
                </a:solidFill>
                <a:latin typeface="Aptos"/>
              </a:rPr>
              <a:t>3/7</a:t>
            </a:r>
            <a:endParaRPr b="0" lang="es-CO" sz="1200" spc="-1" strike="noStrike">
              <a:latin typeface="Arial"/>
            </a:endParaRPr>
          </a:p>
        </p:txBody>
      </p:sp>
      <p:graphicFrame>
        <p:nvGraphicFramePr>
          <p:cNvPr id="69" name="Table 6"/>
          <p:cNvGraphicFramePr/>
          <p:nvPr/>
        </p:nvGraphicFramePr>
        <p:xfrm>
          <a:off x="731520" y="1691640"/>
          <a:ext cx="10743840" cy="4297320"/>
        </p:xfrm>
        <a:graphic>
          <a:graphicData uri="http://schemas.openxmlformats.org/drawingml/2006/table">
            <a:tbl>
              <a:tblPr/>
              <a:tblGrid>
                <a:gridCol w="6446520"/>
                <a:gridCol w="1508760"/>
                <a:gridCol w="2788920"/>
              </a:tblGrid>
              <a:tr h="457200">
                <a:tc>
                  <a:txBody>
                    <a:bodyPr tIns="27360" bIns="27360" anchor="t">
                      <a:noAutofit/>
                    </a:bodyPr>
                    <a:p>
                      <a:pPr>
                        <a:lnSpc>
                          <a:spcPct val="100000"/>
                        </a:lnSpc>
                        <a:buNone/>
                      </a:pPr>
                      <a:r>
                        <a:rPr b="1" lang="es-CO" sz="1200" spc="-1" strike="noStrike">
                          <a:solidFill>
                            <a:srgbClr val="f3f6fa"/>
                          </a:solidFill>
                          <a:latin typeface="Aptos"/>
                        </a:rPr>
                        <a:t>Objetivo específico (texto original)</a:t>
                      </a:r>
                      <a:endParaRPr b="0" lang="es-CO"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28475f"/>
                    </a:solidFill>
                  </a:tcPr>
                </a:tc>
                <a:tc>
                  <a:txBody>
                    <a:bodyPr tIns="27360" bIns="27360" anchor="t">
                      <a:noAutofit/>
                    </a:bodyPr>
                    <a:p>
                      <a:pPr>
                        <a:lnSpc>
                          <a:spcPct val="100000"/>
                        </a:lnSpc>
                        <a:buNone/>
                      </a:pPr>
                      <a:r>
                        <a:rPr b="1" lang="en-US" sz="1300" spc="-1" strike="noStrike">
                          <a:solidFill>
                            <a:srgbClr val="4ed3ba"/>
                          </a:solidFill>
                          <a:latin typeface="Aptos"/>
                        </a:rPr>
                        <a:t>Estado / avance</a:t>
                      </a:r>
                      <a:endParaRPr b="0" lang="es-CO" sz="13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28475f"/>
                    </a:solidFill>
                  </a:tcPr>
                </a:tc>
                <a:tc>
                  <a:txBody>
                    <a:bodyPr tIns="27360" bIns="27360" anchor="t">
                      <a:noAutofit/>
                    </a:bodyPr>
                    <a:p>
                      <a:pPr>
                        <a:lnSpc>
                          <a:spcPct val="100000"/>
                        </a:lnSpc>
                        <a:buNone/>
                      </a:pPr>
                      <a:r>
                        <a:rPr b="1" lang="en-US" sz="1300" spc="-1" strike="noStrike">
                          <a:solidFill>
                            <a:srgbClr val="f3f6fa"/>
                          </a:solidFill>
                          <a:latin typeface="Aptos"/>
                        </a:rPr>
                        <a:t>¿Qué falta para cumplirlo?</a:t>
                      </a:r>
                      <a:endParaRPr b="0" lang="es-CO" sz="13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28475f"/>
                    </a:solidFill>
                  </a:tcPr>
                </a:tc>
              </a:tr>
              <a:tr h="960120">
                <a:tc>
                  <a:txBody>
                    <a:bodyPr tIns="27360" bIns="27360" anchor="t">
                      <a:noAutofit/>
                    </a:bodyPr>
                    <a:p>
                      <a:pPr>
                        <a:lnSpc>
                          <a:spcPct val="100000"/>
                        </a:lnSpc>
                        <a:buNone/>
                      </a:pPr>
                      <a:r>
                        <a:rPr b="0" lang="en-US" sz="1200" spc="-1" strike="noStrike">
                          <a:solidFill>
                            <a:srgbClr val="f3f6fa"/>
                          </a:solidFill>
                          <a:latin typeface="Aptos"/>
                        </a:rPr>
                        <a:t>OE1 · Implementar el hardware y software necesario para la ejecución de movimiento de las extremidades de la plataforma spot micro con la que cuenta el laboratorio de robótica, siguiendo la documentación técnica del fabricante.</a:t>
                      </a:r>
                      <a:endParaRPr b="0" lang="es-CO"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1c3049"/>
                    </a:solidFill>
                  </a:tcPr>
                </a:tc>
                <a:tc>
                  <a:txBody>
                    <a:bodyPr tIns="27360" bIns="27360" anchor="t">
                      <a:noAutofit/>
                    </a:bodyPr>
                    <a:p>
                      <a:pPr>
                        <a:lnSpc>
                          <a:spcPct val="100000"/>
                        </a:lnSpc>
                        <a:buNone/>
                      </a:pPr>
                      <a:r>
                        <a:rPr b="1" lang="en-US" sz="1300" spc="-1" strike="noStrike">
                          <a:solidFill>
                            <a:srgbClr val="4ed3ba"/>
                          </a:solidFill>
                          <a:latin typeface="Aptos"/>
                        </a:rPr>
                        <a:t>Parcial</a:t>
                      </a:r>
                      <a:endParaRPr b="0" lang="es-CO" sz="1300" spc="-1" strike="noStrike">
                        <a:latin typeface="Arial"/>
                      </a:endParaRPr>
                    </a:p>
                    <a:p>
                      <a:pPr>
                        <a:lnSpc>
                          <a:spcPct val="100000"/>
                        </a:lnSpc>
                        <a:buNone/>
                      </a:pPr>
                      <a:r>
                        <a:rPr b="1" lang="en-US" sz="1300" spc="-1" strike="noStrike">
                          <a:solidFill>
                            <a:srgbClr val="4ed3ba"/>
                          </a:solidFill>
                          <a:latin typeface="Aptos"/>
                        </a:rPr>
                        <a:t>70 %</a:t>
                      </a:r>
                      <a:endParaRPr b="0" lang="es-CO" sz="13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1c3049"/>
                    </a:solidFill>
                  </a:tcPr>
                </a:tc>
                <a:tc>
                  <a:txBody>
                    <a:bodyPr tIns="27360" bIns="27360" anchor="t">
                      <a:noAutofit/>
                    </a:bodyPr>
                    <a:p>
                      <a:pPr>
                        <a:lnSpc>
                          <a:spcPct val="100000"/>
                        </a:lnSpc>
                        <a:buNone/>
                      </a:pPr>
                      <a:r>
                        <a:rPr b="0" lang="en-US" sz="1300" spc="-1" strike="noStrike">
                          <a:solidFill>
                            <a:srgbClr val="f3f6fa"/>
                          </a:solidFill>
                          <a:latin typeface="Aptos"/>
                        </a:rPr>
                        <a:t>Resolver sobrecarga, calibrar y validar el movimiento real.</a:t>
                      </a:r>
                      <a:endParaRPr b="0" lang="es-CO" sz="13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1c3049"/>
                    </a:solidFill>
                  </a:tcPr>
                </a:tc>
              </a:tr>
              <a:tr h="960120">
                <a:tc>
                  <a:txBody>
                    <a:bodyPr tIns="27360" bIns="27360" anchor="t">
                      <a:noAutofit/>
                    </a:bodyPr>
                    <a:p>
                      <a:pPr>
                        <a:lnSpc>
                          <a:spcPct val="100000"/>
                        </a:lnSpc>
                        <a:buNone/>
                      </a:pPr>
                      <a:r>
                        <a:rPr b="0" lang="en-US" sz="1200" spc="-1" strike="noStrike">
                          <a:solidFill>
                            <a:srgbClr val="f3f6fa"/>
                          </a:solidFill>
                          <a:latin typeface="Aptos"/>
                        </a:rPr>
                        <a:t>OE2 · Modelar comportamiento cinemático y dinámico de la plataforma para simulación y posterior diseño a partir de la literatura y estudios previos sobre robots cuadrúpedos.</a:t>
                      </a:r>
                      <a:endParaRPr b="0" lang="es-CO"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1c3049"/>
                    </a:solidFill>
                  </a:tcPr>
                </a:tc>
                <a:tc>
                  <a:txBody>
                    <a:bodyPr tIns="27360" bIns="27360" anchor="t">
                      <a:noAutofit/>
                    </a:bodyPr>
                    <a:p>
                      <a:pPr>
                        <a:lnSpc>
                          <a:spcPct val="100000"/>
                        </a:lnSpc>
                        <a:buNone/>
                      </a:pPr>
                      <a:r>
                        <a:rPr b="1" lang="en-US" sz="1300" spc="-1" strike="noStrike">
                          <a:solidFill>
                            <a:srgbClr val="4ed3ba"/>
                          </a:solidFill>
                          <a:latin typeface="Aptos"/>
                        </a:rPr>
                        <a:t>Parcial</a:t>
                      </a:r>
                      <a:endParaRPr b="0" lang="es-CO" sz="1300" spc="-1" strike="noStrike">
                        <a:latin typeface="Arial"/>
                      </a:endParaRPr>
                    </a:p>
                    <a:p>
                      <a:pPr>
                        <a:lnSpc>
                          <a:spcPct val="100000"/>
                        </a:lnSpc>
                        <a:buNone/>
                      </a:pPr>
                      <a:r>
                        <a:rPr b="1" lang="en-US" sz="1300" spc="-1" strike="noStrike">
                          <a:solidFill>
                            <a:srgbClr val="4ed3ba"/>
                          </a:solidFill>
                          <a:latin typeface="Aptos"/>
                        </a:rPr>
                        <a:t>75 %</a:t>
                      </a:r>
                      <a:endParaRPr b="0" lang="es-CO" sz="13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1c3049"/>
                    </a:solidFill>
                  </a:tcPr>
                </a:tc>
                <a:tc>
                  <a:txBody>
                    <a:bodyPr tIns="27360" bIns="27360" anchor="t">
                      <a:noAutofit/>
                    </a:bodyPr>
                    <a:p>
                      <a:pPr>
                        <a:lnSpc>
                          <a:spcPct val="100000"/>
                        </a:lnSpc>
                        <a:buNone/>
                      </a:pPr>
                      <a:r>
                        <a:rPr b="0" lang="en-US" sz="1300" spc="-1" strike="noStrike">
                          <a:solidFill>
                            <a:srgbClr val="f3f6fa"/>
                          </a:solidFill>
                          <a:latin typeface="Aptos"/>
                        </a:rPr>
                        <a:t>Contrastar parámetros físicos y validar el modelo.</a:t>
                      </a:r>
                      <a:endParaRPr b="0" lang="es-CO" sz="13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1c3049"/>
                    </a:solidFill>
                  </a:tcPr>
                </a:tc>
              </a:tr>
              <a:tr h="960120">
                <a:tc>
                  <a:txBody>
                    <a:bodyPr tIns="27360" bIns="27360" anchor="t">
                      <a:noAutofit/>
                    </a:bodyPr>
                    <a:p>
                      <a:pPr>
                        <a:lnSpc>
                          <a:spcPct val="100000"/>
                        </a:lnSpc>
                        <a:buNone/>
                      </a:pPr>
                      <a:r>
                        <a:rPr b="0" lang="en-US" sz="1200" spc="-1" strike="noStrike">
                          <a:solidFill>
                            <a:srgbClr val="f3f6fa"/>
                          </a:solidFill>
                          <a:latin typeface="Aptos"/>
                        </a:rPr>
                        <a:t>OE3 · Diseñar una estrategia de control basada en aprendizaje automático para la coordinación del movimiento del robot, garantizando estabilidad y continuidad durante los modos de locomoción tipo paso y gateo.</a:t>
                      </a:r>
                      <a:endParaRPr b="0" lang="es-CO"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1c3049"/>
                    </a:solidFill>
                  </a:tcPr>
                </a:tc>
                <a:tc>
                  <a:txBody>
                    <a:bodyPr tIns="27360" bIns="27360" anchor="t">
                      <a:noAutofit/>
                    </a:bodyPr>
                    <a:p>
                      <a:pPr>
                        <a:lnSpc>
                          <a:spcPct val="100000"/>
                        </a:lnSpc>
                        <a:buNone/>
                      </a:pPr>
                      <a:r>
                        <a:rPr b="1" lang="en-US" sz="1300" spc="-1" strike="noStrike">
                          <a:solidFill>
                            <a:srgbClr val="4ed3ba"/>
                          </a:solidFill>
                          <a:latin typeface="Aptos"/>
                        </a:rPr>
                        <a:t>Parcial</a:t>
                      </a:r>
                      <a:endParaRPr b="0" lang="es-CO" sz="1300" spc="-1" strike="noStrike">
                        <a:latin typeface="Arial"/>
                      </a:endParaRPr>
                    </a:p>
                    <a:p>
                      <a:pPr>
                        <a:lnSpc>
                          <a:spcPct val="100000"/>
                        </a:lnSpc>
                        <a:buNone/>
                      </a:pPr>
                      <a:r>
                        <a:rPr b="1" lang="en-US" sz="1300" spc="-1" strike="noStrike">
                          <a:solidFill>
                            <a:srgbClr val="4ed3ba"/>
                          </a:solidFill>
                          <a:latin typeface="Aptos"/>
                        </a:rPr>
                        <a:t>50 %</a:t>
                      </a:r>
                      <a:endParaRPr b="0" lang="es-CO" sz="13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1c3049"/>
                    </a:solidFill>
                  </a:tcPr>
                </a:tc>
                <a:tc>
                  <a:txBody>
                    <a:bodyPr tIns="27360" bIns="27360" anchor="t">
                      <a:noAutofit/>
                    </a:bodyPr>
                    <a:p>
                      <a:pPr>
                        <a:lnSpc>
                          <a:spcPct val="100000"/>
                        </a:lnSpc>
                        <a:buNone/>
                      </a:pPr>
                      <a:r>
                        <a:rPr b="0" lang="en-US" sz="1300" spc="-1" strike="noStrike">
                          <a:solidFill>
                            <a:srgbClr val="f3f6fa"/>
                          </a:solidFill>
                          <a:latin typeface="Aptos"/>
                        </a:rPr>
                        <a:t>Demostrar estabilidad y continuidad en paso y gateo.</a:t>
                      </a:r>
                      <a:endParaRPr b="0" lang="es-CO" sz="13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1c3049"/>
                    </a:solidFill>
                  </a:tcPr>
                </a:tc>
              </a:tr>
              <a:tr h="960120">
                <a:tc>
                  <a:txBody>
                    <a:bodyPr tIns="27360" bIns="27360" anchor="t">
                      <a:noAutofit/>
                    </a:bodyPr>
                    <a:p>
                      <a:pPr>
                        <a:lnSpc>
                          <a:spcPct val="100000"/>
                        </a:lnSpc>
                        <a:buNone/>
                      </a:pPr>
                      <a:r>
                        <a:rPr b="0" lang="en-US" sz="1200" spc="-1" strike="noStrike">
                          <a:solidFill>
                            <a:srgbClr val="f3f6fa"/>
                          </a:solidFill>
                          <a:latin typeface="Aptos"/>
                        </a:rPr>
                        <a:t>OE4 · Evaluar el funcionamiento del modelo de caminata del robot cuadrúpedo mediante tres pruebas: la Prueba de Margen de Estabilidad Estática, la Prueba de Seguimiento de Posición Articular y la Prueba de Repetibilidad del Patrón de Marcha.</a:t>
                      </a:r>
                      <a:endParaRPr b="0" lang="es-CO" sz="12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1c3049"/>
                    </a:solidFill>
                  </a:tcPr>
                </a:tc>
                <a:tc>
                  <a:txBody>
                    <a:bodyPr tIns="27360" bIns="27360" anchor="t">
                      <a:noAutofit/>
                    </a:bodyPr>
                    <a:p>
                      <a:pPr>
                        <a:lnSpc>
                          <a:spcPct val="100000"/>
                        </a:lnSpc>
                        <a:buNone/>
                      </a:pPr>
                      <a:r>
                        <a:rPr b="1" lang="en-US" sz="1300" spc="-1" strike="noStrike">
                          <a:solidFill>
                            <a:srgbClr val="4ed3ba"/>
                          </a:solidFill>
                          <a:latin typeface="Aptos"/>
                        </a:rPr>
                        <a:t>Parcial</a:t>
                      </a:r>
                      <a:endParaRPr b="0" lang="es-CO" sz="1300" spc="-1" strike="noStrike">
                        <a:latin typeface="Arial"/>
                      </a:endParaRPr>
                    </a:p>
                    <a:p>
                      <a:pPr>
                        <a:lnSpc>
                          <a:spcPct val="100000"/>
                        </a:lnSpc>
                        <a:buNone/>
                      </a:pPr>
                      <a:r>
                        <a:rPr b="1" lang="en-US" sz="1300" spc="-1" strike="noStrike">
                          <a:solidFill>
                            <a:srgbClr val="4ed3ba"/>
                          </a:solidFill>
                          <a:latin typeface="Aptos"/>
                        </a:rPr>
                        <a:t>50 %</a:t>
                      </a:r>
                      <a:endParaRPr b="0" lang="es-CO" sz="13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1c3049"/>
                    </a:solidFill>
                  </a:tcPr>
                </a:tc>
                <a:tc>
                  <a:txBody>
                    <a:bodyPr tIns="27360" bIns="27360" anchor="t">
                      <a:noAutofit/>
                    </a:bodyPr>
                    <a:p>
                      <a:pPr>
                        <a:lnSpc>
                          <a:spcPct val="100000"/>
                        </a:lnSpc>
                        <a:buNone/>
                      </a:pPr>
                      <a:r>
                        <a:rPr b="0" lang="en-US" sz="1300" spc="-1" strike="noStrike">
                          <a:solidFill>
                            <a:srgbClr val="f3f6fa"/>
                          </a:solidFill>
                          <a:latin typeface="Aptos"/>
                        </a:rPr>
                        <a:t>Completar las tres pruebas y su análisis conjunto.</a:t>
                      </a:r>
                      <a:endParaRPr b="0" lang="es-CO" sz="13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1c3049"/>
                    </a:solidFill>
                  </a:tcPr>
                </a:tc>
              </a:tr>
            </a:tbl>
          </a:graphicData>
        </a:graphic>
      </p:graphicFrame>
      <p:sp>
        <p:nvSpPr>
          <p:cNvPr id="70" name="TextBox 7"/>
          <p:cNvSpPr/>
          <p:nvPr/>
        </p:nvSpPr>
        <p:spPr>
          <a:xfrm>
            <a:off x="731520" y="6080760"/>
            <a:ext cx="10743840" cy="2570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100" spc="-1" strike="noStrike">
                <a:solidFill>
                  <a:srgbClr val="b8c6d8"/>
                </a:solidFill>
                <a:latin typeface="Aptos"/>
              </a:rPr>
              <a:t>Avance: 4 etapas por objetivo, 25 % por etapa cerrada. Fuente: objetivos y matriz de evidencias de la tesis.</a:t>
            </a:r>
            <a:endParaRPr b="0" lang="es-CO" sz="11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1d30"/>
        </a:solidFill>
      </p:bgPr>
    </p:bg>
    <p:spTree>
      <p:nvGrpSpPr>
        <p:cNvPr id="1" name=""/>
        <p:cNvGrpSpPr/>
        <p:nvPr/>
      </p:nvGrpSpPr>
      <p:grpSpPr>
        <a:xfrm>
          <a:off x="0" y="0"/>
          <a:ext cx="0" cy="0"/>
          <a:chOff x="0" y="0"/>
          <a:chExt cx="0" cy="0"/>
        </a:xfrm>
      </p:grpSpPr>
      <p:sp>
        <p:nvSpPr>
          <p:cNvPr id="71" name="Rectangle 1"/>
          <p:cNvSpPr/>
          <p:nvPr/>
        </p:nvSpPr>
        <p:spPr>
          <a:xfrm>
            <a:off x="411480" y="411480"/>
            <a:ext cx="91080" cy="685440"/>
          </a:xfrm>
          <a:prstGeom prst="rect">
            <a:avLst/>
          </a:prstGeom>
          <a:solidFill>
            <a:srgbClr val="4ed3b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72" name="TextBox 2"/>
          <p:cNvSpPr/>
          <p:nvPr/>
        </p:nvSpPr>
        <p:spPr>
          <a:xfrm>
            <a:off x="685800" y="320040"/>
            <a:ext cx="109724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1" lang="es-CO" sz="2600" spc="-1" strike="noStrike">
                <a:solidFill>
                  <a:srgbClr val="f3f6fa"/>
                </a:solidFill>
                <a:latin typeface="Aptos"/>
              </a:rPr>
              <a:t>¿Qué mostraron las pruebas?</a:t>
            </a:r>
            <a:endParaRPr b="0" lang="es-CO" sz="2600" spc="-1" strike="noStrike">
              <a:latin typeface="Arial"/>
            </a:endParaRPr>
          </a:p>
        </p:txBody>
      </p:sp>
      <p:sp>
        <p:nvSpPr>
          <p:cNvPr id="73" name="TextBox 3"/>
          <p:cNvSpPr/>
          <p:nvPr/>
        </p:nvSpPr>
        <p:spPr>
          <a:xfrm>
            <a:off x="713160" y="960120"/>
            <a:ext cx="10881000" cy="33300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600" spc="-1" strike="noStrike">
                <a:solidFill>
                  <a:srgbClr val="b8c6d8"/>
                </a:solidFill>
                <a:latin typeface="Aptos"/>
              </a:rPr>
              <a:t>Gazebo y MuJoCo son los dos simuladores que usamos para probar el movimiento.</a:t>
            </a:r>
            <a:endParaRPr b="0" lang="es-CO" sz="1600" spc="-1" strike="noStrike">
              <a:latin typeface="Arial"/>
            </a:endParaRPr>
          </a:p>
        </p:txBody>
      </p:sp>
      <p:sp>
        <p:nvSpPr>
          <p:cNvPr id="74" name="TextBox 4"/>
          <p:cNvSpPr/>
          <p:nvPr/>
        </p:nvSpPr>
        <p:spPr>
          <a:xfrm>
            <a:off x="685800" y="6473880"/>
            <a:ext cx="1005804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000" spc="-1" strike="noStrike">
                <a:solidFill>
                  <a:srgbClr val="b8c6d8"/>
                </a:solidFill>
                <a:latin typeface="Aptos"/>
              </a:rPr>
              <a:t>NOVA SPOT MICRO  ·  Proyecto de Grado II  ·  07 septiembre 2026</a:t>
            </a:r>
            <a:endParaRPr b="0" lang="es-CO" sz="1000" spc="-1" strike="noStrike">
              <a:latin typeface="Arial"/>
            </a:endParaRPr>
          </a:p>
        </p:txBody>
      </p:sp>
      <p:sp>
        <p:nvSpPr>
          <p:cNvPr id="75" name="TextBox 5"/>
          <p:cNvSpPr/>
          <p:nvPr/>
        </p:nvSpPr>
        <p:spPr>
          <a:xfrm>
            <a:off x="10972800" y="6437520"/>
            <a:ext cx="639720" cy="27216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200" spc="-1" strike="noStrike">
                <a:solidFill>
                  <a:srgbClr val="4ed3ba"/>
                </a:solidFill>
                <a:latin typeface="Aptos"/>
              </a:rPr>
              <a:t>4/7</a:t>
            </a:r>
            <a:endParaRPr b="0" lang="es-CO" sz="1200" spc="-1" strike="noStrike">
              <a:latin typeface="Arial"/>
            </a:endParaRPr>
          </a:p>
        </p:txBody>
      </p:sp>
      <p:sp>
        <p:nvSpPr>
          <p:cNvPr id="76" name="Rectangle 6"/>
          <p:cNvSpPr/>
          <p:nvPr/>
        </p:nvSpPr>
        <p:spPr>
          <a:xfrm>
            <a:off x="731520" y="1691640"/>
            <a:ext cx="6400440" cy="968760"/>
          </a:xfrm>
          <a:prstGeom prst="rect">
            <a:avLst/>
          </a:prstGeom>
          <a:solidFill>
            <a:srgbClr val="1c304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77" name="TextBox 7"/>
          <p:cNvSpPr/>
          <p:nvPr/>
        </p:nvSpPr>
        <p:spPr>
          <a:xfrm>
            <a:off x="914400" y="1755720"/>
            <a:ext cx="603468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1" lang="es-CO" sz="1800" spc="-1" strike="noStrike">
                <a:solidFill>
                  <a:srgbClr val="4ed3ba"/>
                </a:solidFill>
                <a:latin typeface="Aptos"/>
              </a:rPr>
              <a:t>Gazebo · el robot avanza</a:t>
            </a:r>
            <a:endParaRPr b="0" lang="es-CO" sz="1800" spc="-1" strike="noStrike">
              <a:latin typeface="Arial"/>
            </a:endParaRPr>
          </a:p>
        </p:txBody>
      </p:sp>
      <p:sp>
        <p:nvSpPr>
          <p:cNvPr id="78" name="TextBox 8"/>
          <p:cNvSpPr/>
          <p:nvPr/>
        </p:nvSpPr>
        <p:spPr>
          <a:xfrm>
            <a:off x="914400" y="2084760"/>
            <a:ext cx="6034680" cy="5763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s-CO" sz="1600" spc="-1" strike="noStrike">
                <a:solidFill>
                  <a:srgbClr val="f3f6fa"/>
                </a:solidFill>
                <a:latin typeface="Aptos"/>
              </a:rPr>
              <a:t>En 5 pruebas avanzó unos 2,4 cm</a:t>
            </a:r>
            <a:endParaRPr b="0" lang="es-CO" sz="1600" spc="-1" strike="noStrike">
              <a:latin typeface="Arial"/>
            </a:endParaRPr>
          </a:p>
          <a:p>
            <a:pPr>
              <a:lnSpc>
                <a:spcPct val="100000"/>
              </a:lnSpc>
              <a:buNone/>
            </a:pPr>
            <a:r>
              <a:rPr b="0" lang="es-CO" sz="1600" spc="-1" strike="noStrike">
                <a:solidFill>
                  <a:srgbClr val="f3f6fa"/>
                </a:solidFill>
                <a:latin typeface="Aptos"/>
              </a:rPr>
              <a:t>por cada secuencia completa de gateo.</a:t>
            </a:r>
            <a:endParaRPr b="0" lang="es-CO" sz="1600" spc="-1" strike="noStrike">
              <a:latin typeface="Arial"/>
            </a:endParaRPr>
          </a:p>
        </p:txBody>
      </p:sp>
      <p:sp>
        <p:nvSpPr>
          <p:cNvPr id="79" name="Rectangle 9"/>
          <p:cNvSpPr/>
          <p:nvPr/>
        </p:nvSpPr>
        <p:spPr>
          <a:xfrm>
            <a:off x="731520" y="2724840"/>
            <a:ext cx="6400440" cy="968760"/>
          </a:xfrm>
          <a:prstGeom prst="rect">
            <a:avLst/>
          </a:prstGeom>
          <a:solidFill>
            <a:srgbClr val="1c304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80" name="TextBox 10"/>
          <p:cNvSpPr/>
          <p:nvPr/>
        </p:nvSpPr>
        <p:spPr>
          <a:xfrm>
            <a:off x="914400" y="2788920"/>
            <a:ext cx="603468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1" lang="es-CO" sz="1800" spc="-1" strike="noStrike">
                <a:solidFill>
                  <a:srgbClr val="4ed3ba"/>
                </a:solidFill>
                <a:latin typeface="Aptos"/>
              </a:rPr>
              <a:t>MuJoCo · logramos mejorar el paso</a:t>
            </a:r>
            <a:endParaRPr b="0" lang="es-CO" sz="1800" spc="-1" strike="noStrike">
              <a:latin typeface="Arial"/>
            </a:endParaRPr>
          </a:p>
        </p:txBody>
      </p:sp>
      <p:sp>
        <p:nvSpPr>
          <p:cNvPr id="81" name="TextBox 11"/>
          <p:cNvSpPr/>
          <p:nvPr/>
        </p:nvSpPr>
        <p:spPr>
          <a:xfrm>
            <a:off x="914400" y="3117960"/>
            <a:ext cx="6034680" cy="5763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s-CO" sz="1600" spc="-1" strike="noStrike">
                <a:solidFill>
                  <a:srgbClr val="f3f6fa"/>
                </a:solidFill>
                <a:latin typeface="Aptos"/>
              </a:rPr>
              <a:t>El avance pasó de 2,7 a 9,9 mm por ciclo.</a:t>
            </a:r>
            <a:endParaRPr b="0" lang="es-CO" sz="1600" spc="-1" strike="noStrike">
              <a:latin typeface="Arial"/>
            </a:endParaRPr>
          </a:p>
          <a:p>
            <a:pPr>
              <a:lnSpc>
                <a:spcPct val="100000"/>
              </a:lnSpc>
              <a:buNone/>
            </a:pPr>
            <a:r>
              <a:rPr b="0" lang="es-CO" sz="1600" spc="-1" strike="noStrike">
                <a:solidFill>
                  <a:srgbClr val="f3f6fa"/>
                </a:solidFill>
                <a:latin typeface="Aptos"/>
              </a:rPr>
              <a:t>Falta mejorar cuándo apoya cada pata.</a:t>
            </a:r>
            <a:endParaRPr b="0" lang="es-CO" sz="1600" spc="-1" strike="noStrike">
              <a:latin typeface="Arial"/>
            </a:endParaRPr>
          </a:p>
        </p:txBody>
      </p:sp>
      <p:sp>
        <p:nvSpPr>
          <p:cNvPr id="82" name="Rectangle 12"/>
          <p:cNvSpPr/>
          <p:nvPr/>
        </p:nvSpPr>
        <p:spPr>
          <a:xfrm>
            <a:off x="731520" y="3758040"/>
            <a:ext cx="6400440" cy="968760"/>
          </a:xfrm>
          <a:prstGeom prst="rect">
            <a:avLst/>
          </a:prstGeom>
          <a:solidFill>
            <a:srgbClr val="1c304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83" name="TextBox 13"/>
          <p:cNvSpPr/>
          <p:nvPr/>
        </p:nvSpPr>
        <p:spPr>
          <a:xfrm>
            <a:off x="914400" y="3822120"/>
            <a:ext cx="603468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1" lang="es-CO" sz="1800" spc="-1" strike="noStrike">
                <a:solidFill>
                  <a:srgbClr val="4ed3ba"/>
                </a:solidFill>
                <a:latin typeface="Aptos"/>
              </a:rPr>
              <a:t>Seguridad · el programa detectó los fallos</a:t>
            </a:r>
            <a:endParaRPr b="0" lang="es-CO" sz="1800" spc="-1" strike="noStrike">
              <a:latin typeface="Arial"/>
            </a:endParaRPr>
          </a:p>
        </p:txBody>
      </p:sp>
      <p:sp>
        <p:nvSpPr>
          <p:cNvPr id="84" name="TextBox 14"/>
          <p:cNvSpPr/>
          <p:nvPr/>
        </p:nvSpPr>
        <p:spPr>
          <a:xfrm>
            <a:off x="914400" y="4151520"/>
            <a:ext cx="6034680" cy="5763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s-CO" sz="1600" spc="-1" strike="noStrike">
                <a:solidFill>
                  <a:srgbClr val="f3f6fa"/>
                </a:solidFill>
                <a:latin typeface="Aptos"/>
              </a:rPr>
              <a:t>Detectó los 9 fallos que provocamos</a:t>
            </a:r>
            <a:endParaRPr b="0" lang="es-CO" sz="1600" spc="-1" strike="noStrike">
              <a:latin typeface="Arial"/>
            </a:endParaRPr>
          </a:p>
          <a:p>
            <a:pPr>
              <a:lnSpc>
                <a:spcPct val="100000"/>
              </a:lnSpc>
              <a:buNone/>
            </a:pPr>
            <a:r>
              <a:rPr b="0" lang="es-CO" sz="1600" spc="-1" strike="noStrike">
                <a:solidFill>
                  <a:srgbClr val="f3f6fa"/>
                </a:solidFill>
                <a:latin typeface="Aptos"/>
              </a:rPr>
              <a:t>y envió la orden de detener la marcha.</a:t>
            </a:r>
            <a:endParaRPr b="0" lang="es-CO" sz="1600" spc="-1" strike="noStrike">
              <a:latin typeface="Arial"/>
            </a:endParaRPr>
          </a:p>
        </p:txBody>
      </p:sp>
      <p:sp>
        <p:nvSpPr>
          <p:cNvPr id="85" name="Rectangle 15"/>
          <p:cNvSpPr/>
          <p:nvPr/>
        </p:nvSpPr>
        <p:spPr>
          <a:xfrm>
            <a:off x="731520" y="4791600"/>
            <a:ext cx="6400440" cy="968760"/>
          </a:xfrm>
          <a:prstGeom prst="rect">
            <a:avLst/>
          </a:prstGeom>
          <a:solidFill>
            <a:srgbClr val="1c304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86" name="TextBox 16"/>
          <p:cNvSpPr/>
          <p:nvPr/>
        </p:nvSpPr>
        <p:spPr>
          <a:xfrm>
            <a:off x="914400" y="4855320"/>
            <a:ext cx="603468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1" lang="es-CO" sz="1800" spc="-1" strike="noStrike">
                <a:solidFill>
                  <a:srgbClr val="4ed3ba"/>
                </a:solidFill>
                <a:latin typeface="Aptos"/>
              </a:rPr>
              <a:t>Aprendizaje · todavía no logró la mejora</a:t>
            </a:r>
            <a:endParaRPr b="0" lang="es-CO" sz="1800" spc="-1" strike="noStrike">
              <a:latin typeface="Arial"/>
            </a:endParaRPr>
          </a:p>
        </p:txBody>
      </p:sp>
      <p:sp>
        <p:nvSpPr>
          <p:cNvPr id="87" name="TextBox 17"/>
          <p:cNvSpPr/>
          <p:nvPr/>
        </p:nvSpPr>
        <p:spPr>
          <a:xfrm>
            <a:off x="914400" y="5184720"/>
            <a:ext cx="6034680" cy="5763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s-CO" sz="1600" spc="-1" strike="noStrike">
                <a:solidFill>
                  <a:srgbClr val="f3f6fa"/>
                </a:solidFill>
                <a:latin typeface="Aptos"/>
              </a:rPr>
              <a:t>Entrenamos el algoritmo cinco veces.</a:t>
            </a:r>
            <a:endParaRPr b="0" lang="es-CO" sz="1600" spc="-1" strike="noStrike">
              <a:latin typeface="Arial"/>
            </a:endParaRPr>
          </a:p>
          <a:p>
            <a:pPr>
              <a:lnSpc>
                <a:spcPct val="100000"/>
              </a:lnSpc>
              <a:buNone/>
            </a:pPr>
            <a:r>
              <a:rPr b="0" lang="es-CO" sz="1600" spc="-1" strike="noStrike">
                <a:solidFill>
                  <a:srgbClr val="f3f6fa"/>
                </a:solidFill>
                <a:latin typeface="Aptos"/>
              </a:rPr>
              <a:t>Las correcciones no cumplieron lo esperado.</a:t>
            </a:r>
            <a:endParaRPr b="0" lang="es-CO" sz="1600" spc="-1" strike="noStrike">
              <a:latin typeface="Arial"/>
            </a:endParaRPr>
          </a:p>
        </p:txBody>
      </p:sp>
      <p:pic>
        <p:nvPicPr>
          <p:cNvPr id="88" name="Picture 18" descr="gazebo_nova.png"/>
          <p:cNvPicPr/>
          <p:nvPr/>
        </p:nvPicPr>
        <p:blipFill>
          <a:blip r:embed="rId1"/>
          <a:stretch/>
        </p:blipFill>
        <p:spPr>
          <a:xfrm>
            <a:off x="7388280" y="1691640"/>
            <a:ext cx="4041360" cy="3090240"/>
          </a:xfrm>
          <a:prstGeom prst="rect">
            <a:avLst/>
          </a:prstGeom>
          <a:ln w="0">
            <a:noFill/>
          </a:ln>
        </p:spPr>
      </p:pic>
      <p:sp>
        <p:nvSpPr>
          <p:cNvPr id="89" name="TextBox 19"/>
          <p:cNvSpPr/>
          <p:nvPr/>
        </p:nvSpPr>
        <p:spPr>
          <a:xfrm>
            <a:off x="7388280" y="4809600"/>
            <a:ext cx="4041360" cy="27216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200" spc="-1" strike="noStrike">
                <a:solidFill>
                  <a:srgbClr val="4ed3ba"/>
                </a:solidFill>
                <a:latin typeface="Aptos"/>
              </a:rPr>
              <a:t>Nova Spot Micro · captura real de Gazebo</a:t>
            </a:r>
            <a:endParaRPr b="0" lang="es-CO" sz="1200" spc="-1" strike="noStrike">
              <a:latin typeface="Arial"/>
            </a:endParaRPr>
          </a:p>
        </p:txBody>
      </p:sp>
      <p:sp>
        <p:nvSpPr>
          <p:cNvPr id="90" name="TextBox 29"/>
          <p:cNvSpPr/>
          <p:nvPr/>
        </p:nvSpPr>
        <p:spPr>
          <a:xfrm>
            <a:off x="731520" y="5943600"/>
            <a:ext cx="6400440" cy="2570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100" spc="-1" strike="noStrike">
                <a:solidFill>
                  <a:srgbClr val="b8c6d8"/>
                </a:solidFill>
                <a:latin typeface="Aptos"/>
              </a:rPr>
              <a:t>Fuentes: tesis; cierre MuJoCo 03/09; diagnóstico PPO 02/09.</a:t>
            </a:r>
            <a:endParaRPr b="0" lang="es-CO" sz="1100" spc="-1" strike="noStrike">
              <a:latin typeface="Arial"/>
            </a:endParaRPr>
          </a:p>
        </p:txBody>
      </p:sp>
      <p:sp>
        <p:nvSpPr>
          <p:cNvPr id="91" name="Rectangle 20"/>
          <p:cNvSpPr/>
          <p:nvPr/>
        </p:nvSpPr>
        <p:spPr>
          <a:xfrm>
            <a:off x="7368480" y="5303520"/>
            <a:ext cx="1188360" cy="685440"/>
          </a:xfrm>
          <a:prstGeom prst="rect">
            <a:avLst/>
          </a:prstGeom>
          <a:solidFill>
            <a:srgbClr val="1c304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92" name="TextBox 22"/>
          <p:cNvSpPr/>
          <p:nvPr/>
        </p:nvSpPr>
        <p:spPr>
          <a:xfrm>
            <a:off x="7368480" y="6044040"/>
            <a:ext cx="1188360" cy="2570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100" spc="-1" strike="noStrike">
                <a:solidFill>
                  <a:srgbClr val="b8c6d8"/>
                </a:solidFill>
                <a:latin typeface="Aptos"/>
              </a:rPr>
              <a:t>Ensa</a:t>
            </a:r>
            <a:r>
              <a:rPr b="0" lang="es-CO" sz="1100" spc="-1" strike="noStrike">
                <a:solidFill>
                  <a:srgbClr val="b8c6d8"/>
                </a:solidFill>
                <a:latin typeface="Aptos"/>
              </a:rPr>
              <a:t>mble</a:t>
            </a:r>
            <a:endParaRPr b="0" lang="es-CO" sz="1100" spc="-1" strike="noStrike">
              <a:latin typeface="Arial"/>
            </a:endParaRPr>
          </a:p>
        </p:txBody>
      </p:sp>
      <p:sp>
        <p:nvSpPr>
          <p:cNvPr id="93" name="Rectangle 23"/>
          <p:cNvSpPr/>
          <p:nvPr/>
        </p:nvSpPr>
        <p:spPr>
          <a:xfrm>
            <a:off x="8776800" y="5303520"/>
            <a:ext cx="1188360" cy="685440"/>
          </a:xfrm>
          <a:prstGeom prst="rect">
            <a:avLst/>
          </a:prstGeom>
          <a:solidFill>
            <a:srgbClr val="1c304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94" name="TextBox 25"/>
          <p:cNvSpPr/>
          <p:nvPr/>
        </p:nvSpPr>
        <p:spPr>
          <a:xfrm>
            <a:off x="8691840" y="6078600"/>
            <a:ext cx="1188360" cy="2570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100" spc="-1" strike="noStrike">
                <a:solidFill>
                  <a:srgbClr val="b8c6d8"/>
                </a:solidFill>
                <a:latin typeface="Aptos"/>
              </a:rPr>
              <a:t>Articulación</a:t>
            </a:r>
            <a:endParaRPr b="0" lang="es-CO" sz="1100" spc="-1" strike="noStrike">
              <a:latin typeface="Arial"/>
            </a:endParaRPr>
          </a:p>
        </p:txBody>
      </p:sp>
      <p:sp>
        <p:nvSpPr>
          <p:cNvPr id="95" name="Rectangle 26"/>
          <p:cNvSpPr/>
          <p:nvPr/>
        </p:nvSpPr>
        <p:spPr>
          <a:xfrm>
            <a:off x="10184760" y="5303520"/>
            <a:ext cx="1188360" cy="685440"/>
          </a:xfrm>
          <a:prstGeom prst="rect">
            <a:avLst/>
          </a:prstGeom>
          <a:solidFill>
            <a:srgbClr val="1c304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96" name="TextBox 28"/>
          <p:cNvSpPr/>
          <p:nvPr/>
        </p:nvSpPr>
        <p:spPr>
          <a:xfrm>
            <a:off x="10454040" y="6132600"/>
            <a:ext cx="1188360" cy="2570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100" spc="-1" strike="noStrike">
                <a:solidFill>
                  <a:srgbClr val="b8c6d8"/>
                </a:solidFill>
                <a:latin typeface="Aptos"/>
              </a:rPr>
              <a:t>Pieza impresa</a:t>
            </a:r>
            <a:endParaRPr b="0" lang="es-CO" sz="1100" spc="-1" strike="noStrike">
              <a:latin typeface="Arial"/>
            </a:endParaRPr>
          </a:p>
        </p:txBody>
      </p:sp>
      <p:sp>
        <p:nvSpPr>
          <p:cNvPr id="97" name="Rectangle 2"/>
          <p:cNvSpPr/>
          <p:nvPr/>
        </p:nvSpPr>
        <p:spPr>
          <a:xfrm>
            <a:off x="8776800" y="5303880"/>
            <a:ext cx="1188360" cy="685440"/>
          </a:xfrm>
          <a:prstGeom prst="rect">
            <a:avLst/>
          </a:prstGeom>
          <a:solidFill>
            <a:srgbClr val="1c304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98" name="Rectangle 3"/>
          <p:cNvSpPr/>
          <p:nvPr/>
        </p:nvSpPr>
        <p:spPr>
          <a:xfrm>
            <a:off x="10184760" y="5303880"/>
            <a:ext cx="1188360" cy="685440"/>
          </a:xfrm>
          <a:prstGeom prst="rect">
            <a:avLst/>
          </a:prstGeom>
          <a:solidFill>
            <a:srgbClr val="1c304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pic>
        <p:nvPicPr>
          <p:cNvPr id="99" name="Picture 24" descr="3.jpeg"/>
          <p:cNvPicPr/>
          <p:nvPr/>
        </p:nvPicPr>
        <p:blipFill>
          <a:blip r:embed="rId2"/>
          <a:stretch/>
        </p:blipFill>
        <p:spPr>
          <a:xfrm rot="16107600">
            <a:off x="9099000" y="4713840"/>
            <a:ext cx="992880" cy="1691280"/>
          </a:xfrm>
          <a:prstGeom prst="rect">
            <a:avLst/>
          </a:prstGeom>
          <a:ln w="0">
            <a:noFill/>
          </a:ln>
        </p:spPr>
      </p:pic>
      <p:pic>
        <p:nvPicPr>
          <p:cNvPr id="100" name="Picture 27" descr="4.jpeg"/>
          <p:cNvPicPr/>
          <p:nvPr/>
        </p:nvPicPr>
        <p:blipFill>
          <a:blip r:embed="rId3"/>
          <a:stretch/>
        </p:blipFill>
        <p:spPr>
          <a:xfrm>
            <a:off x="10454040" y="5081760"/>
            <a:ext cx="1401120" cy="1050840"/>
          </a:xfrm>
          <a:prstGeom prst="rect">
            <a:avLst/>
          </a:prstGeom>
          <a:ln w="0">
            <a:noFill/>
          </a:ln>
        </p:spPr>
      </p:pic>
      <p:sp>
        <p:nvSpPr>
          <p:cNvPr id="101" name="Picture 21"/>
          <p:cNvSpPr txBox="1"/>
          <p:nvPr/>
        </p:nvSpPr>
        <p:spPr>
          <a:xfrm rot="16372800">
            <a:off x="7525440" y="4753440"/>
            <a:ext cx="952920" cy="1694160"/>
          </a:xfrm>
          <a:prstGeom prst="rect">
            <a:avLst/>
          </a:prstGeom>
          <a:blipFill rotWithShape="0">
            <a:blip r:embed="rId4"/>
            <a:stretch/>
          </a:blipFill>
          <a:ln w="0">
            <a:noFill/>
          </a:ln>
        </p:spPr>
        <p:txBody>
          <a:bodyPr lIns="90000" rIns="90000" tIns="45000" bIns="45000" anchor="t" anchorCtr="1">
            <a:noAutofit/>
          </a:bodyPr>
          <a:p>
            <a:pPr algn="r">
              <a:buNone/>
            </a:pPr>
            <a:r>
              <a:rPr b="0" lang="es-CO" sz="1800" spc="-1" strike="noStrike">
                <a:latin typeface="Arial"/>
              </a:rPr>
              <a:t>r</a:t>
            </a:r>
            <a:endParaRPr b="0" lang="es-CO" sz="18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1d30"/>
        </a:solidFill>
      </p:bgPr>
    </p:bg>
    <p:spTree>
      <p:nvGrpSpPr>
        <p:cNvPr id="1" name=""/>
        <p:cNvGrpSpPr/>
        <p:nvPr/>
      </p:nvGrpSpPr>
      <p:grpSpPr>
        <a:xfrm>
          <a:off x="0" y="0"/>
          <a:ext cx="0" cy="0"/>
          <a:chOff x="0" y="0"/>
          <a:chExt cx="0" cy="0"/>
        </a:xfrm>
      </p:grpSpPr>
      <p:sp>
        <p:nvSpPr>
          <p:cNvPr id="102" name="Rectangle 1"/>
          <p:cNvSpPr/>
          <p:nvPr/>
        </p:nvSpPr>
        <p:spPr>
          <a:xfrm>
            <a:off x="411480" y="411480"/>
            <a:ext cx="91080" cy="685440"/>
          </a:xfrm>
          <a:prstGeom prst="rect">
            <a:avLst/>
          </a:prstGeom>
          <a:solidFill>
            <a:srgbClr val="4ed3b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3" name="TextBox 2"/>
          <p:cNvSpPr/>
          <p:nvPr/>
        </p:nvSpPr>
        <p:spPr>
          <a:xfrm>
            <a:off x="685800" y="320040"/>
            <a:ext cx="109724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1" lang="es-CO" sz="2600" spc="-1" strike="noStrike">
                <a:solidFill>
                  <a:srgbClr val="f3f6fa"/>
                </a:solidFill>
                <a:latin typeface="Aptos"/>
              </a:rPr>
              <a:t>¿Cómo va la escritura de la tesis?</a:t>
            </a:r>
            <a:endParaRPr b="0" lang="es-CO" sz="2600" spc="-1" strike="noStrike">
              <a:latin typeface="Arial"/>
            </a:endParaRPr>
          </a:p>
        </p:txBody>
      </p:sp>
      <p:sp>
        <p:nvSpPr>
          <p:cNvPr id="104" name="TextBox 3"/>
          <p:cNvSpPr/>
          <p:nvPr/>
        </p:nvSpPr>
        <p:spPr>
          <a:xfrm>
            <a:off x="713160" y="960120"/>
            <a:ext cx="10881000" cy="33300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600" spc="-1" strike="noStrike">
                <a:solidFill>
                  <a:srgbClr val="b8c6d8"/>
                </a:solidFill>
                <a:latin typeface="Aptos"/>
              </a:rPr>
              <a:t>Tenemos un borrador de 72 páginas. Falta completarlo con las pruebas y resultados pendientes.</a:t>
            </a:r>
            <a:endParaRPr b="0" lang="es-CO" sz="1600" spc="-1" strike="noStrike">
              <a:latin typeface="Arial"/>
            </a:endParaRPr>
          </a:p>
        </p:txBody>
      </p:sp>
      <p:sp>
        <p:nvSpPr>
          <p:cNvPr id="105" name="TextBox 4"/>
          <p:cNvSpPr/>
          <p:nvPr/>
        </p:nvSpPr>
        <p:spPr>
          <a:xfrm>
            <a:off x="685800" y="6473880"/>
            <a:ext cx="1005804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000" spc="-1" strike="noStrike">
                <a:solidFill>
                  <a:srgbClr val="b8c6d8"/>
                </a:solidFill>
                <a:latin typeface="Aptos"/>
              </a:rPr>
              <a:t>NOVA SPOT MICRO  ·  Proyecto de Grado II  ·  07 septiembre 2026</a:t>
            </a:r>
            <a:endParaRPr b="0" lang="es-CO" sz="1000" spc="-1" strike="noStrike">
              <a:latin typeface="Arial"/>
            </a:endParaRPr>
          </a:p>
        </p:txBody>
      </p:sp>
      <p:sp>
        <p:nvSpPr>
          <p:cNvPr id="106" name="TextBox 5"/>
          <p:cNvSpPr/>
          <p:nvPr/>
        </p:nvSpPr>
        <p:spPr>
          <a:xfrm>
            <a:off x="10972800" y="6437520"/>
            <a:ext cx="639720" cy="27216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200" spc="-1" strike="noStrike">
                <a:solidFill>
                  <a:srgbClr val="4ed3ba"/>
                </a:solidFill>
                <a:latin typeface="Aptos"/>
              </a:rPr>
              <a:t>5/7</a:t>
            </a:r>
            <a:endParaRPr b="0" lang="es-CO" sz="1200" spc="-1" strike="noStrike">
              <a:latin typeface="Arial"/>
            </a:endParaRPr>
          </a:p>
        </p:txBody>
      </p:sp>
      <p:sp>
        <p:nvSpPr>
          <p:cNvPr id="107" name="Rectangle 6"/>
          <p:cNvSpPr/>
          <p:nvPr/>
        </p:nvSpPr>
        <p:spPr>
          <a:xfrm>
            <a:off x="731520" y="1737360"/>
            <a:ext cx="3474360" cy="4160160"/>
          </a:xfrm>
          <a:prstGeom prst="rect">
            <a:avLst/>
          </a:prstGeom>
          <a:solidFill>
            <a:srgbClr val="1c304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8" name="TextBox 7"/>
          <p:cNvSpPr/>
          <p:nvPr/>
        </p:nvSpPr>
        <p:spPr>
          <a:xfrm>
            <a:off x="914400" y="1874520"/>
            <a:ext cx="3108600" cy="37908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1" lang="es-CO" sz="1900" spc="-1" strike="noStrike">
                <a:solidFill>
                  <a:srgbClr val="4ed3ba"/>
                </a:solidFill>
                <a:latin typeface="Aptos"/>
              </a:rPr>
              <a:t>Ya está escrito</a:t>
            </a:r>
            <a:endParaRPr b="0" lang="es-CO" sz="1900" spc="-1" strike="noStrike">
              <a:latin typeface="Arial"/>
            </a:endParaRPr>
          </a:p>
        </p:txBody>
      </p:sp>
      <p:sp>
        <p:nvSpPr>
          <p:cNvPr id="109" name="TextBox 8"/>
          <p:cNvSpPr/>
          <p:nvPr/>
        </p:nvSpPr>
        <p:spPr>
          <a:xfrm>
            <a:off x="914400" y="2514600"/>
            <a:ext cx="3108600" cy="163908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700" spc="-1" strike="noStrike">
                <a:solidFill>
                  <a:srgbClr val="f3f6fa"/>
                </a:solidFill>
                <a:latin typeface="Aptos"/>
              </a:rPr>
              <a:t>Modelo matemático</a:t>
            </a:r>
            <a:endParaRPr b="0" lang="es-CO" sz="1700" spc="-1" strike="noStrike">
              <a:latin typeface="Arial"/>
            </a:endParaRPr>
          </a:p>
          <a:p>
            <a:pPr>
              <a:lnSpc>
                <a:spcPct val="100000"/>
              </a:lnSpc>
              <a:spcAft>
                <a:spcPts val="499"/>
              </a:spcAft>
              <a:buNone/>
            </a:pPr>
            <a:r>
              <a:rPr b="0" lang="es-CO" sz="1700" spc="-1" strike="noStrike">
                <a:solidFill>
                  <a:srgbClr val="f3f6fa"/>
                </a:solidFill>
                <a:latin typeface="Aptos"/>
              </a:rPr>
              <a:t>Cómo hicimos las pruebas</a:t>
            </a:r>
            <a:endParaRPr b="0" lang="es-CO" sz="1700" spc="-1" strike="noStrike">
              <a:latin typeface="Arial"/>
            </a:endParaRPr>
          </a:p>
          <a:p>
            <a:pPr>
              <a:lnSpc>
                <a:spcPct val="100000"/>
              </a:lnSpc>
              <a:spcAft>
                <a:spcPts val="499"/>
              </a:spcAft>
              <a:buNone/>
            </a:pPr>
            <a:r>
              <a:rPr b="0" lang="es-CO" sz="1700" spc="-1" strike="noStrike">
                <a:solidFill>
                  <a:srgbClr val="f3f6fa"/>
                </a:solidFill>
                <a:latin typeface="Aptos"/>
              </a:rPr>
              <a:t>Cómo funciona el sistema</a:t>
            </a:r>
            <a:endParaRPr b="0" lang="es-CO" sz="1700" spc="-1" strike="noStrike">
              <a:latin typeface="Arial"/>
            </a:endParaRPr>
          </a:p>
          <a:p>
            <a:pPr>
              <a:lnSpc>
                <a:spcPct val="100000"/>
              </a:lnSpc>
              <a:spcAft>
                <a:spcPts val="499"/>
              </a:spcAft>
              <a:buNone/>
            </a:pPr>
            <a:r>
              <a:rPr b="0" lang="es-CO" sz="1700" spc="-1" strike="noStrike">
                <a:solidFill>
                  <a:srgbClr val="f3f6fa"/>
                </a:solidFill>
                <a:latin typeface="Aptos"/>
              </a:rPr>
              <a:t>Resultados de simulación</a:t>
            </a:r>
            <a:endParaRPr b="0" lang="es-CO" sz="1700" spc="-1" strike="noStrike">
              <a:latin typeface="Arial"/>
            </a:endParaRPr>
          </a:p>
          <a:p>
            <a:pPr>
              <a:lnSpc>
                <a:spcPct val="100000"/>
              </a:lnSpc>
              <a:spcAft>
                <a:spcPts val="499"/>
              </a:spcAft>
              <a:buNone/>
            </a:pPr>
            <a:r>
              <a:rPr b="0" lang="es-CO" sz="1700" spc="-1" strike="noStrike">
                <a:solidFill>
                  <a:srgbClr val="f3f6fa"/>
                </a:solidFill>
                <a:latin typeface="Aptos"/>
              </a:rPr>
              <a:t>Procedimientos y anexos</a:t>
            </a:r>
            <a:endParaRPr b="0" lang="es-CO" sz="1700" spc="-1" strike="noStrike">
              <a:latin typeface="Arial"/>
            </a:endParaRPr>
          </a:p>
        </p:txBody>
      </p:sp>
      <p:sp>
        <p:nvSpPr>
          <p:cNvPr id="110" name="Rectangle 9"/>
          <p:cNvSpPr/>
          <p:nvPr/>
        </p:nvSpPr>
        <p:spPr>
          <a:xfrm>
            <a:off x="4370760" y="1737360"/>
            <a:ext cx="3474360" cy="4160160"/>
          </a:xfrm>
          <a:prstGeom prst="rect">
            <a:avLst/>
          </a:prstGeom>
          <a:solidFill>
            <a:srgbClr val="1c304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1" name="TextBox 10"/>
          <p:cNvSpPr/>
          <p:nvPr/>
        </p:nvSpPr>
        <p:spPr>
          <a:xfrm>
            <a:off x="4553640" y="1874520"/>
            <a:ext cx="3108600" cy="37908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1" lang="es-CO" sz="1900" spc="-1" strike="noStrike">
                <a:solidFill>
                  <a:srgbClr val="4ed3ba"/>
                </a:solidFill>
                <a:latin typeface="Aptos"/>
              </a:rPr>
              <a:t>Falta completar</a:t>
            </a:r>
            <a:endParaRPr b="0" lang="es-CO" sz="1900" spc="-1" strike="noStrike">
              <a:latin typeface="Arial"/>
            </a:endParaRPr>
          </a:p>
        </p:txBody>
      </p:sp>
      <p:sp>
        <p:nvSpPr>
          <p:cNvPr id="112" name="TextBox 11"/>
          <p:cNvSpPr/>
          <p:nvPr/>
        </p:nvSpPr>
        <p:spPr>
          <a:xfrm>
            <a:off x="4553640" y="2514600"/>
            <a:ext cx="3108600" cy="163908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700" spc="-1" strike="noStrike">
                <a:solidFill>
                  <a:srgbClr val="f3f6fa"/>
                </a:solidFill>
                <a:latin typeface="Aptos"/>
              </a:rPr>
              <a:t>Mediciones del robot real</a:t>
            </a:r>
            <a:endParaRPr b="0" lang="es-CO" sz="1700" spc="-1" strike="noStrike">
              <a:latin typeface="Arial"/>
            </a:endParaRPr>
          </a:p>
          <a:p>
            <a:pPr>
              <a:lnSpc>
                <a:spcPct val="100000"/>
              </a:lnSpc>
              <a:spcAft>
                <a:spcPts val="499"/>
              </a:spcAft>
              <a:buNone/>
            </a:pPr>
            <a:r>
              <a:rPr b="0" lang="es-CO" sz="1700" spc="-1" strike="noStrike">
                <a:solidFill>
                  <a:srgbClr val="f3f6fa"/>
                </a:solidFill>
                <a:latin typeface="Aptos"/>
              </a:rPr>
              <a:t>Pruebas de seguridad</a:t>
            </a:r>
            <a:endParaRPr b="0" lang="es-CO" sz="1700" spc="-1" strike="noStrike">
              <a:latin typeface="Arial"/>
            </a:endParaRPr>
          </a:p>
          <a:p>
            <a:pPr>
              <a:lnSpc>
                <a:spcPct val="100000"/>
              </a:lnSpc>
              <a:spcAft>
                <a:spcPts val="499"/>
              </a:spcAft>
              <a:buNone/>
            </a:pPr>
            <a:r>
              <a:rPr b="0" lang="es-CO" sz="1700" spc="-1" strike="noStrike">
                <a:solidFill>
                  <a:srgbClr val="f3f6fa"/>
                </a:solidFill>
                <a:latin typeface="Aptos"/>
              </a:rPr>
              <a:t>Comparación final</a:t>
            </a:r>
            <a:endParaRPr b="0" lang="es-CO" sz="1700" spc="-1" strike="noStrike">
              <a:latin typeface="Arial"/>
            </a:endParaRPr>
          </a:p>
          <a:p>
            <a:pPr>
              <a:lnSpc>
                <a:spcPct val="100000"/>
              </a:lnSpc>
              <a:spcAft>
                <a:spcPts val="499"/>
              </a:spcAft>
              <a:buNone/>
            </a:pPr>
            <a:r>
              <a:rPr b="0" lang="es-CO" sz="1700" spc="-1" strike="noStrike">
                <a:solidFill>
                  <a:srgbClr val="f3f6fa"/>
                </a:solidFill>
                <a:latin typeface="Aptos"/>
              </a:rPr>
              <a:t>Análisis de los resultados</a:t>
            </a:r>
            <a:endParaRPr b="0" lang="es-CO" sz="1700" spc="-1" strike="noStrike">
              <a:latin typeface="Arial"/>
            </a:endParaRPr>
          </a:p>
          <a:p>
            <a:pPr>
              <a:lnSpc>
                <a:spcPct val="100000"/>
              </a:lnSpc>
              <a:spcAft>
                <a:spcPts val="499"/>
              </a:spcAft>
              <a:buNone/>
            </a:pPr>
            <a:r>
              <a:rPr b="0" lang="es-CO" sz="1700" spc="-1" strike="noStrike">
                <a:solidFill>
                  <a:srgbClr val="f3f6fa"/>
                </a:solidFill>
                <a:latin typeface="Aptos"/>
              </a:rPr>
              <a:t>Conclusiones finales</a:t>
            </a:r>
            <a:endParaRPr b="0" lang="es-CO" sz="1700" spc="-1" strike="noStrike">
              <a:latin typeface="Arial"/>
            </a:endParaRPr>
          </a:p>
        </p:txBody>
      </p:sp>
      <p:sp>
        <p:nvSpPr>
          <p:cNvPr id="113" name="Rectangle 12"/>
          <p:cNvSpPr/>
          <p:nvPr/>
        </p:nvSpPr>
        <p:spPr>
          <a:xfrm>
            <a:off x="8010000" y="1737360"/>
            <a:ext cx="3474360" cy="4160160"/>
          </a:xfrm>
          <a:prstGeom prst="rect">
            <a:avLst/>
          </a:prstGeom>
          <a:solidFill>
            <a:srgbClr val="1c304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4" name="TextBox 13"/>
          <p:cNvSpPr/>
          <p:nvPr/>
        </p:nvSpPr>
        <p:spPr>
          <a:xfrm>
            <a:off x="8192880" y="1874520"/>
            <a:ext cx="3108600" cy="37908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1" lang="es-CO" sz="1900" spc="-1" strike="noStrike">
                <a:solidFill>
                  <a:srgbClr val="4ed3ba"/>
                </a:solidFill>
                <a:latin typeface="Aptos"/>
              </a:rPr>
              <a:t>Hay que actualizar</a:t>
            </a:r>
            <a:endParaRPr b="0" lang="es-CO" sz="1900" spc="-1" strike="noStrike">
              <a:latin typeface="Arial"/>
            </a:endParaRPr>
          </a:p>
        </p:txBody>
      </p:sp>
      <p:sp>
        <p:nvSpPr>
          <p:cNvPr id="115" name="TextBox 14"/>
          <p:cNvSpPr/>
          <p:nvPr/>
        </p:nvSpPr>
        <p:spPr>
          <a:xfrm>
            <a:off x="8192880" y="2514600"/>
            <a:ext cx="3108600" cy="293508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700" spc="-1" strike="noStrike">
                <a:solidFill>
                  <a:srgbClr val="f3f6fa"/>
                </a:solidFill>
                <a:latin typeface="Aptos"/>
              </a:rPr>
              <a:t>Nuevas pruebas de MuJoCo</a:t>
            </a:r>
            <a:endParaRPr b="0" lang="es-CO" sz="1700" spc="-1" strike="noStrike">
              <a:latin typeface="Arial"/>
            </a:endParaRPr>
          </a:p>
          <a:p>
            <a:pPr>
              <a:lnSpc>
                <a:spcPct val="100000"/>
              </a:lnSpc>
              <a:spcAft>
                <a:spcPts val="499"/>
              </a:spcAft>
              <a:buNone/>
            </a:pPr>
            <a:r>
              <a:rPr b="0" lang="es-CO" sz="1700" spc="-1" strike="noStrike">
                <a:solidFill>
                  <a:srgbClr val="f3f6fa"/>
                </a:solidFill>
                <a:latin typeface="Aptos"/>
              </a:rPr>
              <a:t>Avances y fotos del prototipo</a:t>
            </a:r>
            <a:endParaRPr b="0" lang="es-CO" sz="1700" spc="-1" strike="noStrike">
              <a:latin typeface="Arial"/>
            </a:endParaRPr>
          </a:p>
          <a:p>
            <a:pPr>
              <a:lnSpc>
                <a:spcPct val="100000"/>
              </a:lnSpc>
              <a:spcAft>
                <a:spcPts val="499"/>
              </a:spcAft>
              <a:buNone/>
            </a:pPr>
            <a:r>
              <a:rPr b="0" lang="es-CO" sz="1700" spc="-1" strike="noStrike">
                <a:solidFill>
                  <a:srgbClr val="f3f6fa"/>
                </a:solidFill>
                <a:latin typeface="Aptos"/>
              </a:rPr>
              <a:t>Problema de corriente</a:t>
            </a:r>
            <a:endParaRPr b="0" lang="es-CO" sz="1700" spc="-1" strike="noStrike">
              <a:latin typeface="Arial"/>
            </a:endParaRPr>
          </a:p>
          <a:p>
            <a:pPr>
              <a:lnSpc>
                <a:spcPct val="100000"/>
              </a:lnSpc>
              <a:spcAft>
                <a:spcPts val="499"/>
              </a:spcAft>
              <a:buNone/>
            </a:pPr>
            <a:r>
              <a:rPr b="0" lang="es-CO" sz="1700" spc="-1" strike="noStrike">
                <a:solidFill>
                  <a:srgbClr val="f3f6fa"/>
                </a:solidFill>
                <a:latin typeface="Aptos"/>
              </a:rPr>
              <a:t>Textos que dicen que aún no entrenamos el algoritmo</a:t>
            </a:r>
            <a:endParaRPr b="0" lang="es-CO" sz="1700" spc="-1" strike="noStrike">
              <a:latin typeface="Arial"/>
            </a:endParaRPr>
          </a:p>
          <a:p>
            <a:pPr>
              <a:lnSpc>
                <a:spcPct val="100000"/>
              </a:lnSpc>
              <a:spcAft>
                <a:spcPts val="499"/>
              </a:spcAft>
              <a:buNone/>
            </a:pPr>
            <a:r>
              <a:rPr b="0" lang="es-CO" sz="1700" spc="-1" strike="noStrike">
                <a:solidFill>
                  <a:srgbClr val="f3f6fa"/>
                </a:solidFill>
                <a:latin typeface="Aptos"/>
              </a:rPr>
              <a:t>Cronograma y presupuesto</a:t>
            </a:r>
            <a:endParaRPr b="0" lang="es-CO" sz="17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1d30"/>
        </a:solidFill>
      </p:bgPr>
    </p:bg>
    <p:spTree>
      <p:nvGrpSpPr>
        <p:cNvPr id="1" name=""/>
        <p:cNvGrpSpPr/>
        <p:nvPr/>
      </p:nvGrpSpPr>
      <p:grpSpPr>
        <a:xfrm>
          <a:off x="0" y="0"/>
          <a:ext cx="0" cy="0"/>
          <a:chOff x="0" y="0"/>
          <a:chExt cx="0" cy="0"/>
        </a:xfrm>
      </p:grpSpPr>
      <p:sp>
        <p:nvSpPr>
          <p:cNvPr id="116" name="Rectangle 1"/>
          <p:cNvSpPr/>
          <p:nvPr/>
        </p:nvSpPr>
        <p:spPr>
          <a:xfrm>
            <a:off x="411480" y="411480"/>
            <a:ext cx="91080" cy="685440"/>
          </a:xfrm>
          <a:prstGeom prst="rect">
            <a:avLst/>
          </a:prstGeom>
          <a:solidFill>
            <a:srgbClr val="4ed3b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7" name="TextBox 2"/>
          <p:cNvSpPr/>
          <p:nvPr/>
        </p:nvSpPr>
        <p:spPr>
          <a:xfrm>
            <a:off x="685800" y="320040"/>
            <a:ext cx="109724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1" lang="es-CO" sz="2600" spc="-1" strike="noStrike">
                <a:solidFill>
                  <a:srgbClr val="f3f6fa"/>
                </a:solidFill>
                <a:latin typeface="Aptos"/>
              </a:rPr>
              <a:t>¿Qué falta hacer y en qué orden?</a:t>
            </a:r>
            <a:endParaRPr b="0" lang="es-CO" sz="2600" spc="-1" strike="noStrike">
              <a:latin typeface="Arial"/>
            </a:endParaRPr>
          </a:p>
        </p:txBody>
      </p:sp>
      <p:sp>
        <p:nvSpPr>
          <p:cNvPr id="118" name="TextBox 3"/>
          <p:cNvSpPr/>
          <p:nvPr/>
        </p:nvSpPr>
        <p:spPr>
          <a:xfrm>
            <a:off x="713160" y="960120"/>
            <a:ext cx="10881000" cy="33300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600" spc="-1" strike="noStrike">
                <a:solidFill>
                  <a:srgbClr val="b8c6d8"/>
                </a:solidFill>
                <a:latin typeface="Aptos"/>
              </a:rPr>
              <a:t>Primero resolver la parte eléctrica; después probar el movimiento y comparar los resultados.</a:t>
            </a:r>
            <a:endParaRPr b="0" lang="es-CO" sz="1600" spc="-1" strike="noStrike">
              <a:latin typeface="Arial"/>
            </a:endParaRPr>
          </a:p>
        </p:txBody>
      </p:sp>
      <p:sp>
        <p:nvSpPr>
          <p:cNvPr id="119" name="TextBox 4"/>
          <p:cNvSpPr/>
          <p:nvPr/>
        </p:nvSpPr>
        <p:spPr>
          <a:xfrm>
            <a:off x="685800" y="6473880"/>
            <a:ext cx="1005804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000" spc="-1" strike="noStrike">
                <a:solidFill>
                  <a:srgbClr val="b8c6d8"/>
                </a:solidFill>
                <a:latin typeface="Aptos"/>
              </a:rPr>
              <a:t>NOVA SPOT MICRO  ·  Proyecto de Grado II  ·  07 septiembre 2026</a:t>
            </a:r>
            <a:endParaRPr b="0" lang="es-CO" sz="1000" spc="-1" strike="noStrike">
              <a:latin typeface="Arial"/>
            </a:endParaRPr>
          </a:p>
        </p:txBody>
      </p:sp>
      <p:sp>
        <p:nvSpPr>
          <p:cNvPr id="120" name="TextBox 5"/>
          <p:cNvSpPr/>
          <p:nvPr/>
        </p:nvSpPr>
        <p:spPr>
          <a:xfrm>
            <a:off x="10972800" y="6437520"/>
            <a:ext cx="639720" cy="27216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200" spc="-1" strike="noStrike">
                <a:solidFill>
                  <a:srgbClr val="4ed3ba"/>
                </a:solidFill>
                <a:latin typeface="Aptos"/>
              </a:rPr>
              <a:t>6/7</a:t>
            </a:r>
            <a:endParaRPr b="0" lang="es-CO" sz="1200" spc="-1" strike="noStrike">
              <a:latin typeface="Arial"/>
            </a:endParaRPr>
          </a:p>
        </p:txBody>
      </p:sp>
      <p:sp>
        <p:nvSpPr>
          <p:cNvPr id="121" name="Rectangle 6"/>
          <p:cNvSpPr/>
          <p:nvPr/>
        </p:nvSpPr>
        <p:spPr>
          <a:xfrm>
            <a:off x="731520" y="1737360"/>
            <a:ext cx="3474360" cy="3428640"/>
          </a:xfrm>
          <a:prstGeom prst="rect">
            <a:avLst/>
          </a:prstGeom>
          <a:solidFill>
            <a:srgbClr val="1c304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2" name="TextBox 7"/>
          <p:cNvSpPr/>
          <p:nvPr/>
        </p:nvSpPr>
        <p:spPr>
          <a:xfrm>
            <a:off x="914400" y="1874520"/>
            <a:ext cx="3108600" cy="66852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1" lang="es-CO" sz="1900" spc="-1" strike="noStrike">
                <a:solidFill>
                  <a:srgbClr val="4ed3ba"/>
                </a:solidFill>
                <a:latin typeface="Aptos"/>
              </a:rPr>
              <a:t>1 · Revisar la electricidad</a:t>
            </a:r>
            <a:endParaRPr b="0" lang="es-CO" sz="1900" spc="-1" strike="noStrike">
              <a:latin typeface="Arial"/>
            </a:endParaRPr>
          </a:p>
        </p:txBody>
      </p:sp>
      <p:sp>
        <p:nvSpPr>
          <p:cNvPr id="123" name="TextBox 8"/>
          <p:cNvSpPr/>
          <p:nvPr/>
        </p:nvSpPr>
        <p:spPr>
          <a:xfrm>
            <a:off x="914400" y="2514600"/>
            <a:ext cx="3108600" cy="209412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700" spc="-1" strike="noStrike">
                <a:solidFill>
                  <a:srgbClr val="f3f6fa"/>
                </a:solidFill>
                <a:latin typeface="Aptos"/>
              </a:rPr>
              <a:t>Encontrar la causa del exceso de corriente.</a:t>
            </a:r>
            <a:endParaRPr b="0" lang="es-CO" sz="1700" spc="-1" strike="noStrike">
              <a:latin typeface="Arial"/>
            </a:endParaRPr>
          </a:p>
          <a:p>
            <a:pPr>
              <a:lnSpc>
                <a:spcPct val="100000"/>
              </a:lnSpc>
              <a:spcAft>
                <a:spcPts val="499"/>
              </a:spcAft>
              <a:buNone/>
            </a:pPr>
            <a:r>
              <a:rPr b="0" lang="es-CO" sz="1700" spc="-1" strike="noStrike">
                <a:solidFill>
                  <a:srgbClr val="f3f6fa"/>
                </a:solidFill>
                <a:latin typeface="Aptos"/>
              </a:rPr>
              <a:t>Revisar la placa de control.</a:t>
            </a:r>
            <a:endParaRPr b="0" lang="es-CO" sz="1700" spc="-1" strike="noStrike">
              <a:latin typeface="Arial"/>
            </a:endParaRPr>
          </a:p>
          <a:p>
            <a:pPr>
              <a:lnSpc>
                <a:spcPct val="100000"/>
              </a:lnSpc>
              <a:spcAft>
                <a:spcPts val="499"/>
              </a:spcAft>
              <a:buNone/>
            </a:pPr>
            <a:r>
              <a:rPr b="0" lang="es-CO" sz="1700" spc="-1" strike="noStrike">
                <a:solidFill>
                  <a:srgbClr val="f3f6fa"/>
                </a:solidFill>
                <a:latin typeface="Aptos"/>
              </a:rPr>
              <a:t>Medir voltaje y consumo.</a:t>
            </a:r>
            <a:endParaRPr b="0" lang="es-CO" sz="1700" spc="-1" strike="noStrike">
              <a:latin typeface="Arial"/>
            </a:endParaRPr>
          </a:p>
          <a:p>
            <a:pPr>
              <a:lnSpc>
                <a:spcPct val="100000"/>
              </a:lnSpc>
              <a:spcAft>
                <a:spcPts val="499"/>
              </a:spcAft>
              <a:buNone/>
            </a:pPr>
            <a:r>
              <a:rPr b="0" lang="es-CO" sz="1700" spc="-1" strike="noStrike">
                <a:solidFill>
                  <a:srgbClr val="f3f6fa"/>
                </a:solidFill>
                <a:latin typeface="Aptos"/>
              </a:rPr>
              <a:t>Comprobar el apagado seguro.</a:t>
            </a:r>
            <a:endParaRPr b="0" lang="es-CO" sz="1700" spc="-1" strike="noStrike">
              <a:latin typeface="Arial"/>
            </a:endParaRPr>
          </a:p>
        </p:txBody>
      </p:sp>
      <p:sp>
        <p:nvSpPr>
          <p:cNvPr id="124" name="Rectangle 9"/>
          <p:cNvSpPr/>
          <p:nvPr/>
        </p:nvSpPr>
        <p:spPr>
          <a:xfrm>
            <a:off x="4370760" y="1737360"/>
            <a:ext cx="3474360" cy="3428640"/>
          </a:xfrm>
          <a:prstGeom prst="rect">
            <a:avLst/>
          </a:prstGeom>
          <a:solidFill>
            <a:srgbClr val="1c304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5" name="TextBox 10"/>
          <p:cNvSpPr/>
          <p:nvPr/>
        </p:nvSpPr>
        <p:spPr>
          <a:xfrm>
            <a:off x="4553640" y="1874520"/>
            <a:ext cx="3108600" cy="66852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1" lang="es-CO" sz="1900" spc="-1" strike="noStrike">
                <a:solidFill>
                  <a:srgbClr val="4ed3ba"/>
                </a:solidFill>
                <a:latin typeface="Aptos"/>
              </a:rPr>
              <a:t>2 · Probar el movimiento</a:t>
            </a:r>
            <a:endParaRPr b="0" lang="es-CO" sz="1900" spc="-1" strike="noStrike">
              <a:latin typeface="Arial"/>
            </a:endParaRPr>
          </a:p>
        </p:txBody>
      </p:sp>
      <p:sp>
        <p:nvSpPr>
          <p:cNvPr id="126" name="TextBox 11"/>
          <p:cNvSpPr/>
          <p:nvPr/>
        </p:nvSpPr>
        <p:spPr>
          <a:xfrm>
            <a:off x="4553640" y="2514600"/>
            <a:ext cx="3108600" cy="183492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700" spc="-1" strike="noStrike">
                <a:solidFill>
                  <a:srgbClr val="f3f6fa"/>
                </a:solidFill>
                <a:latin typeface="Aptos"/>
              </a:rPr>
              <a:t>Ajustar primero un motor.</a:t>
            </a:r>
            <a:endParaRPr b="0" lang="es-CO" sz="1700" spc="-1" strike="noStrike">
              <a:latin typeface="Arial"/>
            </a:endParaRPr>
          </a:p>
          <a:p>
            <a:pPr>
              <a:lnSpc>
                <a:spcPct val="100000"/>
              </a:lnSpc>
              <a:spcAft>
                <a:spcPts val="499"/>
              </a:spcAft>
              <a:buNone/>
            </a:pPr>
            <a:r>
              <a:rPr b="0" lang="es-CO" sz="1700" spc="-1" strike="noStrike">
                <a:solidFill>
                  <a:srgbClr val="f3f6fa"/>
                </a:solidFill>
                <a:latin typeface="Aptos"/>
              </a:rPr>
              <a:t>Después probar una pata.</a:t>
            </a:r>
            <a:endParaRPr b="0" lang="es-CO" sz="1700" spc="-1" strike="noStrike">
              <a:latin typeface="Arial"/>
            </a:endParaRPr>
          </a:p>
          <a:p>
            <a:pPr>
              <a:lnSpc>
                <a:spcPct val="100000"/>
              </a:lnSpc>
              <a:spcAft>
                <a:spcPts val="499"/>
              </a:spcAft>
              <a:buNone/>
            </a:pPr>
            <a:r>
              <a:rPr b="0" lang="es-CO" sz="1700" spc="-1" strike="noStrike">
                <a:solidFill>
                  <a:srgbClr val="f3f6fa"/>
                </a:solidFill>
                <a:latin typeface="Aptos"/>
              </a:rPr>
              <a:t>Comprobar postura y marcha.</a:t>
            </a:r>
            <a:endParaRPr b="0" lang="es-CO" sz="1700" spc="-1" strike="noStrike">
              <a:latin typeface="Arial"/>
            </a:endParaRPr>
          </a:p>
          <a:p>
            <a:pPr>
              <a:lnSpc>
                <a:spcPct val="100000"/>
              </a:lnSpc>
              <a:spcAft>
                <a:spcPts val="499"/>
              </a:spcAft>
              <a:buNone/>
            </a:pPr>
            <a:r>
              <a:rPr b="0" lang="es-CO" sz="1700" spc="-1" strike="noStrike">
                <a:solidFill>
                  <a:srgbClr val="f3f6fa"/>
                </a:solidFill>
                <a:latin typeface="Aptos"/>
              </a:rPr>
              <a:t>Medir los movimientos reales.</a:t>
            </a:r>
            <a:endParaRPr b="0" lang="es-CO" sz="1700" spc="-1" strike="noStrike">
              <a:latin typeface="Arial"/>
            </a:endParaRPr>
          </a:p>
        </p:txBody>
      </p:sp>
      <p:sp>
        <p:nvSpPr>
          <p:cNvPr id="127" name="Rectangle 12"/>
          <p:cNvSpPr/>
          <p:nvPr/>
        </p:nvSpPr>
        <p:spPr>
          <a:xfrm>
            <a:off x="8010000" y="1737360"/>
            <a:ext cx="3474360" cy="3428640"/>
          </a:xfrm>
          <a:prstGeom prst="rect">
            <a:avLst/>
          </a:prstGeom>
          <a:solidFill>
            <a:srgbClr val="1c304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8" name="TextBox 13"/>
          <p:cNvSpPr/>
          <p:nvPr/>
        </p:nvSpPr>
        <p:spPr>
          <a:xfrm>
            <a:off x="8192880" y="1874520"/>
            <a:ext cx="3108600" cy="66852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1" lang="es-CO" sz="1900" spc="-1" strike="noStrike">
                <a:solidFill>
                  <a:srgbClr val="4ed3ba"/>
                </a:solidFill>
                <a:latin typeface="Aptos"/>
              </a:rPr>
              <a:t>3 · Comparar y concluir</a:t>
            </a:r>
            <a:endParaRPr b="0" lang="es-CO" sz="1900" spc="-1" strike="noStrike">
              <a:latin typeface="Arial"/>
            </a:endParaRPr>
          </a:p>
        </p:txBody>
      </p:sp>
      <p:sp>
        <p:nvSpPr>
          <p:cNvPr id="129" name="TextBox 14"/>
          <p:cNvSpPr/>
          <p:nvPr/>
        </p:nvSpPr>
        <p:spPr>
          <a:xfrm>
            <a:off x="8192880" y="2514600"/>
            <a:ext cx="3108600" cy="235332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700" spc="-1" strike="noStrike">
                <a:solidFill>
                  <a:srgbClr val="f3f6fa"/>
                </a:solidFill>
                <a:latin typeface="Aptos"/>
              </a:rPr>
              <a:t>Mejorar el algoritmo de aprendizaje.</a:t>
            </a:r>
            <a:endParaRPr b="0" lang="es-CO" sz="1700" spc="-1" strike="noStrike">
              <a:latin typeface="Arial"/>
            </a:endParaRPr>
          </a:p>
          <a:p>
            <a:pPr>
              <a:lnSpc>
                <a:spcPct val="100000"/>
              </a:lnSpc>
              <a:spcAft>
                <a:spcPts val="499"/>
              </a:spcAft>
              <a:buNone/>
            </a:pPr>
            <a:r>
              <a:rPr b="0" lang="es-CO" sz="1700" spc="-1" strike="noStrike">
                <a:solidFill>
                  <a:srgbClr val="f3f6fa"/>
                </a:solidFill>
                <a:latin typeface="Aptos"/>
              </a:rPr>
              <a:t>Probar con y sin sus correcciones.</a:t>
            </a:r>
            <a:endParaRPr b="0" lang="es-CO" sz="1700" spc="-1" strike="noStrike">
              <a:latin typeface="Arial"/>
            </a:endParaRPr>
          </a:p>
          <a:p>
            <a:pPr>
              <a:lnSpc>
                <a:spcPct val="100000"/>
              </a:lnSpc>
              <a:spcAft>
                <a:spcPts val="499"/>
              </a:spcAft>
              <a:buNone/>
            </a:pPr>
            <a:r>
              <a:rPr b="0" lang="es-CO" sz="1700" spc="-1" strike="noStrike">
                <a:solidFill>
                  <a:srgbClr val="f3f6fa"/>
                </a:solidFill>
                <a:latin typeface="Aptos"/>
              </a:rPr>
              <a:t>Usar las mismas condiciones.</a:t>
            </a:r>
            <a:endParaRPr b="0" lang="es-CO" sz="1700" spc="-1" strike="noStrike">
              <a:latin typeface="Arial"/>
            </a:endParaRPr>
          </a:p>
          <a:p>
            <a:pPr>
              <a:lnSpc>
                <a:spcPct val="100000"/>
              </a:lnSpc>
              <a:spcAft>
                <a:spcPts val="499"/>
              </a:spcAft>
              <a:buNone/>
            </a:pPr>
            <a:r>
              <a:rPr b="0" lang="es-CO" sz="1700" spc="-1" strike="noStrike">
                <a:solidFill>
                  <a:srgbClr val="f3f6fa"/>
                </a:solidFill>
                <a:latin typeface="Aptos"/>
              </a:rPr>
              <a:t>Explicar qué mejoró y qué no.</a:t>
            </a:r>
            <a:endParaRPr b="0" lang="es-CO" sz="1700" spc="-1" strike="noStrike">
              <a:latin typeface="Arial"/>
            </a:endParaRPr>
          </a:p>
        </p:txBody>
      </p:sp>
      <p:sp>
        <p:nvSpPr>
          <p:cNvPr id="130" name="TextBox 15"/>
          <p:cNvSpPr/>
          <p:nvPr/>
        </p:nvSpPr>
        <p:spPr>
          <a:xfrm>
            <a:off x="731520" y="5440680"/>
            <a:ext cx="10743840" cy="67140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700" spc="-1" strike="noStrike">
                <a:solidFill>
                  <a:srgbClr val="ffd187"/>
                </a:solidFill>
                <a:latin typeface="Aptos"/>
              </a:rPr>
              <a:t>En paralelo: actualizar la tesis con lo que ya hicimos.</a:t>
            </a:r>
            <a:endParaRPr b="0" lang="es-CO" sz="1700" spc="-1" strike="noStrike">
              <a:latin typeface="Arial"/>
            </a:endParaRPr>
          </a:p>
          <a:p>
            <a:pPr>
              <a:lnSpc>
                <a:spcPct val="100000"/>
              </a:lnSpc>
              <a:spcAft>
                <a:spcPts val="499"/>
              </a:spcAft>
              <a:buNone/>
            </a:pPr>
            <a:r>
              <a:rPr b="0" lang="es-CO" sz="1700" spc="-1" strike="noStrike">
                <a:solidFill>
                  <a:srgbClr val="ffd187"/>
                </a:solidFill>
                <a:latin typeface="Aptos"/>
              </a:rPr>
              <a:t>Principal dificultad: faltan pruebas físicas y aún no demostramos la mejora por aprendizaje.</a:t>
            </a:r>
            <a:endParaRPr b="0" lang="es-CO" sz="17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1d30"/>
        </a:solidFill>
      </p:bgPr>
    </p:bg>
    <p:spTree>
      <p:nvGrpSpPr>
        <p:cNvPr id="1" name=""/>
        <p:cNvGrpSpPr/>
        <p:nvPr/>
      </p:nvGrpSpPr>
      <p:grpSpPr>
        <a:xfrm>
          <a:off x="0" y="0"/>
          <a:ext cx="0" cy="0"/>
          <a:chOff x="0" y="0"/>
          <a:chExt cx="0" cy="0"/>
        </a:xfrm>
      </p:grpSpPr>
      <p:sp>
        <p:nvSpPr>
          <p:cNvPr id="131" name="Rectangle 1"/>
          <p:cNvSpPr/>
          <p:nvPr/>
        </p:nvSpPr>
        <p:spPr>
          <a:xfrm>
            <a:off x="411480" y="411480"/>
            <a:ext cx="91080" cy="685440"/>
          </a:xfrm>
          <a:prstGeom prst="rect">
            <a:avLst/>
          </a:prstGeom>
          <a:solidFill>
            <a:srgbClr val="4ed3b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32" name="TextBox 2"/>
          <p:cNvSpPr/>
          <p:nvPr/>
        </p:nvSpPr>
        <p:spPr>
          <a:xfrm>
            <a:off x="685800" y="320040"/>
            <a:ext cx="109724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1" lang="es-CO" sz="2600" spc="-1" strike="noStrike">
                <a:solidFill>
                  <a:srgbClr val="f3f6fa"/>
                </a:solidFill>
                <a:latin typeface="Aptos"/>
              </a:rPr>
              <a:t>¿Qué entregaremos en la próxima revisión?</a:t>
            </a:r>
            <a:endParaRPr b="0" lang="es-CO" sz="2600" spc="-1" strike="noStrike">
              <a:latin typeface="Arial"/>
            </a:endParaRPr>
          </a:p>
        </p:txBody>
      </p:sp>
      <p:sp>
        <p:nvSpPr>
          <p:cNvPr id="133" name="TextBox 3"/>
          <p:cNvSpPr/>
          <p:nvPr/>
        </p:nvSpPr>
        <p:spPr>
          <a:xfrm>
            <a:off x="713160" y="960120"/>
            <a:ext cx="10881000" cy="33300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600" spc="-1" strike="noStrike">
                <a:solidFill>
                  <a:srgbClr val="b8c6d8"/>
                </a:solidFill>
                <a:latin typeface="Aptos"/>
              </a:rPr>
              <a:t>Compromiso propuesto: un informe de revisión eléctrica y el borrador de tesis actualizado.</a:t>
            </a:r>
            <a:endParaRPr b="0" lang="es-CO" sz="1600" spc="-1" strike="noStrike">
              <a:latin typeface="Arial"/>
            </a:endParaRPr>
          </a:p>
        </p:txBody>
      </p:sp>
      <p:sp>
        <p:nvSpPr>
          <p:cNvPr id="134" name="TextBox 4"/>
          <p:cNvSpPr/>
          <p:nvPr/>
        </p:nvSpPr>
        <p:spPr>
          <a:xfrm>
            <a:off x="685800" y="6473880"/>
            <a:ext cx="1005804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000" spc="-1" strike="noStrike">
                <a:solidFill>
                  <a:srgbClr val="b8c6d8"/>
                </a:solidFill>
                <a:latin typeface="Aptos"/>
              </a:rPr>
              <a:t>NOVA SPOT MICRO  ·  Proyecto de Grado II  ·  07 septiembre 2026</a:t>
            </a:r>
            <a:endParaRPr b="0" lang="es-CO" sz="1000" spc="-1" strike="noStrike">
              <a:latin typeface="Arial"/>
            </a:endParaRPr>
          </a:p>
        </p:txBody>
      </p:sp>
      <p:sp>
        <p:nvSpPr>
          <p:cNvPr id="135" name="TextBox 5"/>
          <p:cNvSpPr/>
          <p:nvPr/>
        </p:nvSpPr>
        <p:spPr>
          <a:xfrm>
            <a:off x="10972800" y="6437520"/>
            <a:ext cx="639720" cy="27216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200" spc="-1" strike="noStrike">
                <a:solidFill>
                  <a:srgbClr val="4ed3ba"/>
                </a:solidFill>
                <a:latin typeface="Aptos"/>
              </a:rPr>
              <a:t>7/7</a:t>
            </a:r>
            <a:endParaRPr b="0" lang="es-CO" sz="1200" spc="-1" strike="noStrike">
              <a:latin typeface="Arial"/>
            </a:endParaRPr>
          </a:p>
        </p:txBody>
      </p:sp>
      <p:sp>
        <p:nvSpPr>
          <p:cNvPr id="136" name="Rectangle 6"/>
          <p:cNvSpPr/>
          <p:nvPr/>
        </p:nvSpPr>
        <p:spPr>
          <a:xfrm>
            <a:off x="731520" y="1691640"/>
            <a:ext cx="10716480" cy="1599840"/>
          </a:xfrm>
          <a:prstGeom prst="rect">
            <a:avLst/>
          </a:prstGeom>
          <a:solidFill>
            <a:srgbClr val="1c304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37" name="TextBox 7"/>
          <p:cNvSpPr/>
          <p:nvPr/>
        </p:nvSpPr>
        <p:spPr>
          <a:xfrm>
            <a:off x="914400" y="1828800"/>
            <a:ext cx="10350720" cy="37908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1" lang="es-CO" sz="1900" spc="-1" strike="noStrike">
                <a:solidFill>
                  <a:srgbClr val="4ed3ba"/>
                </a:solidFill>
                <a:latin typeface="Aptos"/>
              </a:rPr>
              <a:t>Un informe con mediciones y una tesis actualizada</a:t>
            </a:r>
            <a:endParaRPr b="0" lang="es-CO" sz="1900" spc="-1" strike="noStrike">
              <a:latin typeface="Arial"/>
            </a:endParaRPr>
          </a:p>
        </p:txBody>
      </p:sp>
      <p:sp>
        <p:nvSpPr>
          <p:cNvPr id="138" name="TextBox 8"/>
          <p:cNvSpPr/>
          <p:nvPr/>
        </p:nvSpPr>
        <p:spPr>
          <a:xfrm>
            <a:off x="914400" y="2468880"/>
            <a:ext cx="10350720" cy="67140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1700" spc="-1" strike="noStrike">
                <a:solidFill>
                  <a:srgbClr val="f3f6fa"/>
                </a:solidFill>
                <a:latin typeface="Aptos"/>
              </a:rPr>
              <a:t>Registrar qué revisamos, qué medimos y qué falta resolver.</a:t>
            </a:r>
            <a:endParaRPr b="0" lang="es-CO" sz="1700" spc="-1" strike="noStrike">
              <a:latin typeface="Arial"/>
            </a:endParaRPr>
          </a:p>
          <a:p>
            <a:pPr>
              <a:lnSpc>
                <a:spcPct val="100000"/>
              </a:lnSpc>
              <a:spcAft>
                <a:spcPts val="499"/>
              </a:spcAft>
              <a:buNone/>
            </a:pPr>
            <a:r>
              <a:rPr b="0" lang="es-CO" sz="1700" spc="-1" strike="noStrike">
                <a:solidFill>
                  <a:srgbClr val="f3f6fa"/>
                </a:solidFill>
                <a:latin typeface="Aptos"/>
              </a:rPr>
              <a:t>Incluir fotos, resultados nuevos y correcciones del documento.</a:t>
            </a:r>
            <a:endParaRPr b="0" lang="es-CO" sz="1700" spc="-1" strike="noStrike">
              <a:latin typeface="Arial"/>
            </a:endParaRPr>
          </a:p>
        </p:txBody>
      </p:sp>
      <p:sp>
        <p:nvSpPr>
          <p:cNvPr id="139" name="TextBox 9"/>
          <p:cNvSpPr/>
          <p:nvPr/>
        </p:nvSpPr>
        <p:spPr>
          <a:xfrm>
            <a:off x="868680" y="3584520"/>
            <a:ext cx="10378080" cy="123228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2500" spc="-1" strike="noStrike">
                <a:solidFill>
                  <a:srgbClr val="f3f6fa"/>
                </a:solidFill>
                <a:latin typeface="Aptos"/>
              </a:rPr>
              <a:t>“</a:t>
            </a:r>
            <a:r>
              <a:rPr b="0" lang="es-CO" sz="2500" spc="-1" strike="noStrike">
                <a:solidFill>
                  <a:srgbClr val="f3f6fa"/>
                </a:solidFill>
                <a:latin typeface="Aptos"/>
              </a:rPr>
              <a:t>Nuestro proyecto todavía no puede darse por terminado porque falta comprobar la marcha segura del robot real y evaluar las correcciones aprendidas.”</a:t>
            </a:r>
            <a:endParaRPr b="0" lang="es-CO" sz="2500" spc="-1" strike="noStrike">
              <a:latin typeface="Arial"/>
            </a:endParaRPr>
          </a:p>
        </p:txBody>
      </p:sp>
      <p:sp>
        <p:nvSpPr>
          <p:cNvPr id="140" name="TextBox 10"/>
          <p:cNvSpPr/>
          <p:nvPr/>
        </p:nvSpPr>
        <p:spPr>
          <a:xfrm>
            <a:off x="868680" y="4800600"/>
            <a:ext cx="10378080" cy="123228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99"/>
              </a:spcAft>
              <a:buNone/>
            </a:pPr>
            <a:r>
              <a:rPr b="0" lang="es-CO" sz="2500" spc="-1" strike="noStrike">
                <a:solidFill>
                  <a:srgbClr val="4ed3ba"/>
                </a:solidFill>
                <a:latin typeface="Aptos"/>
              </a:rPr>
              <a:t>“</a:t>
            </a:r>
            <a:r>
              <a:rPr b="0" lang="es-CO" sz="2500" spc="-1" strike="noStrike">
                <a:solidFill>
                  <a:srgbClr val="4ed3ba"/>
                </a:solidFill>
                <a:latin typeface="Aptos"/>
              </a:rPr>
              <a:t>La evidencia que permitirá demostrar su finalización será el registro de pruebas comparables, con mediciones y conclusiones sobre lo que funcionó y lo que no.”</a:t>
            </a:r>
            <a:endParaRPr b="0" lang="es-CO" sz="25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38</TotalTime>
  <Application>LibreOffice/7.3.7.2$Linux_X86_64 LibreOffice_project/30$Build-2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es-CO</dc:language>
  <cp:lastModifiedBy/>
  <dcterms:modified xsi:type="dcterms:W3CDTF">2026-09-07T17:43:35Z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