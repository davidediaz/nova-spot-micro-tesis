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62" r:id="rId14"/>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Nuestro propósito es que el robot camine de forma estable y comprobar si el aprendizaje ayuda a mejorar su movimiento. Ya tenemos el modelo en simulación y el prototipo que se ve en las fotografías. En las pruebas físicas respondieron los doce motores, pero apareció un exceso de corriente y detuvimos las pruebas. Todavía debemos resolver la causa antes de continuar. Las fotografías muestran la construcción; no demuestran por sí solas una marcha segura.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fila corresponde a uno de los cinco objetivos. Para el primero tenemos un modelo matemático, pero falta contrastarlo con mediciones del robot. Para el segundo tenemos un programa que detecta fallos, pero falta comprobar la seguridad eléctrica. En el tercero ya creamos y probamos movimientos en simulación. En el cuarto entrenamos el algoritmo, aunque no logró la mejora buscada. El quinto está menos avanzado porque falta completar la comparación. Estos porcentajes son estimaciones: dividimos cada objetivo en cuatro etapas y cada etapa cerrada suma 25 %. La guía técnica explica cuáles 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Gazebo y MuJoCo son programas que simulan el robot. En Gazebo hicimos cinco pruebas y el avance medio fue de unos 2,4 centímetros por cada secuencia completa de gateo. En MuJoCo ajustamos el movimiento y el avance pasó de 2,7 a 9,9 milímetros por ciclo. Aún falta mejorar cuándo despega y aterriza cada pata. El programa de seguridad detectó los nueve fallos que provocamos y envió la orden de detener la marcha; falta comprobar la parada eléctrica real. Entrenamos el algoritmo de aprendizaje cinco veces, pero sus correcciones no cumplieron los criterios de mejora. La captura de Gazebo ilustra el modelo actual: los números vienen de los informes de pruebas anteriores.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tesis ya tiene un borrador de 73 páginas. Están escritos el modelo, los procedimientos, el funcionamiento del sistema y los resultados disponibles. Faltan las mediciones y pruebas del robot real, la comparación final y las conclusiones definitivas. También debemos añadir las nuevas pruebas y fotos. Hay frases antiguas que dicen que no hemos entrenado el algoritmo, aunque ya lo hicimos. Vamos a corregirlas para que el documento refleje el mismo estado en todas sus secciones. Tener los capítulos escritos no significa que la tesis esté terminada.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orden de trabajo empieza por resolver el exceso de corriente y comprobar el apagado seguro. Después ajustaremos un motor y una pata antes de probar el robot completo. Registraremos sus movimientos y el consumo. Finalmente evaluaremos las correcciones aprendidas frente al movimiento básico, usando las mismas condiciones. La comparación debe mostrar tanto lo que mejora como lo que empeora. En paralelo actualizaremos la tesis. Las principales dificultades son la validación física pendiente y que aún no hemos demostrado la mejora mediante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la próxima revisión proponemos entregar un informe de revisión eléctrica y una versión actualizada de la tesis. El informe debe decir qué revisamos, qué medimos, con qué instrumentos y qué falta. Si una prueba no puede hacerse con seguridad, lo registraremos como pendiente. No prometemos una caminata antes de resolver esos requisitos. Nuestro proyecto todavía no puede darse por terminado porque falta comprobar la marcha segura del robot real y evaluar las correcciones aprendidas. La evidencia de cierre serán pruebas comparables, mediciones y conclusiones que expliquen lo que funcionó y lo que no.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diapositiva explica qué buscamos con cada objetivo y qué falta para cerrarlo. Todos tienen avances, pero ninguno está cumplido por completo. El tercero es el más avanzado porque ya implementamos y probamos los movimientos en simulación. El quinto tiene menor avance: faltan la comparación final y las pruebas del robot real. En el cuarto entrenar el algoritmo cuenta como trabajo realizado, pero todavía no demuestra la mejora buscada. Los porcentajes son estimaciones justificadas en la guía, no una calificación del profesor.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Nuestro robot: qué hemos logrado</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Nova Spot Micro · Control del movimiento y del equilibrio</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1/7</a:t>
            </a:r>
          </a:p>
        </p:txBody>
      </p:sp>
      <p:sp>
        <p:nvSpPr>
          <p:cNvPr id="7" name="TextBox 6"/>
          <p:cNvSpPr txBox="1"/>
          <p:nvPr/>
        </p:nvSpPr>
        <p:spPr>
          <a:xfrm>
            <a:off x="731520" y="1645920"/>
            <a:ext cx="4663440" cy="914400"/>
          </a:xfrm>
          <a:prstGeom prst="rect">
            <a:avLst/>
          </a:prstGeom>
          <a:noFill/>
        </p:spPr>
        <p:txBody>
          <a:bodyPr wrap="square">
            <a:spAutoFit/>
          </a:bodyPr>
          <a:lstStyle/>
          <a:p>
            <a:pPr>
              <a:spcAft>
                <a:spcPts val="500"/>
              </a:spcAft>
              <a:defRPr sz="1900" b="0">
                <a:solidFill>
                  <a:srgbClr val="F3F6FA"/>
                </a:solidFill>
                <a:latin typeface="Aptos"/>
              </a:defRPr>
            </a:pPr>
            <a:r>
              <a:t>Buscamos una marcha estable y probar si el robot mejora aprendiendo de sus resultados.</a:t>
            </a:r>
          </a:p>
        </p:txBody>
      </p:sp>
      <p:sp>
        <p:nvSpPr>
          <p:cNvPr id="8" name="Rectangle 7"/>
          <p:cNvSpPr/>
          <p:nvPr/>
        </p:nvSpPr>
        <p:spPr>
          <a:xfrm>
            <a:off x="731520" y="2788920"/>
            <a:ext cx="4663440" cy="269748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79"/>
            <a:ext cx="4297679" cy="502920"/>
          </a:xfrm>
          <a:prstGeom prst="rect">
            <a:avLst/>
          </a:prstGeom>
          <a:noFill/>
        </p:spPr>
        <p:txBody>
          <a:bodyPr wrap="square">
            <a:spAutoFit/>
          </a:bodyPr>
          <a:lstStyle/>
          <a:p>
            <a:pPr>
              <a:spcAft>
                <a:spcPts val="500"/>
              </a:spcAft>
              <a:defRPr sz="1900" b="1">
                <a:solidFill>
                  <a:srgbClr val="4ED3BA"/>
                </a:solidFill>
                <a:latin typeface="Aptos"/>
              </a:defRPr>
            </a:pPr>
            <a:r>
              <a:t>Ahora: pruebas del robot real</a:t>
            </a:r>
          </a:p>
        </p:txBody>
      </p:sp>
      <p:sp>
        <p:nvSpPr>
          <p:cNvPr id="10" name="TextBox 9"/>
          <p:cNvSpPr txBox="1"/>
          <p:nvPr/>
        </p:nvSpPr>
        <p:spPr>
          <a:xfrm>
            <a:off x="914400" y="3566160"/>
            <a:ext cx="4297679" cy="1828800"/>
          </a:xfrm>
          <a:prstGeom prst="rect">
            <a:avLst/>
          </a:prstGeom>
          <a:noFill/>
        </p:spPr>
        <p:txBody>
          <a:bodyPr wrap="square">
            <a:spAutoFit/>
          </a:bodyPr>
          <a:lstStyle/>
          <a:p>
            <a:pPr>
              <a:spcAft>
                <a:spcPts val="500"/>
              </a:spcAft>
              <a:defRPr sz="1700" b="0">
                <a:solidFill>
                  <a:srgbClr val="F3F6FA"/>
                </a:solidFill>
                <a:latin typeface="Aptos"/>
              </a:defRPr>
            </a:pPr>
            <a:r>
              <a:t>El robot camina en simulación.</a:t>
            </a:r>
          </a:p>
          <a:p>
            <a:pPr>
              <a:spcAft>
                <a:spcPts val="500"/>
              </a:spcAft>
              <a:defRPr sz="1700" b="0">
                <a:solidFill>
                  <a:srgbClr val="F3F6FA"/>
                </a:solidFill>
                <a:latin typeface="Aptos"/>
              </a:defRPr>
            </a:pPr>
            <a:r>
              <a:t>Los 12 motores respondieron.</a:t>
            </a:r>
          </a:p>
          <a:p>
            <a:pPr>
              <a:spcAft>
                <a:spcPts val="500"/>
              </a:spcAft>
              <a:defRPr sz="1700" b="0">
                <a:solidFill>
                  <a:srgbClr val="F3F6FA"/>
                </a:solidFill>
                <a:latin typeface="Aptos"/>
              </a:defRPr>
            </a:pPr>
            <a:r>
              <a:t>Las pruebas físicas se pausaron por exceso de corriente.</a:t>
            </a:r>
          </a:p>
          <a:p>
            <a:pPr>
              <a:spcAft>
                <a:spcPts val="500"/>
              </a:spcAft>
              <a:defRPr sz="1700" b="0">
                <a:solidFill>
                  <a:srgbClr val="F3F6FA"/>
                </a:solidFill>
                <a:latin typeface="Aptos"/>
              </a:defRPr>
            </a:pPr>
            <a:r>
              <a:t>Falta resolver la causa.</a:t>
            </a:r>
          </a:p>
        </p:txBody>
      </p:sp>
      <p:sp>
        <p:nvSpPr>
          <p:cNvPr id="11" name="Rectangle 10"/>
          <p:cNvSpPr/>
          <p:nvPr/>
        </p:nvSpPr>
        <p:spPr>
          <a:xfrm>
            <a:off x="5623560" y="1691640"/>
            <a:ext cx="2331720" cy="41148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jpeg"/>
          <p:cNvPicPr>
            <a:picLocks noChangeAspect="1"/>
          </p:cNvPicPr>
          <p:nvPr/>
        </p:nvPicPr>
        <p:blipFill>
          <a:blip r:embed="rId2"/>
          <a:stretch>
            <a:fillRect/>
          </a:stretch>
        </p:blipFill>
        <p:spPr>
          <a:xfrm>
            <a:off x="5632132" y="1691640"/>
            <a:ext cx="2314575" cy="4114800"/>
          </a:xfrm>
          <a:prstGeom prst="rect">
            <a:avLst/>
          </a:prstGeom>
        </p:spPr>
      </p:pic>
      <p:sp>
        <p:nvSpPr>
          <p:cNvPr id="13" name="TextBox 12"/>
          <p:cNvSpPr txBox="1"/>
          <p:nvPr/>
        </p:nvSpPr>
        <p:spPr>
          <a:xfrm>
            <a:off x="5623560" y="5861303"/>
            <a:ext cx="2331720" cy="365760"/>
          </a:xfrm>
          <a:prstGeom prst="rect">
            <a:avLst/>
          </a:prstGeom>
          <a:noFill/>
        </p:spPr>
        <p:txBody>
          <a:bodyPr wrap="square">
            <a:spAutoFit/>
          </a:bodyPr>
          <a:lstStyle/>
          <a:p>
            <a:pPr>
              <a:spcAft>
                <a:spcPts val="500"/>
              </a:spcAft>
              <a:defRPr sz="1100" b="0">
                <a:solidFill>
                  <a:srgbClr val="B8C6D8"/>
                </a:solidFill>
                <a:latin typeface="Aptos"/>
              </a:defRPr>
            </a:pPr>
            <a:r>
              <a:t>1 · Vista general del robot</a:t>
            </a:r>
          </a:p>
        </p:txBody>
      </p:sp>
      <p:sp>
        <p:nvSpPr>
          <p:cNvPr id="14" name="Rectangle 13"/>
          <p:cNvSpPr/>
          <p:nvPr/>
        </p:nvSpPr>
        <p:spPr>
          <a:xfrm>
            <a:off x="8138160" y="1691640"/>
            <a:ext cx="3310128" cy="2487168"/>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5.jpeg"/>
          <p:cNvPicPr>
            <a:picLocks noChangeAspect="1"/>
          </p:cNvPicPr>
          <p:nvPr/>
        </p:nvPicPr>
        <p:blipFill>
          <a:blip r:embed="rId3"/>
          <a:stretch>
            <a:fillRect/>
          </a:stretch>
        </p:blipFill>
        <p:spPr>
          <a:xfrm>
            <a:off x="8138160" y="1693926"/>
            <a:ext cx="3310128" cy="2482596"/>
          </a:xfrm>
          <a:prstGeom prst="rect">
            <a:avLst/>
          </a:prstGeom>
        </p:spPr>
      </p:pic>
      <p:sp>
        <p:nvSpPr>
          <p:cNvPr id="16" name="TextBox 15"/>
          <p:cNvSpPr txBox="1"/>
          <p:nvPr/>
        </p:nvSpPr>
        <p:spPr>
          <a:xfrm>
            <a:off x="8138160" y="4233672"/>
            <a:ext cx="3310128" cy="365760"/>
          </a:xfrm>
          <a:prstGeom prst="rect">
            <a:avLst/>
          </a:prstGeom>
          <a:noFill/>
        </p:spPr>
        <p:txBody>
          <a:bodyPr wrap="square">
            <a:spAutoFit/>
          </a:bodyPr>
          <a:lstStyle/>
          <a:p>
            <a:pPr>
              <a:spcAft>
                <a:spcPts val="500"/>
              </a:spcAft>
              <a:defRPr sz="1100" b="0">
                <a:solidFill>
                  <a:srgbClr val="B8C6D8"/>
                </a:solidFill>
                <a:latin typeface="Aptos"/>
              </a:defRPr>
            </a:pPr>
            <a:r>
              <a:t>5 · Electrónica y conexiones en banco</a:t>
            </a:r>
          </a:p>
        </p:txBody>
      </p:sp>
      <p:sp>
        <p:nvSpPr>
          <p:cNvPr id="17" name="TextBox 16"/>
          <p:cNvSpPr txBox="1"/>
          <p:nvPr/>
        </p:nvSpPr>
        <p:spPr>
          <a:xfrm>
            <a:off x="8138160" y="4617720"/>
            <a:ext cx="3310128" cy="1234440"/>
          </a:xfrm>
          <a:prstGeom prst="rect">
            <a:avLst/>
          </a:prstGeom>
          <a:noFill/>
        </p:spPr>
        <p:txBody>
          <a:bodyPr wrap="square">
            <a:spAutoFit/>
          </a:bodyPr>
          <a:lstStyle/>
          <a:p>
            <a:pPr>
              <a:spcAft>
                <a:spcPts val="500"/>
              </a:spcAft>
              <a:defRPr sz="1700" b="0">
                <a:solidFill>
                  <a:srgbClr val="4ED3BA"/>
                </a:solidFill>
                <a:latin typeface="Aptos"/>
              </a:defRPr>
            </a:pPr>
            <a:r>
              <a:t>Ya tenemos el prototipo.</a:t>
            </a:r>
          </a:p>
          <a:p>
            <a:pPr>
              <a:spcAft>
                <a:spcPts val="500"/>
              </a:spcAft>
              <a:defRPr sz="1700" b="0">
                <a:solidFill>
                  <a:srgbClr val="4ED3BA"/>
                </a:solidFill>
                <a:latin typeface="Aptos"/>
              </a:defRPr>
            </a:pPr>
            <a:r>
              <a:t>Falta comprobar que camina de forma segura.</a:t>
            </a:r>
          </a:p>
        </p:txBody>
      </p:sp>
      <p:sp>
        <p:nvSpPr>
          <p:cNvPr id="18" name="TextBox 17"/>
          <p:cNvSpPr txBox="1"/>
          <p:nvPr/>
        </p:nvSpPr>
        <p:spPr>
          <a:xfrm>
            <a:off x="731520" y="6035040"/>
            <a:ext cx="10789920" cy="274320"/>
          </a:xfrm>
          <a:prstGeom prst="rect">
            <a:avLst/>
          </a:prstGeom>
          <a:noFill/>
        </p:spPr>
        <p:txBody>
          <a:bodyPr wrap="square">
            <a:spAutoFit/>
          </a:bodyPr>
          <a:lstStyle/>
          <a:p>
            <a:pPr>
              <a:spcAft>
                <a:spcPts val="500"/>
              </a:spcAft>
              <a:defRPr sz="1500" b="0">
                <a:solidFill>
                  <a:srgbClr val="B8C6D8"/>
                </a:solidFill>
                <a:latin typeface="Aptos"/>
              </a:defRPr>
            </a:pPr>
            <a:r>
              <a:t>David Esteban Díaz Castro · David Felipe Díaz Suesca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¿Cuánto hemos avanzado?</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OE = objetivo específico. Los porcentajes son estimaciones basadas en evidencias.</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2/7</a:t>
            </a:r>
          </a:p>
        </p:txBody>
      </p:sp>
      <p:graphicFrame>
        <p:nvGraphicFramePr>
          <p:cNvPr id="7" name="Table 6"/>
          <p:cNvGraphicFramePr>
            <a:graphicFrameLocks noGrp="1"/>
          </p:cNvGraphicFramePr>
          <p:nvPr/>
        </p:nvGraphicFramePr>
        <p:xfrm>
          <a:off x="731520" y="1783080"/>
          <a:ext cx="10744200" cy="4096512"/>
        </p:xfrm>
        <a:graphic>
          <a:graphicData uri="http://schemas.openxmlformats.org/drawingml/2006/table">
            <a:tbl>
              <a:tblPr firstRow="1" bandRow="1">
                <a:tableStyleId>{5C22544A-7EE6-4342-B048-85BDC9FD1C3A}</a:tableStyleId>
              </a:tblPr>
              <a:tblGrid>
                <a:gridCol w="2788920"/>
                <a:gridCol w="4251960"/>
                <a:gridCol w="868680"/>
                <a:gridCol w="2834640"/>
              </a:tblGrid>
              <a:tr h="438912">
                <a:tc>
                  <a:txBody>
                    <a:bodyPr/>
                    <a:lstStyle/>
                    <a:p>
                      <a:pPr>
                        <a:defRPr sz="1500" b="1">
                          <a:solidFill>
                            <a:srgbClr val="F3F6FA"/>
                          </a:solidFill>
                          <a:latin typeface="Aptos"/>
                        </a:defRPr>
                      </a:pPr>
                      <a:r>
                        <a:t>Objetivo</a:t>
                      </a:r>
                    </a:p>
                  </a:txBody>
                  <a:tcPr>
                    <a:solidFill>
                      <a:srgbClr val="28475F"/>
                    </a:solidFill>
                  </a:tcPr>
                </a:tc>
                <a:tc>
                  <a:txBody>
                    <a:bodyPr/>
                    <a:lstStyle/>
                    <a:p>
                      <a:pPr>
                        <a:defRPr sz="1500" b="1">
                          <a:solidFill>
                            <a:srgbClr val="F3F6FA"/>
                          </a:solidFill>
                          <a:latin typeface="Aptos"/>
                        </a:defRPr>
                      </a:pPr>
                      <a:r>
                        <a:t>¿Qué hicimos y cómo se demuestra?</a:t>
                      </a:r>
                    </a:p>
                  </a:txBody>
                  <a:tcPr>
                    <a:solidFill>
                      <a:srgbClr val="28475F"/>
                    </a:solidFill>
                  </a:tcPr>
                </a:tc>
                <a:tc>
                  <a:txBody>
                    <a:bodyPr/>
                    <a:lstStyle/>
                    <a:p>
                      <a:pPr>
                        <a:defRPr sz="1500" b="1">
                          <a:solidFill>
                            <a:srgbClr val="4ED3BA"/>
                          </a:solidFill>
                          <a:latin typeface="Aptos"/>
                        </a:defRPr>
                      </a:pPr>
                      <a:r>
                        <a:t>%</a:t>
                      </a:r>
                    </a:p>
                  </a:txBody>
                  <a:tcPr>
                    <a:solidFill>
                      <a:srgbClr val="28475F"/>
                    </a:solidFill>
                  </a:tcPr>
                </a:tc>
                <a:tc>
                  <a:txBody>
                    <a:bodyPr/>
                    <a:lstStyle/>
                    <a:p>
                      <a:pPr>
                        <a:defRPr sz="1500" b="1">
                          <a:solidFill>
                            <a:srgbClr val="F3F6FA"/>
                          </a:solidFill>
                          <a:latin typeface="Aptos"/>
                        </a:defRPr>
                      </a:pPr>
                      <a:r>
                        <a:t>Pendiente</a:t>
                      </a:r>
                    </a:p>
                  </a:txBody>
                  <a:tcPr>
                    <a:solidFill>
                      <a:srgbClr val="28475F"/>
                    </a:solidFill>
                  </a:tcPr>
                </a:tc>
              </a:tr>
              <a:tr h="731520">
                <a:tc>
                  <a:txBody>
                    <a:bodyPr/>
                    <a:lstStyle/>
                    <a:p>
                      <a:pPr>
                        <a:defRPr sz="1400" b="0">
                          <a:solidFill>
                            <a:srgbClr val="F3F6FA"/>
                          </a:solidFill>
                          <a:latin typeface="Aptos"/>
                        </a:defRPr>
                      </a:pPr>
                      <a:r>
                        <a:t>OE1 · Conocer y modelar el robot</a:t>
                      </a:r>
                    </a:p>
                  </a:txBody>
                  <a:tcPr>
                    <a:solidFill>
                      <a:srgbClr val="1C3049"/>
                    </a:solidFill>
                  </a:tcPr>
                </a:tc>
                <a:tc>
                  <a:txBody>
                    <a:bodyPr/>
                    <a:lstStyle/>
                    <a:p>
                      <a:pPr>
                        <a:defRPr sz="1400" b="0">
                          <a:solidFill>
                            <a:srgbClr val="F3F6FA"/>
                          </a:solidFill>
                          <a:latin typeface="Aptos"/>
                        </a:defRPr>
                      </a:pPr>
                      <a:r>
                        <a:t>Creamos el modelo matemático.</a:t>
                      </a:r>
                    </a:p>
                    <a:p>
                      <a:pPr>
                        <a:defRPr sz="1400" b="0">
                          <a:solidFill>
                            <a:srgbClr val="F3F6FA"/>
                          </a:solidFill>
                          <a:latin typeface="Aptos"/>
                        </a:defRPr>
                      </a:pPr>
                      <a:r>
                        <a:t>Evidencia: código y pruebas.</a:t>
                      </a:r>
                    </a:p>
                  </a:txBody>
                  <a:tcPr>
                    <a:solidFill>
                      <a:srgbClr val="1C3049"/>
                    </a:solidFill>
                  </a:tcPr>
                </a:tc>
                <a:tc>
                  <a:txBody>
                    <a:bodyPr/>
                    <a:lstStyle/>
                    <a:p>
                      <a:pPr>
                        <a:defRPr sz="1400" b="1">
                          <a:solidFill>
                            <a:srgbClr val="4ED3BA"/>
                          </a:solidFill>
                          <a:latin typeface="Aptos"/>
                        </a:defRPr>
                      </a:pPr>
                      <a:r>
                        <a:t>50 %</a:t>
                      </a:r>
                    </a:p>
                  </a:txBody>
                  <a:tcPr>
                    <a:solidFill>
                      <a:srgbClr val="1C3049"/>
                    </a:solidFill>
                  </a:tcPr>
                </a:tc>
                <a:tc>
                  <a:txBody>
                    <a:bodyPr/>
                    <a:lstStyle/>
                    <a:p>
                      <a:pPr>
                        <a:defRPr sz="1400" b="0">
                          <a:solidFill>
                            <a:srgbClr val="F3F6FA"/>
                          </a:solidFill>
                          <a:latin typeface="Aptos"/>
                        </a:defRPr>
                      </a:pPr>
                      <a:r>
                        <a:t>Medir el robot real y</a:t>
                      </a:r>
                    </a:p>
                    <a:p>
                      <a:pPr>
                        <a:defRPr sz="1400" b="0">
                          <a:solidFill>
                            <a:srgbClr val="F3F6FA"/>
                          </a:solidFill>
                          <a:latin typeface="Aptos"/>
                        </a:defRPr>
                      </a:pPr>
                      <a:r>
                        <a:t>comprobar el modelo.</a:t>
                      </a:r>
                    </a:p>
                  </a:txBody>
                  <a:tcPr>
                    <a:solidFill>
                      <a:srgbClr val="1C3049"/>
                    </a:solidFill>
                  </a:tcPr>
                </a:tc>
              </a:tr>
              <a:tr h="731520">
                <a:tc>
                  <a:txBody>
                    <a:bodyPr/>
                    <a:lstStyle/>
                    <a:p>
                      <a:pPr>
                        <a:defRPr sz="1400" b="0">
                          <a:solidFill>
                            <a:srgbClr val="F3F6FA"/>
                          </a:solidFill>
                          <a:latin typeface="Aptos"/>
                        </a:defRPr>
                      </a:pPr>
                      <a:r>
                        <a:t>OE2 · Controlarlo con seguridad</a:t>
                      </a:r>
                    </a:p>
                  </a:txBody>
                  <a:tcPr>
                    <a:solidFill>
                      <a:srgbClr val="1C3049"/>
                    </a:solidFill>
                  </a:tcPr>
                </a:tc>
                <a:tc>
                  <a:txBody>
                    <a:bodyPr/>
                    <a:lstStyle/>
                    <a:p>
                      <a:pPr>
                        <a:defRPr sz="1400" b="0">
                          <a:solidFill>
                            <a:srgbClr val="F3F6FA"/>
                          </a:solidFill>
                          <a:latin typeface="Aptos"/>
                        </a:defRPr>
                      </a:pPr>
                      <a:r>
                        <a:t>El programa detectó 9 fallos de prueba.</a:t>
                      </a:r>
                    </a:p>
                    <a:p>
                      <a:pPr>
                        <a:defRPr sz="1400" b="0">
                          <a:solidFill>
                            <a:srgbClr val="F3F6FA"/>
                          </a:solidFill>
                          <a:latin typeface="Aptos"/>
                        </a:defRPr>
                      </a:pPr>
                      <a:r>
                        <a:t>Evidencia: registros de cada respuesta.</a:t>
                      </a:r>
                    </a:p>
                  </a:txBody>
                  <a:tcPr>
                    <a:solidFill>
                      <a:srgbClr val="1C3049"/>
                    </a:solidFill>
                  </a:tcPr>
                </a:tc>
                <a:tc>
                  <a:txBody>
                    <a:bodyPr/>
                    <a:lstStyle/>
                    <a:p>
                      <a:pPr>
                        <a:defRPr sz="1400" b="1">
                          <a:solidFill>
                            <a:srgbClr val="4ED3BA"/>
                          </a:solidFill>
                          <a:latin typeface="Aptos"/>
                        </a:defRPr>
                      </a:pPr>
                      <a:r>
                        <a:t>50 %</a:t>
                      </a:r>
                    </a:p>
                  </a:txBody>
                  <a:tcPr>
                    <a:solidFill>
                      <a:srgbClr val="1C3049"/>
                    </a:solidFill>
                  </a:tcPr>
                </a:tc>
                <a:tc>
                  <a:txBody>
                    <a:bodyPr/>
                    <a:lstStyle/>
                    <a:p>
                      <a:pPr>
                        <a:defRPr sz="1400" b="0">
                          <a:solidFill>
                            <a:srgbClr val="F3F6FA"/>
                          </a:solidFill>
                          <a:latin typeface="Aptos"/>
                        </a:defRPr>
                      </a:pPr>
                      <a:r>
                        <a:t>Comprobar alimentación,</a:t>
                      </a:r>
                    </a:p>
                    <a:p>
                      <a:pPr>
                        <a:defRPr sz="1400" b="0">
                          <a:solidFill>
                            <a:srgbClr val="F3F6FA"/>
                          </a:solidFill>
                          <a:latin typeface="Aptos"/>
                        </a:defRPr>
                      </a:pPr>
                      <a:r>
                        <a:t>protecciones y motores.</a:t>
                      </a:r>
                    </a:p>
                  </a:txBody>
                  <a:tcPr>
                    <a:solidFill>
                      <a:srgbClr val="1C3049"/>
                    </a:solidFill>
                  </a:tcPr>
                </a:tc>
              </a:tr>
              <a:tr h="731520">
                <a:tc>
                  <a:txBody>
                    <a:bodyPr/>
                    <a:lstStyle/>
                    <a:p>
                      <a:pPr>
                        <a:defRPr sz="1400" b="0">
                          <a:solidFill>
                            <a:srgbClr val="F3F6FA"/>
                          </a:solidFill>
                          <a:latin typeface="Aptos"/>
                        </a:defRPr>
                      </a:pPr>
                      <a:r>
                        <a:t>OE3 · Crear sus movimientos</a:t>
                      </a:r>
                    </a:p>
                  </a:txBody>
                  <a:tcPr>
                    <a:solidFill>
                      <a:srgbClr val="1C3049"/>
                    </a:solidFill>
                  </a:tcPr>
                </a:tc>
                <a:tc>
                  <a:txBody>
                    <a:bodyPr/>
                    <a:lstStyle/>
                    <a:p>
                      <a:pPr>
                        <a:defRPr sz="1400" b="0">
                          <a:solidFill>
                            <a:srgbClr val="F3F6FA"/>
                          </a:solidFill>
                          <a:latin typeface="Aptos"/>
                        </a:defRPr>
                      </a:pPr>
                      <a:r>
                        <a:t>Probamos postura, paso y gateo.</a:t>
                      </a:r>
                    </a:p>
                    <a:p>
                      <a:pPr>
                        <a:defRPr sz="1400" b="0">
                          <a:solidFill>
                            <a:srgbClr val="F3F6FA"/>
                          </a:solidFill>
                          <a:latin typeface="Aptos"/>
                        </a:defRPr>
                      </a:pPr>
                      <a:r>
                        <a:t>Evidencia: datos de simulación.</a:t>
                      </a:r>
                    </a:p>
                  </a:txBody>
                  <a:tcPr>
                    <a:solidFill>
                      <a:srgbClr val="1C3049"/>
                    </a:solidFill>
                  </a:tcPr>
                </a:tc>
                <a:tc>
                  <a:txBody>
                    <a:bodyPr/>
                    <a:lstStyle/>
                    <a:p>
                      <a:pPr>
                        <a:defRPr sz="1400" b="1">
                          <a:solidFill>
                            <a:srgbClr val="4ED3BA"/>
                          </a:solidFill>
                          <a:latin typeface="Aptos"/>
                        </a:defRPr>
                      </a:pPr>
                      <a:r>
                        <a:t>75 %</a:t>
                      </a:r>
                    </a:p>
                  </a:txBody>
                  <a:tcPr>
                    <a:solidFill>
                      <a:srgbClr val="1C3049"/>
                    </a:solidFill>
                  </a:tcPr>
                </a:tc>
                <a:tc>
                  <a:txBody>
                    <a:bodyPr/>
                    <a:lstStyle/>
                    <a:p>
                      <a:pPr>
                        <a:defRPr sz="1400" b="0">
                          <a:solidFill>
                            <a:srgbClr val="F3F6FA"/>
                          </a:solidFill>
                          <a:latin typeface="Aptos"/>
                        </a:defRPr>
                      </a:pPr>
                      <a:r>
                        <a:t>Probar la marcha real y</a:t>
                      </a:r>
                    </a:p>
                    <a:p>
                      <a:pPr>
                        <a:defRPr sz="1400" b="0">
                          <a:solidFill>
                            <a:srgbClr val="F3F6FA"/>
                          </a:solidFill>
                          <a:latin typeface="Aptos"/>
                        </a:defRPr>
                      </a:pPr>
                      <a:r>
                        <a:t>mejorar los apoyos simulados.</a:t>
                      </a:r>
                    </a:p>
                  </a:txBody>
                  <a:tcPr>
                    <a:solidFill>
                      <a:srgbClr val="1C3049"/>
                    </a:solidFill>
                  </a:tcPr>
                </a:tc>
              </a:tr>
              <a:tr h="731520">
                <a:tc>
                  <a:txBody>
                    <a:bodyPr/>
                    <a:lstStyle/>
                    <a:p>
                      <a:pPr>
                        <a:defRPr sz="1400" b="0">
                          <a:solidFill>
                            <a:srgbClr val="F3F6FA"/>
                          </a:solidFill>
                          <a:latin typeface="Aptos"/>
                        </a:defRPr>
                      </a:pPr>
                      <a:r>
                        <a:t>OE4 · Aprender correcciones</a:t>
                      </a:r>
                    </a:p>
                  </a:txBody>
                  <a:tcPr>
                    <a:solidFill>
                      <a:srgbClr val="1C3049"/>
                    </a:solidFill>
                  </a:tcPr>
                </a:tc>
                <a:tc>
                  <a:txBody>
                    <a:bodyPr/>
                    <a:lstStyle/>
                    <a:p>
                      <a:pPr>
                        <a:defRPr sz="1400" b="0">
                          <a:solidFill>
                            <a:srgbClr val="F3F6FA"/>
                          </a:solidFill>
                          <a:latin typeface="Aptos"/>
                        </a:defRPr>
                      </a:pPr>
                      <a:r>
                        <a:t>Entrenamos el algoritmo cinco veces.</a:t>
                      </a:r>
                    </a:p>
                    <a:p>
                      <a:pPr>
                        <a:defRPr sz="1400" b="0">
                          <a:solidFill>
                            <a:srgbClr val="F3F6FA"/>
                          </a:solidFill>
                          <a:latin typeface="Aptos"/>
                        </a:defRPr>
                      </a:pPr>
                      <a:r>
                        <a:t>Las evaluaciones no mostraron la mejora buscada.</a:t>
                      </a:r>
                    </a:p>
                  </a:txBody>
                  <a:tcPr>
                    <a:solidFill>
                      <a:srgbClr val="1C3049"/>
                    </a:solidFill>
                  </a:tcPr>
                </a:tc>
                <a:tc>
                  <a:txBody>
                    <a:bodyPr/>
                    <a:lstStyle/>
                    <a:p>
                      <a:pPr>
                        <a:defRPr sz="1400" b="1">
                          <a:solidFill>
                            <a:srgbClr val="4ED3BA"/>
                          </a:solidFill>
                          <a:latin typeface="Aptos"/>
                        </a:defRPr>
                      </a:pPr>
                      <a:r>
                        <a:t>50 %</a:t>
                      </a:r>
                    </a:p>
                  </a:txBody>
                  <a:tcPr>
                    <a:solidFill>
                      <a:srgbClr val="1C3049"/>
                    </a:solidFill>
                  </a:tcPr>
                </a:tc>
                <a:tc>
                  <a:txBody>
                    <a:bodyPr/>
                    <a:lstStyle/>
                    <a:p>
                      <a:pPr>
                        <a:defRPr sz="1400" b="0">
                          <a:solidFill>
                            <a:srgbClr val="F3F6FA"/>
                          </a:solidFill>
                          <a:latin typeface="Aptos"/>
                        </a:defRPr>
                      </a:pPr>
                      <a:r>
                        <a:t>Mejorar el aprendizaje y</a:t>
                      </a:r>
                    </a:p>
                    <a:p>
                      <a:pPr>
                        <a:defRPr sz="1400" b="0">
                          <a:solidFill>
                            <a:srgbClr val="F3F6FA"/>
                          </a:solidFill>
                          <a:latin typeface="Aptos"/>
                        </a:defRPr>
                      </a:pPr>
                      <a:r>
                        <a:t>probarlo antes de usarlo.</a:t>
                      </a:r>
                    </a:p>
                  </a:txBody>
                  <a:tcPr>
                    <a:solidFill>
                      <a:srgbClr val="1C3049"/>
                    </a:solidFill>
                  </a:tcPr>
                </a:tc>
              </a:tr>
              <a:tr h="731520">
                <a:tc>
                  <a:txBody>
                    <a:bodyPr/>
                    <a:lstStyle/>
                    <a:p>
                      <a:pPr>
                        <a:defRPr sz="1400" b="0">
                          <a:solidFill>
                            <a:srgbClr val="F3F6FA"/>
                          </a:solidFill>
                          <a:latin typeface="Aptos"/>
                        </a:defRPr>
                      </a:pPr>
                      <a:r>
                        <a:t>OE5 · Comparar los resultados</a:t>
                      </a:r>
                    </a:p>
                  </a:txBody>
                  <a:tcPr>
                    <a:solidFill>
                      <a:srgbClr val="1C3049"/>
                    </a:solidFill>
                  </a:tcPr>
                </a:tc>
                <a:tc>
                  <a:txBody>
                    <a:bodyPr/>
                    <a:lstStyle/>
                    <a:p>
                      <a:pPr>
                        <a:defRPr sz="1400" b="0">
                          <a:solidFill>
                            <a:srgbClr val="F3F6FA"/>
                          </a:solidFill>
                          <a:latin typeface="Aptos"/>
                        </a:defRPr>
                      </a:pPr>
                      <a:r>
                        <a:t>Hicimos una comparación inicial.</a:t>
                      </a:r>
                    </a:p>
                    <a:p>
                      <a:pPr>
                        <a:defRPr sz="1400" b="0">
                          <a:solidFill>
                            <a:srgbClr val="F3F6FA"/>
                          </a:solidFill>
                          <a:latin typeface="Aptos"/>
                        </a:defRPr>
                      </a:pPr>
                      <a:r>
                        <a:t>Evidencia: informes y datos.</a:t>
                      </a:r>
                    </a:p>
                  </a:txBody>
                  <a:tcPr>
                    <a:solidFill>
                      <a:srgbClr val="1C3049"/>
                    </a:solidFill>
                  </a:tcPr>
                </a:tc>
                <a:tc>
                  <a:txBody>
                    <a:bodyPr/>
                    <a:lstStyle/>
                    <a:p>
                      <a:pPr>
                        <a:defRPr sz="1400" b="1">
                          <a:solidFill>
                            <a:srgbClr val="4ED3BA"/>
                          </a:solidFill>
                          <a:latin typeface="Aptos"/>
                        </a:defRPr>
                      </a:pPr>
                      <a:r>
                        <a:t>25 %</a:t>
                      </a:r>
                    </a:p>
                  </a:txBody>
                  <a:tcPr>
                    <a:solidFill>
                      <a:srgbClr val="1C3049"/>
                    </a:solidFill>
                  </a:tcPr>
                </a:tc>
                <a:tc>
                  <a:txBody>
                    <a:bodyPr/>
                    <a:lstStyle/>
                    <a:p>
                      <a:pPr>
                        <a:defRPr sz="1400" b="0">
                          <a:solidFill>
                            <a:srgbClr val="F3F6FA"/>
                          </a:solidFill>
                          <a:latin typeface="Aptos"/>
                        </a:defRPr>
                      </a:pPr>
                      <a:r>
                        <a:t>Completar pruebas comparables</a:t>
                      </a:r>
                    </a:p>
                    <a:p>
                      <a:pPr>
                        <a:defRPr sz="1400" b="0">
                          <a:solidFill>
                            <a:srgbClr val="F3F6FA"/>
                          </a:solidFill>
                          <a:latin typeface="Aptos"/>
                        </a:defRPr>
                      </a:pPr>
                      <a:r>
                        <a:t>en simulación y robot real.</a:t>
                      </a:r>
                    </a:p>
                  </a:txBody>
                  <a:tcPr>
                    <a:solidFill>
                      <a:srgbClr val="1C3049"/>
                    </a:solidFill>
                  </a:tcPr>
                </a:tc>
              </a:tr>
            </a:tbl>
          </a:graphicData>
        </a:graphic>
      </p:graphicFrame>
      <p:sp>
        <p:nvSpPr>
          <p:cNvPr id="8" name="TextBox 7"/>
          <p:cNvSpPr txBox="1"/>
          <p:nvPr/>
        </p:nvSpPr>
        <p:spPr>
          <a:xfrm>
            <a:off x="731520" y="5989320"/>
            <a:ext cx="10607040" cy="320040"/>
          </a:xfrm>
          <a:prstGeom prst="rect">
            <a:avLst/>
          </a:prstGeom>
          <a:noFill/>
        </p:spPr>
        <p:txBody>
          <a:bodyPr wrap="square">
            <a:spAutoFit/>
          </a:bodyPr>
          <a:lstStyle/>
          <a:p>
            <a:pPr>
              <a:spcAft>
                <a:spcPts val="500"/>
              </a:spcAft>
              <a:defRPr sz="1300" b="0">
                <a:solidFill>
                  <a:srgbClr val="FFD187"/>
                </a:solidFill>
                <a:latin typeface="Aptos"/>
              </a:defRPr>
            </a:pPr>
            <a:r>
              <a:t>Cálculo propuesto: 4 etapas por objetivo; cada etapa terminada suma 25 %.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¿Qué mostraron las pruebas?</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Gazebo y MuJoCo son los dos simuladores que usamos para probar el movimiento.</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4/7</a:t>
            </a:r>
          </a:p>
        </p:txBody>
      </p:sp>
      <p:sp>
        <p:nvSpPr>
          <p:cNvPr id="7" name="Rectangle 6"/>
          <p:cNvSpPr/>
          <p:nvPr/>
        </p:nvSpPr>
        <p:spPr>
          <a:xfrm>
            <a:off x="731520" y="1691640"/>
            <a:ext cx="6400800" cy="969264"/>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55648"/>
            <a:ext cx="6035040" cy="329184"/>
          </a:xfrm>
          <a:prstGeom prst="rect">
            <a:avLst/>
          </a:prstGeom>
          <a:noFill/>
        </p:spPr>
        <p:txBody>
          <a:bodyPr wrap="square">
            <a:spAutoFit/>
          </a:bodyPr>
          <a:lstStyle/>
          <a:p>
            <a:pPr>
              <a:spcAft>
                <a:spcPts val="500"/>
              </a:spcAft>
              <a:defRPr sz="1800" b="1">
                <a:solidFill>
                  <a:srgbClr val="4ED3BA"/>
                </a:solidFill>
                <a:latin typeface="Aptos"/>
              </a:defRPr>
            </a:pPr>
            <a:r>
              <a:t>Gazebo · el robot avanza</a:t>
            </a:r>
          </a:p>
        </p:txBody>
      </p:sp>
      <p:sp>
        <p:nvSpPr>
          <p:cNvPr id="9" name="TextBox 8"/>
          <p:cNvSpPr txBox="1"/>
          <p:nvPr/>
        </p:nvSpPr>
        <p:spPr>
          <a:xfrm>
            <a:off x="914400" y="2084832"/>
            <a:ext cx="6035040" cy="594360"/>
          </a:xfrm>
          <a:prstGeom prst="rect">
            <a:avLst/>
          </a:prstGeom>
          <a:noFill/>
        </p:spPr>
        <p:txBody>
          <a:bodyPr wrap="square">
            <a:spAutoFit/>
          </a:bodyPr>
          <a:lstStyle/>
          <a:p>
            <a:pPr>
              <a:spcAft>
                <a:spcPts val="0"/>
              </a:spcAft>
              <a:defRPr sz="1600" b="0">
                <a:solidFill>
                  <a:srgbClr val="F3F6FA"/>
                </a:solidFill>
                <a:latin typeface="Aptos"/>
              </a:defRPr>
            </a:pPr>
            <a:r>
              <a:t>En 5 pruebas avanzó unos 2,4 cm</a:t>
            </a:r>
          </a:p>
          <a:p>
            <a:pPr>
              <a:spcAft>
                <a:spcPts val="0"/>
              </a:spcAft>
              <a:defRPr sz="1600" b="0">
                <a:solidFill>
                  <a:srgbClr val="F3F6FA"/>
                </a:solidFill>
                <a:latin typeface="Aptos"/>
              </a:defRPr>
            </a:pPr>
            <a:r>
              <a:t>por cada secuencia completa de gateo.</a:t>
            </a:r>
          </a:p>
        </p:txBody>
      </p:sp>
      <p:sp>
        <p:nvSpPr>
          <p:cNvPr id="10" name="Rectangle 9"/>
          <p:cNvSpPr/>
          <p:nvPr/>
        </p:nvSpPr>
        <p:spPr>
          <a:xfrm>
            <a:off x="731520" y="2724912"/>
            <a:ext cx="6400800" cy="969264"/>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88920"/>
            <a:ext cx="6035040" cy="329184"/>
          </a:xfrm>
          <a:prstGeom prst="rect">
            <a:avLst/>
          </a:prstGeom>
          <a:noFill/>
        </p:spPr>
        <p:txBody>
          <a:bodyPr wrap="square">
            <a:spAutoFit/>
          </a:bodyPr>
          <a:lstStyle/>
          <a:p>
            <a:pPr>
              <a:spcAft>
                <a:spcPts val="500"/>
              </a:spcAft>
              <a:defRPr sz="1800" b="1">
                <a:solidFill>
                  <a:srgbClr val="4ED3BA"/>
                </a:solidFill>
                <a:latin typeface="Aptos"/>
              </a:defRPr>
            </a:pPr>
            <a:r>
              <a:t>MuJoCo · logramos mejorar el paso</a:t>
            </a:r>
          </a:p>
        </p:txBody>
      </p:sp>
      <p:sp>
        <p:nvSpPr>
          <p:cNvPr id="12" name="TextBox 11"/>
          <p:cNvSpPr txBox="1"/>
          <p:nvPr/>
        </p:nvSpPr>
        <p:spPr>
          <a:xfrm>
            <a:off x="914400" y="3118104"/>
            <a:ext cx="6035040" cy="594360"/>
          </a:xfrm>
          <a:prstGeom prst="rect">
            <a:avLst/>
          </a:prstGeom>
          <a:noFill/>
        </p:spPr>
        <p:txBody>
          <a:bodyPr wrap="square">
            <a:spAutoFit/>
          </a:bodyPr>
          <a:lstStyle/>
          <a:p>
            <a:pPr>
              <a:spcAft>
                <a:spcPts val="0"/>
              </a:spcAft>
              <a:defRPr sz="1600" b="0">
                <a:solidFill>
                  <a:srgbClr val="F3F6FA"/>
                </a:solidFill>
                <a:latin typeface="Aptos"/>
              </a:defRPr>
            </a:pPr>
            <a:r>
              <a:t>El avance pasó de 2,7 a 9,9 mm por ciclo.</a:t>
            </a:r>
          </a:p>
          <a:p>
            <a:pPr>
              <a:spcAft>
                <a:spcPts val="0"/>
              </a:spcAft>
              <a:defRPr sz="1600" b="0">
                <a:solidFill>
                  <a:srgbClr val="F3F6FA"/>
                </a:solidFill>
                <a:latin typeface="Aptos"/>
              </a:defRPr>
            </a:pPr>
            <a:r>
              <a:t>Falta mejorar cuándo apoya cada pata.</a:t>
            </a:r>
          </a:p>
        </p:txBody>
      </p:sp>
      <p:sp>
        <p:nvSpPr>
          <p:cNvPr id="13" name="Rectangle 12"/>
          <p:cNvSpPr/>
          <p:nvPr/>
        </p:nvSpPr>
        <p:spPr>
          <a:xfrm>
            <a:off x="731520" y="3758184"/>
            <a:ext cx="6400800" cy="969264"/>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22192"/>
            <a:ext cx="6035040" cy="329184"/>
          </a:xfrm>
          <a:prstGeom prst="rect">
            <a:avLst/>
          </a:prstGeom>
          <a:noFill/>
        </p:spPr>
        <p:txBody>
          <a:bodyPr wrap="square">
            <a:spAutoFit/>
          </a:bodyPr>
          <a:lstStyle/>
          <a:p>
            <a:pPr>
              <a:spcAft>
                <a:spcPts val="500"/>
              </a:spcAft>
              <a:defRPr sz="1800" b="1">
                <a:solidFill>
                  <a:srgbClr val="4ED3BA"/>
                </a:solidFill>
                <a:latin typeface="Aptos"/>
              </a:defRPr>
            </a:pPr>
            <a:r>
              <a:t>Seguridad · el programa detectó los fallos</a:t>
            </a:r>
          </a:p>
        </p:txBody>
      </p:sp>
      <p:sp>
        <p:nvSpPr>
          <p:cNvPr id="15" name="TextBox 14"/>
          <p:cNvSpPr txBox="1"/>
          <p:nvPr/>
        </p:nvSpPr>
        <p:spPr>
          <a:xfrm>
            <a:off x="914400" y="4151376"/>
            <a:ext cx="6035040" cy="594360"/>
          </a:xfrm>
          <a:prstGeom prst="rect">
            <a:avLst/>
          </a:prstGeom>
          <a:noFill/>
        </p:spPr>
        <p:txBody>
          <a:bodyPr wrap="square">
            <a:spAutoFit/>
          </a:bodyPr>
          <a:lstStyle/>
          <a:p>
            <a:pPr>
              <a:spcAft>
                <a:spcPts val="0"/>
              </a:spcAft>
              <a:defRPr sz="1600" b="0">
                <a:solidFill>
                  <a:srgbClr val="F3F6FA"/>
                </a:solidFill>
                <a:latin typeface="Aptos"/>
              </a:defRPr>
            </a:pPr>
            <a:r>
              <a:t>Detectó los 9 fallos que provocamos</a:t>
            </a:r>
          </a:p>
          <a:p>
            <a:pPr>
              <a:spcAft>
                <a:spcPts val="0"/>
              </a:spcAft>
              <a:defRPr sz="1600" b="0">
                <a:solidFill>
                  <a:srgbClr val="F3F6FA"/>
                </a:solidFill>
                <a:latin typeface="Aptos"/>
              </a:defRPr>
            </a:pPr>
            <a:r>
              <a:t>y envió la orden de detener la marcha.</a:t>
            </a:r>
          </a:p>
        </p:txBody>
      </p:sp>
      <p:sp>
        <p:nvSpPr>
          <p:cNvPr id="16" name="Rectangle 15"/>
          <p:cNvSpPr/>
          <p:nvPr/>
        </p:nvSpPr>
        <p:spPr>
          <a:xfrm>
            <a:off x="731520" y="4791456"/>
            <a:ext cx="6400800" cy="969264"/>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55464"/>
            <a:ext cx="6035040" cy="329184"/>
          </a:xfrm>
          <a:prstGeom prst="rect">
            <a:avLst/>
          </a:prstGeom>
          <a:noFill/>
        </p:spPr>
        <p:txBody>
          <a:bodyPr wrap="square">
            <a:spAutoFit/>
          </a:bodyPr>
          <a:lstStyle/>
          <a:p>
            <a:pPr>
              <a:spcAft>
                <a:spcPts val="500"/>
              </a:spcAft>
              <a:defRPr sz="1800" b="1">
                <a:solidFill>
                  <a:srgbClr val="4ED3BA"/>
                </a:solidFill>
                <a:latin typeface="Aptos"/>
              </a:defRPr>
            </a:pPr>
            <a:r>
              <a:t>Aprendizaje · todavía no logró la mejora</a:t>
            </a:r>
          </a:p>
        </p:txBody>
      </p:sp>
      <p:sp>
        <p:nvSpPr>
          <p:cNvPr id="18" name="TextBox 17"/>
          <p:cNvSpPr txBox="1"/>
          <p:nvPr/>
        </p:nvSpPr>
        <p:spPr>
          <a:xfrm>
            <a:off x="914400" y="5184648"/>
            <a:ext cx="6035040" cy="594360"/>
          </a:xfrm>
          <a:prstGeom prst="rect">
            <a:avLst/>
          </a:prstGeom>
          <a:noFill/>
        </p:spPr>
        <p:txBody>
          <a:bodyPr wrap="square">
            <a:spAutoFit/>
          </a:bodyPr>
          <a:lstStyle/>
          <a:p>
            <a:pPr>
              <a:spcAft>
                <a:spcPts val="0"/>
              </a:spcAft>
              <a:defRPr sz="1600" b="0">
                <a:solidFill>
                  <a:srgbClr val="F3F6FA"/>
                </a:solidFill>
                <a:latin typeface="Aptos"/>
              </a:defRPr>
            </a:pPr>
            <a:r>
              <a:t>Entrenamos el algoritmo cinco veces.</a:t>
            </a:r>
          </a:p>
          <a:p>
            <a:pPr>
              <a:spcAft>
                <a:spcPts val="0"/>
              </a:spcAft>
              <a:defRPr sz="1600" b="0">
                <a:solidFill>
                  <a:srgbClr val="F3F6FA"/>
                </a:solidFill>
                <a:latin typeface="Aptos"/>
              </a:defRPr>
            </a:pPr>
            <a:r>
              <a:t>Las correcciones no cumplieron lo esperado.</a:t>
            </a:r>
          </a:p>
        </p:txBody>
      </p:sp>
      <p:pic>
        <p:nvPicPr>
          <p:cNvPr id="19" name="Picture 18" descr="gazebo_nova.png"/>
          <p:cNvPicPr>
            <a:picLocks noChangeAspect="1"/>
          </p:cNvPicPr>
          <p:nvPr/>
        </p:nvPicPr>
        <p:blipFill>
          <a:blip r:embed="rId2"/>
          <a:stretch>
            <a:fillRect/>
          </a:stretch>
        </p:blipFill>
        <p:spPr>
          <a:xfrm>
            <a:off x="7388352" y="1691640"/>
            <a:ext cx="4041648" cy="3090672"/>
          </a:xfrm>
          <a:prstGeom prst="rect">
            <a:avLst/>
          </a:prstGeom>
        </p:spPr>
      </p:pic>
      <p:sp>
        <p:nvSpPr>
          <p:cNvPr id="20" name="TextBox 19"/>
          <p:cNvSpPr txBox="1"/>
          <p:nvPr/>
        </p:nvSpPr>
        <p:spPr>
          <a:xfrm>
            <a:off x="7388352" y="4809744"/>
            <a:ext cx="4041648" cy="365760"/>
          </a:xfrm>
          <a:prstGeom prst="rect">
            <a:avLst/>
          </a:prstGeom>
          <a:noFill/>
        </p:spPr>
        <p:txBody>
          <a:bodyPr wrap="square">
            <a:spAutoFit/>
          </a:bodyPr>
          <a:lstStyle/>
          <a:p>
            <a:pPr>
              <a:spcAft>
                <a:spcPts val="500"/>
              </a:spcAft>
              <a:defRPr sz="1200" b="0">
                <a:solidFill>
                  <a:srgbClr val="4ED3BA"/>
                </a:solidFill>
                <a:latin typeface="Aptos"/>
              </a:defRPr>
            </a:pPr>
            <a:r>
              <a:t>Nova Spot Micro · captura real de Gazebo</a:t>
            </a:r>
          </a:p>
        </p:txBody>
      </p:sp>
      <p:sp>
        <p:nvSpPr>
          <p:cNvPr id="21" name="Rectangle 20"/>
          <p:cNvSpPr/>
          <p:nvPr/>
        </p:nvSpPr>
        <p:spPr>
          <a:xfrm>
            <a:off x="7388352" y="5303520"/>
            <a:ext cx="1188720" cy="6858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2.jpeg"/>
          <p:cNvPicPr>
            <a:picLocks noChangeAspect="1"/>
          </p:cNvPicPr>
          <p:nvPr/>
        </p:nvPicPr>
        <p:blipFill>
          <a:blip r:embed="rId3"/>
          <a:stretch>
            <a:fillRect/>
          </a:stretch>
        </p:blipFill>
        <p:spPr>
          <a:xfrm>
            <a:off x="7789924" y="5303520"/>
            <a:ext cx="385574" cy="685800"/>
          </a:xfrm>
          <a:prstGeom prst="rect">
            <a:avLst/>
          </a:prstGeom>
        </p:spPr>
      </p:pic>
      <p:sp>
        <p:nvSpPr>
          <p:cNvPr id="23" name="TextBox 22"/>
          <p:cNvSpPr txBox="1"/>
          <p:nvPr/>
        </p:nvSpPr>
        <p:spPr>
          <a:xfrm>
            <a:off x="7388352" y="6044183"/>
            <a:ext cx="1188720" cy="365760"/>
          </a:xfrm>
          <a:prstGeom prst="rect">
            <a:avLst/>
          </a:prstGeom>
          <a:noFill/>
        </p:spPr>
        <p:txBody>
          <a:bodyPr wrap="square">
            <a:spAutoFit/>
          </a:bodyPr>
          <a:lstStyle/>
          <a:p>
            <a:pPr>
              <a:spcAft>
                <a:spcPts val="500"/>
              </a:spcAft>
              <a:defRPr sz="1100" b="0">
                <a:solidFill>
                  <a:srgbClr val="B8C6D8"/>
                </a:solidFill>
                <a:latin typeface="Aptos"/>
              </a:defRPr>
            </a:pPr>
            <a:r>
              <a:t>Ensamble</a:t>
            </a:r>
          </a:p>
        </p:txBody>
      </p:sp>
      <p:sp>
        <p:nvSpPr>
          <p:cNvPr id="24" name="Rectangle 23"/>
          <p:cNvSpPr/>
          <p:nvPr/>
        </p:nvSpPr>
        <p:spPr>
          <a:xfrm>
            <a:off x="8796528" y="5303520"/>
            <a:ext cx="1188720" cy="6858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3.jpeg"/>
          <p:cNvPicPr>
            <a:picLocks noChangeAspect="1"/>
          </p:cNvPicPr>
          <p:nvPr/>
        </p:nvPicPr>
        <p:blipFill>
          <a:blip r:embed="rId4"/>
          <a:stretch>
            <a:fillRect/>
          </a:stretch>
        </p:blipFill>
        <p:spPr>
          <a:xfrm>
            <a:off x="9189702" y="5303520"/>
            <a:ext cx="402371" cy="685800"/>
          </a:xfrm>
          <a:prstGeom prst="rect">
            <a:avLst/>
          </a:prstGeom>
        </p:spPr>
      </p:pic>
      <p:sp>
        <p:nvSpPr>
          <p:cNvPr id="26" name="TextBox 25"/>
          <p:cNvSpPr txBox="1"/>
          <p:nvPr/>
        </p:nvSpPr>
        <p:spPr>
          <a:xfrm>
            <a:off x="8796528" y="6044183"/>
            <a:ext cx="1188720" cy="365760"/>
          </a:xfrm>
          <a:prstGeom prst="rect">
            <a:avLst/>
          </a:prstGeom>
          <a:noFill/>
        </p:spPr>
        <p:txBody>
          <a:bodyPr wrap="square">
            <a:spAutoFit/>
          </a:bodyPr>
          <a:lstStyle/>
          <a:p>
            <a:pPr>
              <a:spcAft>
                <a:spcPts val="500"/>
              </a:spcAft>
              <a:defRPr sz="1100" b="0">
                <a:solidFill>
                  <a:srgbClr val="B8C6D8"/>
                </a:solidFill>
                <a:latin typeface="Aptos"/>
              </a:defRPr>
            </a:pPr>
            <a:r>
              <a:t>Articulación</a:t>
            </a:r>
          </a:p>
        </p:txBody>
      </p:sp>
      <p:sp>
        <p:nvSpPr>
          <p:cNvPr id="27" name="Rectangle 26"/>
          <p:cNvSpPr/>
          <p:nvPr/>
        </p:nvSpPr>
        <p:spPr>
          <a:xfrm>
            <a:off x="10204704" y="5303520"/>
            <a:ext cx="1188720" cy="6858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4.jpeg"/>
          <p:cNvPicPr>
            <a:picLocks noChangeAspect="1"/>
          </p:cNvPicPr>
          <p:nvPr/>
        </p:nvPicPr>
        <p:blipFill>
          <a:blip r:embed="rId5"/>
          <a:stretch>
            <a:fillRect/>
          </a:stretch>
        </p:blipFill>
        <p:spPr>
          <a:xfrm>
            <a:off x="10341864" y="5303520"/>
            <a:ext cx="914400" cy="685800"/>
          </a:xfrm>
          <a:prstGeom prst="rect">
            <a:avLst/>
          </a:prstGeom>
        </p:spPr>
      </p:pic>
      <p:sp>
        <p:nvSpPr>
          <p:cNvPr id="29" name="TextBox 28"/>
          <p:cNvSpPr txBox="1"/>
          <p:nvPr/>
        </p:nvSpPr>
        <p:spPr>
          <a:xfrm>
            <a:off x="10204704" y="6044183"/>
            <a:ext cx="1188720" cy="365760"/>
          </a:xfrm>
          <a:prstGeom prst="rect">
            <a:avLst/>
          </a:prstGeom>
          <a:noFill/>
        </p:spPr>
        <p:txBody>
          <a:bodyPr wrap="square">
            <a:spAutoFit/>
          </a:bodyPr>
          <a:lstStyle/>
          <a:p>
            <a:pPr>
              <a:spcAft>
                <a:spcPts val="500"/>
              </a:spcAft>
              <a:defRPr sz="1100" b="0">
                <a:solidFill>
                  <a:srgbClr val="B8C6D8"/>
                </a:solidFill>
                <a:latin typeface="Aptos"/>
              </a:defRPr>
            </a:pPr>
            <a:r>
              <a:t>Pieza impresa</a:t>
            </a:r>
          </a:p>
        </p:txBody>
      </p:sp>
      <p:sp>
        <p:nvSpPr>
          <p:cNvPr id="30" name="TextBox 29"/>
          <p:cNvSpPr txBox="1"/>
          <p:nvPr/>
        </p:nvSpPr>
        <p:spPr>
          <a:xfrm>
            <a:off x="731520" y="5943600"/>
            <a:ext cx="6400800" cy="365760"/>
          </a:xfrm>
          <a:prstGeom prst="rect">
            <a:avLst/>
          </a:prstGeom>
          <a:noFill/>
        </p:spPr>
        <p:txBody>
          <a:bodyPr wrap="square">
            <a:spAutoFit/>
          </a:bodyPr>
          <a:lstStyle/>
          <a:p>
            <a:pPr>
              <a:spcAft>
                <a:spcPts val="500"/>
              </a:spcAft>
              <a:defRPr sz="1100" b="0">
                <a:solidFill>
                  <a:srgbClr val="B8C6D8"/>
                </a:solidFill>
                <a:latin typeface="Aptos"/>
              </a:defRPr>
            </a:pPr>
            <a:r>
              <a:t>Fuentes: tesis; cierre MuJoCo 03/09; diagnóstico PPO 02/09.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¿Cómo va la escritura de la tesis?</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Tenemos un borrador de 73 páginas. Falta completarlo con las pruebas y resultados pendientes.</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5/7</a:t>
            </a:r>
          </a:p>
        </p:txBody>
      </p:sp>
      <p:sp>
        <p:nvSpPr>
          <p:cNvPr id="7" name="Rectangle 6"/>
          <p:cNvSpPr/>
          <p:nvPr/>
        </p:nvSpPr>
        <p:spPr>
          <a:xfrm>
            <a:off x="731520" y="1737360"/>
            <a:ext cx="3474720" cy="416052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Ya está escrito</a:t>
            </a:r>
          </a:p>
        </p:txBody>
      </p:sp>
      <p:sp>
        <p:nvSpPr>
          <p:cNvPr id="9" name="TextBox 8"/>
          <p:cNvSpPr txBox="1"/>
          <p:nvPr/>
        </p:nvSpPr>
        <p:spPr>
          <a:xfrm>
            <a:off x="914400" y="2514600"/>
            <a:ext cx="3108960" cy="3291839"/>
          </a:xfrm>
          <a:prstGeom prst="rect">
            <a:avLst/>
          </a:prstGeom>
          <a:noFill/>
        </p:spPr>
        <p:txBody>
          <a:bodyPr wrap="square">
            <a:spAutoFit/>
          </a:bodyPr>
          <a:lstStyle/>
          <a:p>
            <a:pPr>
              <a:spcAft>
                <a:spcPts val="500"/>
              </a:spcAft>
              <a:defRPr sz="1700" b="0">
                <a:solidFill>
                  <a:srgbClr val="F3F6FA"/>
                </a:solidFill>
                <a:latin typeface="Aptos"/>
              </a:defRPr>
            </a:pPr>
            <a:r>
              <a:t>Modelo matemático</a:t>
            </a:r>
          </a:p>
          <a:p>
            <a:pPr>
              <a:spcAft>
                <a:spcPts val="500"/>
              </a:spcAft>
              <a:defRPr sz="1700" b="0">
                <a:solidFill>
                  <a:srgbClr val="F3F6FA"/>
                </a:solidFill>
                <a:latin typeface="Aptos"/>
              </a:defRPr>
            </a:pPr>
            <a:r>
              <a:t>Cómo hicimos las pruebas</a:t>
            </a:r>
          </a:p>
          <a:p>
            <a:pPr>
              <a:spcAft>
                <a:spcPts val="500"/>
              </a:spcAft>
              <a:defRPr sz="1700" b="0">
                <a:solidFill>
                  <a:srgbClr val="F3F6FA"/>
                </a:solidFill>
                <a:latin typeface="Aptos"/>
              </a:defRPr>
            </a:pPr>
            <a:r>
              <a:t>Cómo funciona el sistema</a:t>
            </a:r>
          </a:p>
          <a:p>
            <a:pPr>
              <a:spcAft>
                <a:spcPts val="500"/>
              </a:spcAft>
              <a:defRPr sz="1700" b="0">
                <a:solidFill>
                  <a:srgbClr val="F3F6FA"/>
                </a:solidFill>
                <a:latin typeface="Aptos"/>
              </a:defRPr>
            </a:pPr>
            <a:r>
              <a:t>Resultados de simulación</a:t>
            </a:r>
          </a:p>
          <a:p>
            <a:pPr>
              <a:spcAft>
                <a:spcPts val="500"/>
              </a:spcAft>
              <a:defRPr sz="1700" b="0">
                <a:solidFill>
                  <a:srgbClr val="F3F6FA"/>
                </a:solidFill>
                <a:latin typeface="Aptos"/>
              </a:defRPr>
            </a:pPr>
            <a:r>
              <a:t>Procedimientos y anexos</a:t>
            </a:r>
          </a:p>
        </p:txBody>
      </p:sp>
      <p:sp>
        <p:nvSpPr>
          <p:cNvPr id="10" name="Rectangle 9"/>
          <p:cNvSpPr/>
          <p:nvPr/>
        </p:nvSpPr>
        <p:spPr>
          <a:xfrm>
            <a:off x="4370832" y="1737360"/>
            <a:ext cx="3474720" cy="416052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Falta completar</a:t>
            </a:r>
          </a:p>
        </p:txBody>
      </p:sp>
      <p:sp>
        <p:nvSpPr>
          <p:cNvPr id="12" name="TextBox 11"/>
          <p:cNvSpPr txBox="1"/>
          <p:nvPr/>
        </p:nvSpPr>
        <p:spPr>
          <a:xfrm>
            <a:off x="4553712" y="2514600"/>
            <a:ext cx="3108960" cy="3291839"/>
          </a:xfrm>
          <a:prstGeom prst="rect">
            <a:avLst/>
          </a:prstGeom>
          <a:noFill/>
        </p:spPr>
        <p:txBody>
          <a:bodyPr wrap="square">
            <a:spAutoFit/>
          </a:bodyPr>
          <a:lstStyle/>
          <a:p>
            <a:pPr>
              <a:spcAft>
                <a:spcPts val="500"/>
              </a:spcAft>
              <a:defRPr sz="1700" b="0">
                <a:solidFill>
                  <a:srgbClr val="F3F6FA"/>
                </a:solidFill>
                <a:latin typeface="Aptos"/>
              </a:defRPr>
            </a:pPr>
            <a:r>
              <a:t>Mediciones del robot real</a:t>
            </a:r>
          </a:p>
          <a:p>
            <a:pPr>
              <a:spcAft>
                <a:spcPts val="500"/>
              </a:spcAft>
              <a:defRPr sz="1700" b="0">
                <a:solidFill>
                  <a:srgbClr val="F3F6FA"/>
                </a:solidFill>
                <a:latin typeface="Aptos"/>
              </a:defRPr>
            </a:pPr>
            <a:r>
              <a:t>Pruebas de seguridad</a:t>
            </a:r>
          </a:p>
          <a:p>
            <a:pPr>
              <a:spcAft>
                <a:spcPts val="500"/>
              </a:spcAft>
              <a:defRPr sz="1700" b="0">
                <a:solidFill>
                  <a:srgbClr val="F3F6FA"/>
                </a:solidFill>
                <a:latin typeface="Aptos"/>
              </a:defRPr>
            </a:pPr>
            <a:r>
              <a:t>Comparación final</a:t>
            </a:r>
          </a:p>
          <a:p>
            <a:pPr>
              <a:spcAft>
                <a:spcPts val="500"/>
              </a:spcAft>
              <a:defRPr sz="1700" b="0">
                <a:solidFill>
                  <a:srgbClr val="F3F6FA"/>
                </a:solidFill>
                <a:latin typeface="Aptos"/>
              </a:defRPr>
            </a:pPr>
            <a:r>
              <a:t>Análisis de los resultados</a:t>
            </a:r>
          </a:p>
          <a:p>
            <a:pPr>
              <a:spcAft>
                <a:spcPts val="500"/>
              </a:spcAft>
              <a:defRPr sz="1700" b="0">
                <a:solidFill>
                  <a:srgbClr val="F3F6FA"/>
                </a:solidFill>
                <a:latin typeface="Aptos"/>
              </a:defRPr>
            </a:pPr>
            <a:r>
              <a:t>Conclusiones finales</a:t>
            </a:r>
          </a:p>
        </p:txBody>
      </p:sp>
      <p:sp>
        <p:nvSpPr>
          <p:cNvPr id="13" name="Rectangle 12"/>
          <p:cNvSpPr/>
          <p:nvPr/>
        </p:nvSpPr>
        <p:spPr>
          <a:xfrm>
            <a:off x="8010144" y="1737360"/>
            <a:ext cx="3474720" cy="416052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3023"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Hay que actualizar</a:t>
            </a:r>
          </a:p>
        </p:txBody>
      </p:sp>
      <p:sp>
        <p:nvSpPr>
          <p:cNvPr id="15" name="TextBox 14"/>
          <p:cNvSpPr txBox="1"/>
          <p:nvPr/>
        </p:nvSpPr>
        <p:spPr>
          <a:xfrm>
            <a:off x="8193023" y="2514600"/>
            <a:ext cx="3108960" cy="3291839"/>
          </a:xfrm>
          <a:prstGeom prst="rect">
            <a:avLst/>
          </a:prstGeom>
          <a:noFill/>
        </p:spPr>
        <p:txBody>
          <a:bodyPr wrap="square">
            <a:spAutoFit/>
          </a:bodyPr>
          <a:lstStyle/>
          <a:p>
            <a:pPr>
              <a:spcAft>
                <a:spcPts val="500"/>
              </a:spcAft>
              <a:defRPr sz="1700" b="0">
                <a:solidFill>
                  <a:srgbClr val="F3F6FA"/>
                </a:solidFill>
                <a:latin typeface="Aptos"/>
              </a:defRPr>
            </a:pPr>
            <a:r>
              <a:t>Nuevas pruebas de MuJoCo</a:t>
            </a:r>
          </a:p>
          <a:p>
            <a:pPr>
              <a:spcAft>
                <a:spcPts val="500"/>
              </a:spcAft>
              <a:defRPr sz="1700" b="0">
                <a:solidFill>
                  <a:srgbClr val="F3F6FA"/>
                </a:solidFill>
                <a:latin typeface="Aptos"/>
              </a:defRPr>
            </a:pPr>
            <a:r>
              <a:t>Avances y fotos del prototipo</a:t>
            </a:r>
          </a:p>
          <a:p>
            <a:pPr>
              <a:spcAft>
                <a:spcPts val="500"/>
              </a:spcAft>
              <a:defRPr sz="1700" b="0">
                <a:solidFill>
                  <a:srgbClr val="F3F6FA"/>
                </a:solidFill>
                <a:latin typeface="Aptos"/>
              </a:defRPr>
            </a:pPr>
            <a:r>
              <a:t>Problema de corriente</a:t>
            </a:r>
          </a:p>
          <a:p>
            <a:pPr>
              <a:spcAft>
                <a:spcPts val="500"/>
              </a:spcAft>
              <a:defRPr sz="1700" b="0">
                <a:solidFill>
                  <a:srgbClr val="F3F6FA"/>
                </a:solidFill>
                <a:latin typeface="Aptos"/>
              </a:defRPr>
            </a:pPr>
            <a:r>
              <a:t>Textos que dicen que aún no entrenamos el algoritmo</a:t>
            </a:r>
          </a:p>
          <a:p>
            <a:pPr>
              <a:spcAft>
                <a:spcPts val="500"/>
              </a:spcAft>
              <a:defRPr sz="1700" b="0">
                <a:solidFill>
                  <a:srgbClr val="F3F6FA"/>
                </a:solidFill>
                <a:latin typeface="Aptos"/>
              </a:defRPr>
            </a:pPr>
            <a:r>
              <a:t>Cronograma y presupuesto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¿Qué falta hacer y en qué orden?</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Primero resolver la parte eléctrica; después probar el movimiento y comparar los resultados.</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6/7</a:t>
            </a:r>
          </a:p>
        </p:txBody>
      </p:sp>
      <p:sp>
        <p:nvSpPr>
          <p:cNvPr id="7" name="Rectangle 6"/>
          <p:cNvSpPr/>
          <p:nvPr/>
        </p:nvSpPr>
        <p:spPr>
          <a:xfrm>
            <a:off x="731520" y="1737360"/>
            <a:ext cx="3474720" cy="34290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1 · Revisar la electricidad</a:t>
            </a:r>
          </a:p>
        </p:txBody>
      </p:sp>
      <p:sp>
        <p:nvSpPr>
          <p:cNvPr id="9" name="TextBox 8"/>
          <p:cNvSpPr txBox="1"/>
          <p:nvPr/>
        </p:nvSpPr>
        <p:spPr>
          <a:xfrm>
            <a:off x="914400" y="2514600"/>
            <a:ext cx="3108960" cy="2560320"/>
          </a:xfrm>
          <a:prstGeom prst="rect">
            <a:avLst/>
          </a:prstGeom>
          <a:noFill/>
        </p:spPr>
        <p:txBody>
          <a:bodyPr wrap="square">
            <a:spAutoFit/>
          </a:bodyPr>
          <a:lstStyle/>
          <a:p>
            <a:pPr>
              <a:spcAft>
                <a:spcPts val="500"/>
              </a:spcAft>
              <a:defRPr sz="1700" b="0">
                <a:solidFill>
                  <a:srgbClr val="F3F6FA"/>
                </a:solidFill>
                <a:latin typeface="Aptos"/>
              </a:defRPr>
            </a:pPr>
            <a:r>
              <a:t>Encontrar la causa del exceso de corriente.</a:t>
            </a:r>
          </a:p>
          <a:p>
            <a:pPr>
              <a:spcAft>
                <a:spcPts val="500"/>
              </a:spcAft>
              <a:defRPr sz="1700" b="0">
                <a:solidFill>
                  <a:srgbClr val="F3F6FA"/>
                </a:solidFill>
                <a:latin typeface="Aptos"/>
              </a:defRPr>
            </a:pPr>
            <a:r>
              <a:t>Revisar la placa de control.</a:t>
            </a:r>
          </a:p>
          <a:p>
            <a:pPr>
              <a:spcAft>
                <a:spcPts val="500"/>
              </a:spcAft>
              <a:defRPr sz="1700" b="0">
                <a:solidFill>
                  <a:srgbClr val="F3F6FA"/>
                </a:solidFill>
                <a:latin typeface="Aptos"/>
              </a:defRPr>
            </a:pPr>
            <a:r>
              <a:t>Medir voltaje y consumo.</a:t>
            </a:r>
          </a:p>
          <a:p>
            <a:pPr>
              <a:spcAft>
                <a:spcPts val="500"/>
              </a:spcAft>
              <a:defRPr sz="1700" b="0">
                <a:solidFill>
                  <a:srgbClr val="F3F6FA"/>
                </a:solidFill>
                <a:latin typeface="Aptos"/>
              </a:defRPr>
            </a:pPr>
            <a:r>
              <a:t>Comprobar el apagado seguro.</a:t>
            </a:r>
          </a:p>
        </p:txBody>
      </p:sp>
      <p:sp>
        <p:nvSpPr>
          <p:cNvPr id="10" name="Rectangle 9"/>
          <p:cNvSpPr/>
          <p:nvPr/>
        </p:nvSpPr>
        <p:spPr>
          <a:xfrm>
            <a:off x="4370832" y="1737360"/>
            <a:ext cx="3474720" cy="34290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2 · Probar el movimiento</a:t>
            </a:r>
          </a:p>
        </p:txBody>
      </p:sp>
      <p:sp>
        <p:nvSpPr>
          <p:cNvPr id="12" name="TextBox 11"/>
          <p:cNvSpPr txBox="1"/>
          <p:nvPr/>
        </p:nvSpPr>
        <p:spPr>
          <a:xfrm>
            <a:off x="4553712" y="2514600"/>
            <a:ext cx="3108960" cy="2560320"/>
          </a:xfrm>
          <a:prstGeom prst="rect">
            <a:avLst/>
          </a:prstGeom>
          <a:noFill/>
        </p:spPr>
        <p:txBody>
          <a:bodyPr wrap="square">
            <a:spAutoFit/>
          </a:bodyPr>
          <a:lstStyle/>
          <a:p>
            <a:pPr>
              <a:spcAft>
                <a:spcPts val="500"/>
              </a:spcAft>
              <a:defRPr sz="1700" b="0">
                <a:solidFill>
                  <a:srgbClr val="F3F6FA"/>
                </a:solidFill>
                <a:latin typeface="Aptos"/>
              </a:defRPr>
            </a:pPr>
            <a:r>
              <a:t>Ajustar primero un motor.</a:t>
            </a:r>
          </a:p>
          <a:p>
            <a:pPr>
              <a:spcAft>
                <a:spcPts val="500"/>
              </a:spcAft>
              <a:defRPr sz="1700" b="0">
                <a:solidFill>
                  <a:srgbClr val="F3F6FA"/>
                </a:solidFill>
                <a:latin typeface="Aptos"/>
              </a:defRPr>
            </a:pPr>
            <a:r>
              <a:t>Después probar una pata.</a:t>
            </a:r>
          </a:p>
          <a:p>
            <a:pPr>
              <a:spcAft>
                <a:spcPts val="500"/>
              </a:spcAft>
              <a:defRPr sz="1700" b="0">
                <a:solidFill>
                  <a:srgbClr val="F3F6FA"/>
                </a:solidFill>
                <a:latin typeface="Aptos"/>
              </a:defRPr>
            </a:pPr>
            <a:r>
              <a:t>Comprobar postura y marcha.</a:t>
            </a:r>
          </a:p>
          <a:p>
            <a:pPr>
              <a:spcAft>
                <a:spcPts val="500"/>
              </a:spcAft>
              <a:defRPr sz="1700" b="0">
                <a:solidFill>
                  <a:srgbClr val="F3F6FA"/>
                </a:solidFill>
                <a:latin typeface="Aptos"/>
              </a:defRPr>
            </a:pPr>
            <a:r>
              <a:t>Medir los movimientos reales.</a:t>
            </a:r>
          </a:p>
        </p:txBody>
      </p:sp>
      <p:sp>
        <p:nvSpPr>
          <p:cNvPr id="13" name="Rectangle 12"/>
          <p:cNvSpPr/>
          <p:nvPr/>
        </p:nvSpPr>
        <p:spPr>
          <a:xfrm>
            <a:off x="8010144" y="1737360"/>
            <a:ext cx="3474720" cy="34290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3023" y="1874519"/>
            <a:ext cx="3108960" cy="502920"/>
          </a:xfrm>
          <a:prstGeom prst="rect">
            <a:avLst/>
          </a:prstGeom>
          <a:noFill/>
        </p:spPr>
        <p:txBody>
          <a:bodyPr wrap="square">
            <a:spAutoFit/>
          </a:bodyPr>
          <a:lstStyle/>
          <a:p>
            <a:pPr>
              <a:spcAft>
                <a:spcPts val="500"/>
              </a:spcAft>
              <a:defRPr sz="1900" b="1">
                <a:solidFill>
                  <a:srgbClr val="4ED3BA"/>
                </a:solidFill>
                <a:latin typeface="Aptos"/>
              </a:defRPr>
            </a:pPr>
            <a:r>
              <a:t>3 · Comparar y concluir</a:t>
            </a:r>
          </a:p>
        </p:txBody>
      </p:sp>
      <p:sp>
        <p:nvSpPr>
          <p:cNvPr id="15" name="TextBox 14"/>
          <p:cNvSpPr txBox="1"/>
          <p:nvPr/>
        </p:nvSpPr>
        <p:spPr>
          <a:xfrm>
            <a:off x="8193023" y="2514600"/>
            <a:ext cx="3108960" cy="2560320"/>
          </a:xfrm>
          <a:prstGeom prst="rect">
            <a:avLst/>
          </a:prstGeom>
          <a:noFill/>
        </p:spPr>
        <p:txBody>
          <a:bodyPr wrap="square">
            <a:spAutoFit/>
          </a:bodyPr>
          <a:lstStyle/>
          <a:p>
            <a:pPr>
              <a:spcAft>
                <a:spcPts val="500"/>
              </a:spcAft>
              <a:defRPr sz="1700" b="0">
                <a:solidFill>
                  <a:srgbClr val="F3F6FA"/>
                </a:solidFill>
                <a:latin typeface="Aptos"/>
              </a:defRPr>
            </a:pPr>
            <a:r>
              <a:t>Mejorar el algoritmo de aprendizaje.</a:t>
            </a:r>
          </a:p>
          <a:p>
            <a:pPr>
              <a:spcAft>
                <a:spcPts val="500"/>
              </a:spcAft>
              <a:defRPr sz="1700" b="0">
                <a:solidFill>
                  <a:srgbClr val="F3F6FA"/>
                </a:solidFill>
                <a:latin typeface="Aptos"/>
              </a:defRPr>
            </a:pPr>
            <a:r>
              <a:t>Probar con y sin sus correcciones.</a:t>
            </a:r>
          </a:p>
          <a:p>
            <a:pPr>
              <a:spcAft>
                <a:spcPts val="500"/>
              </a:spcAft>
              <a:defRPr sz="1700" b="0">
                <a:solidFill>
                  <a:srgbClr val="F3F6FA"/>
                </a:solidFill>
                <a:latin typeface="Aptos"/>
              </a:defRPr>
            </a:pPr>
            <a:r>
              <a:t>Usar las mismas condiciones.</a:t>
            </a:r>
          </a:p>
          <a:p>
            <a:pPr>
              <a:spcAft>
                <a:spcPts val="500"/>
              </a:spcAft>
              <a:defRPr sz="1700" b="0">
                <a:solidFill>
                  <a:srgbClr val="F3F6FA"/>
                </a:solidFill>
                <a:latin typeface="Aptos"/>
              </a:defRPr>
            </a:pPr>
            <a:r>
              <a:t>Explicar qué mejoró y qué no.</a:t>
            </a:r>
          </a:p>
        </p:txBody>
      </p:sp>
      <p:sp>
        <p:nvSpPr>
          <p:cNvPr id="16" name="TextBox 15"/>
          <p:cNvSpPr txBox="1"/>
          <p:nvPr/>
        </p:nvSpPr>
        <p:spPr>
          <a:xfrm>
            <a:off x="731520" y="5440680"/>
            <a:ext cx="10744200" cy="777240"/>
          </a:xfrm>
          <a:prstGeom prst="rect">
            <a:avLst/>
          </a:prstGeom>
          <a:noFill/>
        </p:spPr>
        <p:txBody>
          <a:bodyPr wrap="square">
            <a:spAutoFit/>
          </a:bodyPr>
          <a:lstStyle/>
          <a:p>
            <a:pPr>
              <a:spcAft>
                <a:spcPts val="500"/>
              </a:spcAft>
              <a:defRPr sz="1700" b="0">
                <a:solidFill>
                  <a:srgbClr val="FFD187"/>
                </a:solidFill>
                <a:latin typeface="Aptos"/>
              </a:defRPr>
            </a:pPr>
            <a:r>
              <a:t>En paralelo: actualizar la tesis con lo que ya hicimos.</a:t>
            </a:r>
          </a:p>
          <a:p>
            <a:pPr>
              <a:spcAft>
                <a:spcPts val="500"/>
              </a:spcAft>
              <a:defRPr sz="1700" b="0">
                <a:solidFill>
                  <a:srgbClr val="FFD187"/>
                </a:solidFill>
                <a:latin typeface="Aptos"/>
              </a:defRPr>
            </a:pPr>
            <a:r>
              <a:t>Principal dificultad: faltan pruebas físicas y aún no demostramos la mejora por aprendizaje.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¿Qué entregaremos en la próxima revisión?</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Compromiso propuesto: un informe de revisión eléctrica y el borrador de tesis actualizado.</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7/7</a:t>
            </a:r>
          </a:p>
        </p:txBody>
      </p:sp>
      <p:sp>
        <p:nvSpPr>
          <p:cNvPr id="7" name="Rectangle 6"/>
          <p:cNvSpPr/>
          <p:nvPr/>
        </p:nvSpPr>
        <p:spPr>
          <a:xfrm>
            <a:off x="731520" y="1691640"/>
            <a:ext cx="10716768" cy="1600200"/>
          </a:xfrm>
          <a:prstGeom prst="rect">
            <a:avLst/>
          </a:prstGeom>
          <a:solidFill>
            <a:srgbClr val="1C30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10351008" cy="502920"/>
          </a:xfrm>
          <a:prstGeom prst="rect">
            <a:avLst/>
          </a:prstGeom>
          <a:noFill/>
        </p:spPr>
        <p:txBody>
          <a:bodyPr wrap="square">
            <a:spAutoFit/>
          </a:bodyPr>
          <a:lstStyle/>
          <a:p>
            <a:pPr>
              <a:spcAft>
                <a:spcPts val="500"/>
              </a:spcAft>
              <a:defRPr sz="1900" b="1">
                <a:solidFill>
                  <a:srgbClr val="4ED3BA"/>
                </a:solidFill>
                <a:latin typeface="Aptos"/>
              </a:defRPr>
            </a:pPr>
            <a:r>
              <a:t>Un informe con mediciones y una tesis actualizada</a:t>
            </a:r>
          </a:p>
        </p:txBody>
      </p:sp>
      <p:sp>
        <p:nvSpPr>
          <p:cNvPr id="9" name="TextBox 8"/>
          <p:cNvSpPr txBox="1"/>
          <p:nvPr/>
        </p:nvSpPr>
        <p:spPr>
          <a:xfrm>
            <a:off x="914400" y="2468880"/>
            <a:ext cx="10351008" cy="731520"/>
          </a:xfrm>
          <a:prstGeom prst="rect">
            <a:avLst/>
          </a:prstGeom>
          <a:noFill/>
        </p:spPr>
        <p:txBody>
          <a:bodyPr wrap="square">
            <a:spAutoFit/>
          </a:bodyPr>
          <a:lstStyle/>
          <a:p>
            <a:pPr>
              <a:spcAft>
                <a:spcPts val="500"/>
              </a:spcAft>
              <a:defRPr sz="1700" b="0">
                <a:solidFill>
                  <a:srgbClr val="F3F6FA"/>
                </a:solidFill>
                <a:latin typeface="Aptos"/>
              </a:defRPr>
            </a:pPr>
            <a:r>
              <a:t>Registrar qué revisamos, qué medimos y qué falta resolver.</a:t>
            </a:r>
          </a:p>
          <a:p>
            <a:pPr>
              <a:spcAft>
                <a:spcPts val="500"/>
              </a:spcAft>
              <a:defRPr sz="1700" b="0">
                <a:solidFill>
                  <a:srgbClr val="F3F6FA"/>
                </a:solidFill>
                <a:latin typeface="Aptos"/>
              </a:defRPr>
            </a:pPr>
            <a:r>
              <a:t>Incluir fotos, resultados nuevos y correcciones del documento.</a:t>
            </a:r>
          </a:p>
        </p:txBody>
      </p:sp>
      <p:sp>
        <p:nvSpPr>
          <p:cNvPr id="10" name="TextBox 9"/>
          <p:cNvSpPr txBox="1"/>
          <p:nvPr/>
        </p:nvSpPr>
        <p:spPr>
          <a:xfrm>
            <a:off x="868680" y="3584448"/>
            <a:ext cx="10378440" cy="960120"/>
          </a:xfrm>
          <a:prstGeom prst="rect">
            <a:avLst/>
          </a:prstGeom>
          <a:noFill/>
        </p:spPr>
        <p:txBody>
          <a:bodyPr wrap="square">
            <a:spAutoFit/>
          </a:bodyPr>
          <a:lstStyle/>
          <a:p>
            <a:pPr>
              <a:spcAft>
                <a:spcPts val="500"/>
              </a:spcAft>
              <a:defRPr sz="2500" b="0">
                <a:solidFill>
                  <a:srgbClr val="F3F6FA"/>
                </a:solidFill>
                <a:latin typeface="Aptos"/>
              </a:defRPr>
            </a:pPr>
            <a:r>
              <a:t>“Nuestro proyecto todavía no puede darse por terminado porque falta comprobar la marcha segura del robot real y evaluar las correcciones aprendidas.”</a:t>
            </a:r>
          </a:p>
        </p:txBody>
      </p:sp>
      <p:sp>
        <p:nvSpPr>
          <p:cNvPr id="11" name="TextBox 10"/>
          <p:cNvSpPr txBox="1"/>
          <p:nvPr/>
        </p:nvSpPr>
        <p:spPr>
          <a:xfrm>
            <a:off x="868680" y="4800600"/>
            <a:ext cx="10378440" cy="1024128"/>
          </a:xfrm>
          <a:prstGeom prst="rect">
            <a:avLst/>
          </a:prstGeom>
          <a:noFill/>
        </p:spPr>
        <p:txBody>
          <a:bodyPr wrap="square">
            <a:spAutoFit/>
          </a:bodyPr>
          <a:lstStyle/>
          <a:p>
            <a:pPr>
              <a:spcAft>
                <a:spcPts val="500"/>
              </a:spcAft>
              <a:defRPr sz="2500" b="0">
                <a:solidFill>
                  <a:srgbClr val="4ED3BA"/>
                </a:solidFill>
                <a:latin typeface="Aptos"/>
              </a:defRPr>
            </a:pPr>
            <a:r>
              <a:t>“La evidencia que permitirá demostrar su finalización será el registro de pruebas comparables, con mediciones y conclusiones sobre lo que funcionó y lo que 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D30"/>
        </a:solidFill>
        <a:effectLst/>
      </p:bgPr>
    </p:bg>
    <p:spTree>
      <p:nvGrpSpPr>
        <p:cNvPr id="1" name=""/>
        <p:cNvGrpSpPr/>
        <p:nvPr/>
      </p:nvGrpSpPr>
      <p:grpSpPr/>
      <p:sp>
        <p:nvSpPr>
          <p:cNvPr id="2" name="Rectangle 1"/>
          <p:cNvSpPr/>
          <p:nvPr/>
        </p:nvSpPr>
        <p:spPr>
          <a:xfrm>
            <a:off x="411480" y="411480"/>
            <a:ext cx="91440" cy="685800"/>
          </a:xfrm>
          <a:prstGeom prst="rect">
            <a:avLst/>
          </a:prstGeom>
          <a:solidFill>
            <a:srgbClr val="4ED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10972800" cy="548640"/>
          </a:xfrm>
          <a:prstGeom prst="rect">
            <a:avLst/>
          </a:prstGeom>
          <a:noFill/>
        </p:spPr>
        <p:txBody>
          <a:bodyPr wrap="square">
            <a:spAutoFit/>
          </a:bodyPr>
          <a:lstStyle/>
          <a:p>
            <a:pPr>
              <a:spcAft>
                <a:spcPts val="500"/>
              </a:spcAft>
              <a:defRPr sz="2600" b="1">
                <a:solidFill>
                  <a:srgbClr val="F3F6FA"/>
                </a:solidFill>
                <a:latin typeface="Aptos"/>
              </a:defRPr>
            </a:pPr>
            <a:r>
              <a:t>Objetivos: qué está cumplido y qué falta</a:t>
            </a:r>
          </a:p>
        </p:txBody>
      </p:sp>
      <p:sp>
        <p:nvSpPr>
          <p:cNvPr id="4" name="TextBox 3"/>
          <p:cNvSpPr txBox="1"/>
          <p:nvPr/>
        </p:nvSpPr>
        <p:spPr>
          <a:xfrm>
            <a:off x="713232" y="960120"/>
            <a:ext cx="10881360" cy="594360"/>
          </a:xfrm>
          <a:prstGeom prst="rect">
            <a:avLst/>
          </a:prstGeom>
          <a:noFill/>
        </p:spPr>
        <p:txBody>
          <a:bodyPr wrap="square">
            <a:spAutoFit/>
          </a:bodyPr>
          <a:lstStyle/>
          <a:p>
            <a:pPr>
              <a:spcAft>
                <a:spcPts val="500"/>
              </a:spcAft>
              <a:defRPr sz="1600" b="0">
                <a:solidFill>
                  <a:srgbClr val="B8C6D8"/>
                </a:solidFill>
                <a:latin typeface="Aptos"/>
              </a:defRPr>
            </a:pPr>
            <a:r>
              <a:t>Resumen de los objetivos de la tesis. Ninguno está cerrado al 100 %; el avance es estimado.</a:t>
            </a:r>
          </a:p>
        </p:txBody>
      </p:sp>
      <p:sp>
        <p:nvSpPr>
          <p:cNvPr id="5" name="TextBox 4"/>
          <p:cNvSpPr txBox="1"/>
          <p:nvPr/>
        </p:nvSpPr>
        <p:spPr>
          <a:xfrm>
            <a:off x="685800" y="6473952"/>
            <a:ext cx="10058400" cy="219456"/>
          </a:xfrm>
          <a:prstGeom prst="rect">
            <a:avLst/>
          </a:prstGeom>
          <a:noFill/>
        </p:spPr>
        <p:txBody>
          <a:bodyPr wrap="square">
            <a:spAutoFit/>
          </a:bodyPr>
          <a:lstStyle/>
          <a:p>
            <a:pPr>
              <a:spcAft>
                <a:spcPts val="500"/>
              </a:spcAft>
              <a:defRPr sz="1000" b="0">
                <a:solidFill>
                  <a:srgbClr val="B8C6D8"/>
                </a:solidFill>
                <a:latin typeface="Aptos"/>
              </a:defRPr>
            </a:pPr>
            <a:r>
              <a:t>NOVA SPOT MICRO  ·  Proyecto de Grado II  ·  07 septiembre 2026</a:t>
            </a:r>
          </a:p>
        </p:txBody>
      </p:sp>
      <p:sp>
        <p:nvSpPr>
          <p:cNvPr id="6" name="TextBox 5"/>
          <p:cNvSpPr txBox="1"/>
          <p:nvPr/>
        </p:nvSpPr>
        <p:spPr>
          <a:xfrm>
            <a:off x="10972800" y="6437376"/>
            <a:ext cx="640080" cy="274320"/>
          </a:xfrm>
          <a:prstGeom prst="rect">
            <a:avLst/>
          </a:prstGeom>
          <a:noFill/>
        </p:spPr>
        <p:txBody>
          <a:bodyPr wrap="square">
            <a:spAutoFit/>
          </a:bodyPr>
          <a:lstStyle/>
          <a:p>
            <a:pPr>
              <a:spcAft>
                <a:spcPts val="500"/>
              </a:spcAft>
              <a:defRPr sz="1200" b="0">
                <a:solidFill>
                  <a:srgbClr val="4ED3BA"/>
                </a:solidFill>
                <a:latin typeface="Aptos"/>
              </a:defRPr>
            </a:pPr>
            <a:r>
              <a:t>3/7</a:t>
            </a:r>
          </a:p>
        </p:txBody>
      </p:sp>
      <p:graphicFrame>
        <p:nvGraphicFramePr>
          <p:cNvPr id="7" name="Table 6"/>
          <p:cNvGraphicFramePr>
            <a:graphicFrameLocks noGrp="1"/>
          </p:cNvGraphicFramePr>
          <p:nvPr/>
        </p:nvGraphicFramePr>
        <p:xfrm>
          <a:off x="731520" y="1691640"/>
          <a:ext cx="10744200" cy="4325112"/>
        </p:xfrm>
        <a:graphic>
          <a:graphicData uri="http://schemas.openxmlformats.org/drawingml/2006/table">
            <a:tbl>
              <a:tblPr firstRow="1" bandRow="1">
                <a:tableStyleId>{5C22544A-7EE6-4342-B048-85BDC9FD1C3A}</a:tableStyleId>
              </a:tblPr>
              <a:tblGrid>
                <a:gridCol w="4846320"/>
                <a:gridCol w="1828800"/>
                <a:gridCol w="4069080"/>
              </a:tblGrid>
              <a:tr h="438912">
                <a:tc>
                  <a:txBody>
                    <a:bodyPr/>
                    <a:lstStyle/>
                    <a:p>
                      <a:pPr>
                        <a:defRPr sz="1500" b="1">
                          <a:solidFill>
                            <a:srgbClr val="F3F6FA"/>
                          </a:solidFill>
                          <a:latin typeface="Aptos"/>
                        </a:defRPr>
                      </a:pPr>
                      <a:r>
                        <a:t>Objetivo específico</a:t>
                      </a:r>
                    </a:p>
                  </a:txBody>
                  <a:tcPr>
                    <a:solidFill>
                      <a:srgbClr val="28475F"/>
                    </a:solidFill>
                  </a:tcPr>
                </a:tc>
                <a:tc>
                  <a:txBody>
                    <a:bodyPr/>
                    <a:lstStyle/>
                    <a:p>
                      <a:pPr>
                        <a:defRPr sz="1500" b="1">
                          <a:solidFill>
                            <a:srgbClr val="4ED3BA"/>
                          </a:solidFill>
                          <a:latin typeface="Aptos"/>
                        </a:defRPr>
                      </a:pPr>
                      <a:r>
                        <a:t>Estado / avance</a:t>
                      </a:r>
                    </a:p>
                  </a:txBody>
                  <a:tcPr>
                    <a:solidFill>
                      <a:srgbClr val="28475F"/>
                    </a:solidFill>
                  </a:tcPr>
                </a:tc>
                <a:tc>
                  <a:txBody>
                    <a:bodyPr/>
                    <a:lstStyle/>
                    <a:p>
                      <a:pPr>
                        <a:defRPr sz="1500" b="1">
                          <a:solidFill>
                            <a:srgbClr val="F3F6FA"/>
                          </a:solidFill>
                          <a:latin typeface="Aptos"/>
                        </a:defRPr>
                      </a:pPr>
                      <a:r>
                        <a:t>¿Qué falta para cumplirlo?</a:t>
                      </a:r>
                    </a:p>
                  </a:txBody>
                  <a:tcPr>
                    <a:solidFill>
                      <a:srgbClr val="28475F"/>
                    </a:solidFill>
                  </a:tcPr>
                </a:tc>
              </a:tr>
              <a:tr h="777240">
                <a:tc>
                  <a:txBody>
                    <a:bodyPr/>
                    <a:lstStyle/>
                    <a:p>
                      <a:pPr>
                        <a:defRPr sz="1500" b="0">
                          <a:solidFill>
                            <a:srgbClr val="F3F6FA"/>
                          </a:solidFill>
                          <a:latin typeface="Aptos"/>
                        </a:defRPr>
                      </a:pPr>
                      <a:r>
                        <a:t>OE1 · Caracterizar el robot y desarrollar sus modelos de movimiento y dinámica.</a:t>
                      </a:r>
                    </a:p>
                  </a:txBody>
                  <a:tcPr>
                    <a:solidFill>
                      <a:srgbClr val="1C3049"/>
                    </a:solidFill>
                  </a:tcPr>
                </a:tc>
                <a:tc>
                  <a:txBody>
                    <a:bodyPr/>
                    <a:lstStyle/>
                    <a:p>
                      <a:pPr>
                        <a:defRPr sz="1500" b="1">
                          <a:solidFill>
                            <a:srgbClr val="4ED3BA"/>
                          </a:solidFill>
                          <a:latin typeface="Aptos"/>
                        </a:defRPr>
                      </a:pPr>
                      <a:r>
                        <a:t>Parcial · 50 %</a:t>
                      </a:r>
                    </a:p>
                  </a:txBody>
                  <a:tcPr>
                    <a:solidFill>
                      <a:srgbClr val="1C3049"/>
                    </a:solidFill>
                  </a:tcPr>
                </a:tc>
                <a:tc>
                  <a:txBody>
                    <a:bodyPr/>
                    <a:lstStyle/>
                    <a:p>
                      <a:pPr>
                        <a:defRPr sz="1500" b="0">
                          <a:solidFill>
                            <a:srgbClr val="F3F6FA"/>
                          </a:solidFill>
                          <a:latin typeface="Aptos"/>
                        </a:defRPr>
                      </a:pPr>
                      <a:r>
                        <a:t>Medir dimensiones, masas y límites reales; contrastarlos con el modelo.</a:t>
                      </a:r>
                    </a:p>
                  </a:txBody>
                  <a:tcPr>
                    <a:solidFill>
                      <a:srgbClr val="1C3049"/>
                    </a:solidFill>
                  </a:tcPr>
                </a:tc>
              </a:tr>
              <a:tr h="777240">
                <a:tc>
                  <a:txBody>
                    <a:bodyPr/>
                    <a:lstStyle/>
                    <a:p>
                      <a:pPr>
                        <a:defRPr sz="1500" b="0">
                          <a:solidFill>
                            <a:srgbClr val="F3F6FA"/>
                          </a:solidFill>
                          <a:latin typeface="Aptos"/>
                        </a:defRPr>
                      </a:pPr>
                      <a:r>
                        <a:t>OE2 · Implementar la electrónica y el programa para mover y supervisar el robot con seguridad.</a:t>
                      </a:r>
                    </a:p>
                  </a:txBody>
                  <a:tcPr>
                    <a:solidFill>
                      <a:srgbClr val="1C3049"/>
                    </a:solidFill>
                  </a:tcPr>
                </a:tc>
                <a:tc>
                  <a:txBody>
                    <a:bodyPr/>
                    <a:lstStyle/>
                    <a:p>
                      <a:pPr>
                        <a:defRPr sz="1500" b="1">
                          <a:solidFill>
                            <a:srgbClr val="4ED3BA"/>
                          </a:solidFill>
                          <a:latin typeface="Aptos"/>
                        </a:defRPr>
                      </a:pPr>
                      <a:r>
                        <a:t>Parcial · 50 %</a:t>
                      </a:r>
                    </a:p>
                  </a:txBody>
                  <a:tcPr>
                    <a:solidFill>
                      <a:srgbClr val="1C3049"/>
                    </a:solidFill>
                  </a:tcPr>
                </a:tc>
                <a:tc>
                  <a:txBody>
                    <a:bodyPr/>
                    <a:lstStyle/>
                    <a:p>
                      <a:pPr>
                        <a:defRPr sz="1500" b="0">
                          <a:solidFill>
                            <a:srgbClr val="F3F6FA"/>
                          </a:solidFill>
                          <a:latin typeface="Aptos"/>
                        </a:defRPr>
                      </a:pPr>
                      <a:r>
                        <a:t>Resolver la sobrecarga y comprobar protecciones, parada física y calibración.</a:t>
                      </a:r>
                    </a:p>
                  </a:txBody>
                  <a:tcPr>
                    <a:solidFill>
                      <a:srgbClr val="1C3049"/>
                    </a:solidFill>
                  </a:tcPr>
                </a:tc>
              </a:tr>
              <a:tr h="777240">
                <a:tc>
                  <a:txBody>
                    <a:bodyPr/>
                    <a:lstStyle/>
                    <a:p>
                      <a:pPr>
                        <a:defRPr sz="1500" b="0">
                          <a:solidFill>
                            <a:srgbClr val="F3F6FA"/>
                          </a:solidFill>
                          <a:latin typeface="Aptos"/>
                        </a:defRPr>
                      </a:pPr>
                      <a:r>
                        <a:t>OE3 · Implementar el control de postura, paso y gateo mediante secuencias de movimiento.</a:t>
                      </a:r>
                    </a:p>
                  </a:txBody>
                  <a:tcPr>
                    <a:solidFill>
                      <a:srgbClr val="1C3049"/>
                    </a:solidFill>
                  </a:tcPr>
                </a:tc>
                <a:tc>
                  <a:txBody>
                    <a:bodyPr/>
                    <a:lstStyle/>
                    <a:p>
                      <a:pPr>
                        <a:defRPr sz="1500" b="1">
                          <a:solidFill>
                            <a:srgbClr val="4ED3BA"/>
                          </a:solidFill>
                          <a:latin typeface="Aptos"/>
                        </a:defRPr>
                      </a:pPr>
                      <a:r>
                        <a:t>Parcial · 75 %</a:t>
                      </a:r>
                    </a:p>
                  </a:txBody>
                  <a:tcPr>
                    <a:solidFill>
                      <a:srgbClr val="1C3049"/>
                    </a:solidFill>
                  </a:tcPr>
                </a:tc>
                <a:tc>
                  <a:txBody>
                    <a:bodyPr/>
                    <a:lstStyle/>
                    <a:p>
                      <a:pPr>
                        <a:defRPr sz="1500" b="0">
                          <a:solidFill>
                            <a:srgbClr val="F3F6FA"/>
                          </a:solidFill>
                          <a:latin typeface="Aptos"/>
                        </a:defRPr>
                      </a:pPr>
                      <a:r>
                        <a:t>Completar la validación física y mejorar la coordinación de apoyos en simulación.</a:t>
                      </a:r>
                    </a:p>
                  </a:txBody>
                  <a:tcPr>
                    <a:solidFill>
                      <a:srgbClr val="1C3049"/>
                    </a:solidFill>
                  </a:tcPr>
                </a:tc>
              </a:tr>
              <a:tr h="777240">
                <a:tc>
                  <a:txBody>
                    <a:bodyPr/>
                    <a:lstStyle/>
                    <a:p>
                      <a:pPr>
                        <a:defRPr sz="1500" b="0">
                          <a:solidFill>
                            <a:srgbClr val="F3F6FA"/>
                          </a:solidFill>
                          <a:latin typeface="Aptos"/>
                        </a:defRPr>
                      </a:pPr>
                      <a:r>
                        <a:t>OE4 · Entrenar en simulación e integrar al robot pequeñas correcciones aprendidas, bajo supervisión.</a:t>
                      </a:r>
                    </a:p>
                  </a:txBody>
                  <a:tcPr>
                    <a:solidFill>
                      <a:srgbClr val="1C3049"/>
                    </a:solidFill>
                  </a:tcPr>
                </a:tc>
                <a:tc>
                  <a:txBody>
                    <a:bodyPr/>
                    <a:lstStyle/>
                    <a:p>
                      <a:pPr>
                        <a:defRPr sz="1500" b="1">
                          <a:solidFill>
                            <a:srgbClr val="4ED3BA"/>
                          </a:solidFill>
                          <a:latin typeface="Aptos"/>
                        </a:defRPr>
                      </a:pPr>
                      <a:r>
                        <a:t>Parcial · 50 %</a:t>
                      </a:r>
                    </a:p>
                    <a:p>
                      <a:pPr>
                        <a:defRPr sz="1500" b="1">
                          <a:solidFill>
                            <a:srgbClr val="4ED3BA"/>
                          </a:solidFill>
                          <a:latin typeface="Aptos"/>
                        </a:defRPr>
                      </a:pPr>
                      <a:r>
                        <a:t>Sin mejora aceptada</a:t>
                      </a:r>
                    </a:p>
                  </a:txBody>
                  <a:tcPr>
                    <a:solidFill>
                      <a:srgbClr val="1C3049"/>
                    </a:solidFill>
                  </a:tcPr>
                </a:tc>
                <a:tc>
                  <a:txBody>
                    <a:bodyPr/>
                    <a:lstStyle/>
                    <a:p>
                      <a:pPr>
                        <a:defRPr sz="1500" b="0">
                          <a:solidFill>
                            <a:srgbClr val="F3F6FA"/>
                          </a:solidFill>
                          <a:latin typeface="Aptos"/>
                        </a:defRPr>
                      </a:pPr>
                      <a:r>
                        <a:t>Obtener correcciones que cumplan los criterios de mejora y validarlas antes de transferirlas.</a:t>
                      </a:r>
                    </a:p>
                  </a:txBody>
                  <a:tcPr>
                    <a:solidFill>
                      <a:srgbClr val="1C3049"/>
                    </a:solidFill>
                  </a:tcPr>
                </a:tc>
              </a:tr>
              <a:tr h="777240">
                <a:tc>
                  <a:txBody>
                    <a:bodyPr/>
                    <a:lstStyle/>
                    <a:p>
                      <a:pPr>
                        <a:defRPr sz="1500" b="0">
                          <a:solidFill>
                            <a:srgbClr val="F3F6FA"/>
                          </a:solidFill>
                          <a:latin typeface="Aptos"/>
                        </a:defRPr>
                      </a:pPr>
                      <a:r>
                        <a:t>OE5 · Comparar movimiento, estabilidad y repetibilidad con y sin aprendizaje, en simulación y robot real.</a:t>
                      </a:r>
                    </a:p>
                  </a:txBody>
                  <a:tcPr>
                    <a:solidFill>
                      <a:srgbClr val="1C3049"/>
                    </a:solidFill>
                  </a:tcPr>
                </a:tc>
                <a:tc>
                  <a:txBody>
                    <a:bodyPr/>
                    <a:lstStyle/>
                    <a:p>
                      <a:pPr>
                        <a:defRPr sz="1500" b="1">
                          <a:solidFill>
                            <a:srgbClr val="4ED3BA"/>
                          </a:solidFill>
                          <a:latin typeface="Aptos"/>
                        </a:defRPr>
                      </a:pPr>
                      <a:r>
                        <a:t>Parcial · 25 %</a:t>
                      </a:r>
                    </a:p>
                  </a:txBody>
                  <a:tcPr>
                    <a:solidFill>
                      <a:srgbClr val="1C3049"/>
                    </a:solidFill>
                  </a:tcPr>
                </a:tc>
                <a:tc>
                  <a:txBody>
                    <a:bodyPr/>
                    <a:lstStyle/>
                    <a:p>
                      <a:pPr>
                        <a:defRPr sz="1500" b="0">
                          <a:solidFill>
                            <a:srgbClr val="F3F6FA"/>
                          </a:solidFill>
                          <a:latin typeface="Aptos"/>
                        </a:defRPr>
                      </a:pPr>
                      <a:r>
                        <a:t>Completar la comparación final bajo las mismas condiciones y las pruebas físicas.</a:t>
                      </a:r>
                    </a:p>
                  </a:txBody>
                  <a:tcPr>
                    <a:solidFill>
                      <a:srgbClr val="1C3049"/>
                    </a:solidFill>
                  </a:tcPr>
                </a:tc>
              </a:tr>
            </a:tbl>
          </a:graphicData>
        </a:graphic>
      </p:graphicFrame>
      <p:sp>
        <p:nvSpPr>
          <p:cNvPr id="8" name="TextBox 7"/>
          <p:cNvSpPr txBox="1"/>
          <p:nvPr/>
        </p:nvSpPr>
        <p:spPr>
          <a:xfrm>
            <a:off x="731520" y="6080760"/>
            <a:ext cx="10744200" cy="274320"/>
          </a:xfrm>
          <a:prstGeom prst="rect">
            <a:avLst/>
          </a:prstGeom>
          <a:noFill/>
        </p:spPr>
        <p:txBody>
          <a:bodyPr wrap="square">
            <a:spAutoFit/>
          </a:bodyPr>
          <a:lstStyle/>
          <a:p>
            <a:pPr>
              <a:spcAft>
                <a:spcPts val="500"/>
              </a:spcAft>
              <a:defRPr sz="1100" b="0">
                <a:solidFill>
                  <a:srgbClr val="B8C6D8"/>
                </a:solidFill>
                <a:latin typeface="Aptos"/>
              </a:defRPr>
            </a:pPr>
            <a:r>
              <a:t>Avance: 4 etapas por objetivo, 25 % por etapa cerrada. Fuente: objetivos y matriz de evidencias de la tesis.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